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48498d5d24e46" /><Relationship Type="http://schemas.openxmlformats.org/officeDocument/2006/relationships/extended-properties" Target="/docProps/app.xml" Id="Rb25dfc62d4144e24" /><Relationship Type="http://schemas.openxmlformats.org/officeDocument/2006/relationships/officeDocument" Target="/ppt/presentation.xml" Id="Re300e8d76a0b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d88237681b4887"/>
  </p:sldMasterIdLst>
  <p:notesMasterIdLst>
    <p:notesMasterId xmlns:r="http://schemas.openxmlformats.org/officeDocument/2006/relationships" r:id="Re966121b3f9646f5"/>
  </p:notesMasterIdLst>
  <p:sldIdLst>
    <p:sldId xmlns:r="http://schemas.openxmlformats.org/officeDocument/2006/relationships" id="256" r:id="Rf7ff7adf04184906"/>
    <p:sldId xmlns:r="http://schemas.openxmlformats.org/officeDocument/2006/relationships" id="257" r:id="R428959c1ba164c41"/>
    <p:sldId xmlns:r="http://schemas.openxmlformats.org/officeDocument/2006/relationships" id="258" r:id="Re4c72503cb9949da"/>
    <p:sldId xmlns:r="http://schemas.openxmlformats.org/officeDocument/2006/relationships" id="259" r:id="R1109342aa86b4852"/>
    <p:sldId xmlns:r="http://schemas.openxmlformats.org/officeDocument/2006/relationships" id="260" r:id="Rdf92b0e227524f72"/>
    <p:sldId xmlns:r="http://schemas.openxmlformats.org/officeDocument/2006/relationships" id="261" r:id="Ref9b3c5b893e4ae7"/>
    <p:sldId xmlns:r="http://schemas.openxmlformats.org/officeDocument/2006/relationships" id="262" r:id="Rd8754318c3e94949"/>
    <p:sldId xmlns:r="http://schemas.openxmlformats.org/officeDocument/2006/relationships" id="263" r:id="R957606f486124b80"/>
    <p:sldId xmlns:r="http://schemas.openxmlformats.org/officeDocument/2006/relationships" id="264" r:id="R3a5e167811504eed"/>
    <p:sldId xmlns:r="http://schemas.openxmlformats.org/officeDocument/2006/relationships" id="265" r:id="R451663044a5d4753"/>
    <p:sldId xmlns:r="http://schemas.openxmlformats.org/officeDocument/2006/relationships" id="266" r:id="R2d960b1dda794d66"/>
    <p:sldId xmlns:r="http://schemas.openxmlformats.org/officeDocument/2006/relationships" id="267" r:id="R0517e953decc4140"/>
    <p:sldId xmlns:r="http://schemas.openxmlformats.org/officeDocument/2006/relationships" id="268" r:id="R1d8bf03f3dbe4376"/>
    <p:sldId xmlns:r="http://schemas.openxmlformats.org/officeDocument/2006/relationships" id="269" r:id="R952cba6a767f417d"/>
    <p:sldId xmlns:r="http://schemas.openxmlformats.org/officeDocument/2006/relationships" id="270" r:id="R2c990facb13744c4"/>
    <p:sldId xmlns:r="http://schemas.openxmlformats.org/officeDocument/2006/relationships" id="271" r:id="R40c943e1d79543ba"/>
    <p:sldId xmlns:r="http://schemas.openxmlformats.org/officeDocument/2006/relationships" id="272" r:id="Ra3e8751edaaf4923"/>
    <p:sldId xmlns:r="http://schemas.openxmlformats.org/officeDocument/2006/relationships" id="273" r:id="R5ba1145546d0414c"/>
    <p:sldId xmlns:r="http://schemas.openxmlformats.org/officeDocument/2006/relationships" id="274" r:id="R2c51ccd3dabd4e50"/>
    <p:sldId xmlns:r="http://schemas.openxmlformats.org/officeDocument/2006/relationships" id="275" r:id="R6cc1c3a437794aac"/>
    <p:sldId xmlns:r="http://schemas.openxmlformats.org/officeDocument/2006/relationships" id="276" r:id="R14d83fe24e5d44e3"/>
    <p:sldId xmlns:r="http://schemas.openxmlformats.org/officeDocument/2006/relationships" id="277" r:id="Rb2c81ce30d3f4c61"/>
    <p:sldId xmlns:r="http://schemas.openxmlformats.org/officeDocument/2006/relationships" id="278" r:id="R7b0035da459249d4"/>
    <p:sldId xmlns:r="http://schemas.openxmlformats.org/officeDocument/2006/relationships" id="279" r:id="R9f23eb021b444115"/>
    <p:sldId xmlns:r="http://schemas.openxmlformats.org/officeDocument/2006/relationships" id="280" r:id="R1750b5cc33534f61"/>
    <p:sldId xmlns:r="http://schemas.openxmlformats.org/officeDocument/2006/relationships" id="281" r:id="Rcb04029fbb94471b"/>
    <p:sldId xmlns:r="http://schemas.openxmlformats.org/officeDocument/2006/relationships" id="282" r:id="R9cc567fde236409e"/>
    <p:sldId xmlns:r="http://schemas.openxmlformats.org/officeDocument/2006/relationships" id="283" r:id="R564539c689c14c51"/>
    <p:sldId xmlns:r="http://schemas.openxmlformats.org/officeDocument/2006/relationships" id="284" r:id="R1d935ce3915d4197"/>
    <p:sldId xmlns:r="http://schemas.openxmlformats.org/officeDocument/2006/relationships" id="285" r:id="R655023750d674ec1"/>
    <p:sldId xmlns:r="http://schemas.openxmlformats.org/officeDocument/2006/relationships" id="286" r:id="R29e22b1d229941ef"/>
    <p:sldId xmlns:r="http://schemas.openxmlformats.org/officeDocument/2006/relationships" id="287" r:id="R5cce84ac187a40fe"/>
    <p:sldId xmlns:r="http://schemas.openxmlformats.org/officeDocument/2006/relationships" id="288" r:id="Rdebac853a6804811"/>
    <p:sldId xmlns:r="http://schemas.openxmlformats.org/officeDocument/2006/relationships" id="289" r:id="R648b2ebd38d349b6"/>
    <p:sldId xmlns:r="http://schemas.openxmlformats.org/officeDocument/2006/relationships" id="290" r:id="R781ffd085199479c"/>
    <p:sldId xmlns:r="http://schemas.openxmlformats.org/officeDocument/2006/relationships" id="291" r:id="Rc4617f1984234af4"/>
    <p:sldId xmlns:r="http://schemas.openxmlformats.org/officeDocument/2006/relationships" id="292" r:id="R1e19fce055a949e2"/>
    <p:sldId xmlns:r="http://schemas.openxmlformats.org/officeDocument/2006/relationships" id="293" r:id="Rec0c3903c16648b1"/>
    <p:sldId xmlns:r="http://schemas.openxmlformats.org/officeDocument/2006/relationships" id="294" r:id="Rda2ed729d54f46ad"/>
    <p:sldId xmlns:r="http://schemas.openxmlformats.org/officeDocument/2006/relationships" id="295" r:id="Rd97318b71837433d"/>
    <p:sldId xmlns:r="http://schemas.openxmlformats.org/officeDocument/2006/relationships" id="296" r:id="R577c2d0e33194375"/>
    <p:sldId xmlns:r="http://schemas.openxmlformats.org/officeDocument/2006/relationships" id="297" r:id="R61aeb7403a2044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bd29081674b69" /><Relationship Type="http://schemas.openxmlformats.org/officeDocument/2006/relationships/slideMaster" Target="/ppt/slideMasters/slideMaster1.xml" Id="Rfdd88237681b4887" /><Relationship Type="http://schemas.openxmlformats.org/officeDocument/2006/relationships/notesMaster" Target="/ppt/notesMasters/notesMaster1.xml" Id="Re966121b3f9646f5" /><Relationship Type="http://schemas.openxmlformats.org/officeDocument/2006/relationships/presProps" Target="/ppt/presProps.xml" Id="R861187e9977f4b2b" /><Relationship Type="http://schemas.openxmlformats.org/officeDocument/2006/relationships/tableStyles" Target="/ppt/tableStyles.xml" Id="R45742ca1ce7a4956" /><Relationship Type="http://schemas.openxmlformats.org/officeDocument/2006/relationships/slide" Target="/ppt/slides/slide1.xml" Id="Rf7ff7adf04184906" /><Relationship Type="http://schemas.openxmlformats.org/officeDocument/2006/relationships/slide" Target="/ppt/slides/slide2.xml" Id="R428959c1ba164c41" /><Relationship Type="http://schemas.openxmlformats.org/officeDocument/2006/relationships/slide" Target="/ppt/slides/slide3.xml" Id="Re4c72503cb9949da" /><Relationship Type="http://schemas.openxmlformats.org/officeDocument/2006/relationships/slide" Target="/ppt/slides/slide4.xml" Id="R1109342aa86b4852" /><Relationship Type="http://schemas.openxmlformats.org/officeDocument/2006/relationships/slide" Target="/ppt/slides/slide5.xml" Id="Rdf92b0e227524f72" /><Relationship Type="http://schemas.openxmlformats.org/officeDocument/2006/relationships/slide" Target="/ppt/slides/slide6.xml" Id="Ref9b3c5b893e4ae7" /><Relationship Type="http://schemas.openxmlformats.org/officeDocument/2006/relationships/slide" Target="/ppt/slides/slide7.xml" Id="Rd8754318c3e94949" /><Relationship Type="http://schemas.openxmlformats.org/officeDocument/2006/relationships/slide" Target="/ppt/slides/slide8.xml" Id="R957606f486124b80" /><Relationship Type="http://schemas.openxmlformats.org/officeDocument/2006/relationships/slide" Target="/ppt/slides/slide9.xml" Id="R3a5e167811504eed" /><Relationship Type="http://schemas.openxmlformats.org/officeDocument/2006/relationships/slide" Target="/ppt/slides/slide10.xml" Id="R451663044a5d4753" /><Relationship Type="http://schemas.openxmlformats.org/officeDocument/2006/relationships/slide" Target="/ppt/slides/slide11.xml" Id="R2d960b1dda794d66" /><Relationship Type="http://schemas.openxmlformats.org/officeDocument/2006/relationships/slide" Target="/ppt/slides/slide12.xml" Id="R0517e953decc4140" /><Relationship Type="http://schemas.openxmlformats.org/officeDocument/2006/relationships/slide" Target="/ppt/slides/slide13.xml" Id="R1d8bf03f3dbe4376" /><Relationship Type="http://schemas.openxmlformats.org/officeDocument/2006/relationships/slide" Target="/ppt/slides/slide14.xml" Id="R952cba6a767f417d" /><Relationship Type="http://schemas.openxmlformats.org/officeDocument/2006/relationships/slide" Target="/ppt/slides/slide15.xml" Id="R2c990facb13744c4" /><Relationship Type="http://schemas.openxmlformats.org/officeDocument/2006/relationships/slide" Target="/ppt/slides/slide16.xml" Id="R40c943e1d79543ba" /><Relationship Type="http://schemas.openxmlformats.org/officeDocument/2006/relationships/slide" Target="/ppt/slides/slide17.xml" Id="Ra3e8751edaaf4923" /><Relationship Type="http://schemas.openxmlformats.org/officeDocument/2006/relationships/slide" Target="/ppt/slides/slide18.xml" Id="R5ba1145546d0414c" /><Relationship Type="http://schemas.openxmlformats.org/officeDocument/2006/relationships/slide" Target="/ppt/slides/slide19.xml" Id="R2c51ccd3dabd4e50" /><Relationship Type="http://schemas.openxmlformats.org/officeDocument/2006/relationships/slide" Target="/ppt/slides/slide20.xml" Id="R6cc1c3a437794aac" /><Relationship Type="http://schemas.openxmlformats.org/officeDocument/2006/relationships/slide" Target="/ppt/slides/slide21.xml" Id="R14d83fe24e5d44e3" /><Relationship Type="http://schemas.openxmlformats.org/officeDocument/2006/relationships/slide" Target="/ppt/slides/slide22.xml" Id="Rb2c81ce30d3f4c61" /><Relationship Type="http://schemas.openxmlformats.org/officeDocument/2006/relationships/slide" Target="/ppt/slides/slide23.xml" Id="R7b0035da459249d4" /><Relationship Type="http://schemas.openxmlformats.org/officeDocument/2006/relationships/slide" Target="/ppt/slides/slide24.xml" Id="R9f23eb021b444115" /><Relationship Type="http://schemas.openxmlformats.org/officeDocument/2006/relationships/slide" Target="/ppt/slides/slide25.xml" Id="R1750b5cc33534f61" /><Relationship Type="http://schemas.openxmlformats.org/officeDocument/2006/relationships/slide" Target="/ppt/slides/slide26.xml" Id="Rcb04029fbb94471b" /><Relationship Type="http://schemas.openxmlformats.org/officeDocument/2006/relationships/slide" Target="/ppt/slides/slide27.xml" Id="R9cc567fde236409e" /><Relationship Type="http://schemas.openxmlformats.org/officeDocument/2006/relationships/slide" Target="/ppt/slides/slide28.xml" Id="R564539c689c14c51" /><Relationship Type="http://schemas.openxmlformats.org/officeDocument/2006/relationships/slide" Target="/ppt/slides/slide29.xml" Id="R1d935ce3915d4197" /><Relationship Type="http://schemas.openxmlformats.org/officeDocument/2006/relationships/slide" Target="/ppt/slides/slide30.xml" Id="R655023750d674ec1" /><Relationship Type="http://schemas.openxmlformats.org/officeDocument/2006/relationships/slide" Target="/ppt/slides/slide31.xml" Id="R29e22b1d229941ef" /><Relationship Type="http://schemas.openxmlformats.org/officeDocument/2006/relationships/slide" Target="/ppt/slides/slide32.xml" Id="R5cce84ac187a40fe" /><Relationship Type="http://schemas.openxmlformats.org/officeDocument/2006/relationships/slide" Target="/ppt/slides/slide33.xml" Id="Rdebac853a6804811" /><Relationship Type="http://schemas.openxmlformats.org/officeDocument/2006/relationships/slide" Target="/ppt/slides/slide34.xml" Id="R648b2ebd38d349b6" /><Relationship Type="http://schemas.openxmlformats.org/officeDocument/2006/relationships/slide" Target="/ppt/slides/slide35.xml" Id="R781ffd085199479c" /><Relationship Type="http://schemas.openxmlformats.org/officeDocument/2006/relationships/slide" Target="/ppt/slides/slide36.xml" Id="Rc4617f1984234af4" /><Relationship Type="http://schemas.openxmlformats.org/officeDocument/2006/relationships/slide" Target="/ppt/slides/slide37.xml" Id="R1e19fce055a949e2" /><Relationship Type="http://schemas.openxmlformats.org/officeDocument/2006/relationships/slide" Target="/ppt/slides/slide38.xml" Id="Rec0c3903c16648b1" /><Relationship Type="http://schemas.openxmlformats.org/officeDocument/2006/relationships/slide" Target="/ppt/slides/slide39.xml" Id="Rda2ed729d54f46ad" /><Relationship Type="http://schemas.openxmlformats.org/officeDocument/2006/relationships/slide" Target="/ppt/slides/slide40.xml" Id="Rd97318b71837433d" /><Relationship Type="http://schemas.openxmlformats.org/officeDocument/2006/relationships/slide" Target="/ppt/slides/slide41.xml" Id="R577c2d0e33194375" /><Relationship Type="http://schemas.openxmlformats.org/officeDocument/2006/relationships/slide" Target="/ppt/slides/slide42.xml" Id="R61aeb7403a2044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b36da51f7648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92ad557994133" /><Relationship Type="http://schemas.openxmlformats.org/officeDocument/2006/relationships/notesMaster" Target="/ppt/notesMasters/notesMaster1.xml" Id="R9eded5575e7946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37df1368bf4718" /><Relationship Type="http://schemas.openxmlformats.org/officeDocument/2006/relationships/notesMaster" Target="/ppt/notesMasters/notesMaster1.xml" Id="R755666fb9abb46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2127e43d5e4e28" /><Relationship Type="http://schemas.openxmlformats.org/officeDocument/2006/relationships/notesMaster" Target="/ppt/notesMasters/notesMaster1.xml" Id="R308e5f4241de4a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ccfb6ca9544031" /><Relationship Type="http://schemas.openxmlformats.org/officeDocument/2006/relationships/notesMaster" Target="/ppt/notesMasters/notesMaster1.xml" Id="R8aa7e827fba2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3ba3f370dd4c15" /><Relationship Type="http://schemas.openxmlformats.org/officeDocument/2006/relationships/notesMaster" Target="/ppt/notesMasters/notesMaster1.xml" Id="Re8e536d7b57f4d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9634b26ece49f2" /><Relationship Type="http://schemas.openxmlformats.org/officeDocument/2006/relationships/notesMaster" Target="/ppt/notesMasters/notesMaster1.xml" Id="R8d3865ef70bc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f86c3e0834191" /><Relationship Type="http://schemas.openxmlformats.org/officeDocument/2006/relationships/notesMaster" Target="/ppt/notesMasters/notesMaster1.xml" Id="Rba8b1c76fecb40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466dda706b4a99" /><Relationship Type="http://schemas.openxmlformats.org/officeDocument/2006/relationships/notesMaster" Target="/ppt/notesMasters/notesMaster1.xml" Id="R5a3766dd612245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d4a19bf3234e51" /><Relationship Type="http://schemas.openxmlformats.org/officeDocument/2006/relationships/notesMaster" Target="/ppt/notesMasters/notesMaster1.xml" Id="Rbca4168fc57e47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bce833b27a480d" /><Relationship Type="http://schemas.openxmlformats.org/officeDocument/2006/relationships/notesMaster" Target="/ppt/notesMasters/notesMaster1.xml" Id="R97e53a91a29b4e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1a8da00321459e" /><Relationship Type="http://schemas.openxmlformats.org/officeDocument/2006/relationships/notesMaster" Target="/ppt/notesMasters/notesMaster1.xml" Id="R1c8a5504dc934b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e228021e1a47af" /><Relationship Type="http://schemas.openxmlformats.org/officeDocument/2006/relationships/notesMaster" Target="/ppt/notesMasters/notesMaster1.xml" Id="R990d4783734a4f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39f0302513486f" /><Relationship Type="http://schemas.openxmlformats.org/officeDocument/2006/relationships/notesMaster" Target="/ppt/notesMasters/notesMaster1.xml" Id="R66ac9245544d40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8070a463124dbc" /><Relationship Type="http://schemas.openxmlformats.org/officeDocument/2006/relationships/notesMaster" Target="/ppt/notesMasters/notesMaster1.xml" Id="R62f00069e0a04c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113ae49eb34847" /><Relationship Type="http://schemas.openxmlformats.org/officeDocument/2006/relationships/notesMaster" Target="/ppt/notesMasters/notesMaster1.xml" Id="Redc98f7ec12f4e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c1a06f68f64935" /><Relationship Type="http://schemas.openxmlformats.org/officeDocument/2006/relationships/notesMaster" Target="/ppt/notesMasters/notesMaster1.xml" Id="R97373ca610544b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f5e1d92cee4dd0" /><Relationship Type="http://schemas.openxmlformats.org/officeDocument/2006/relationships/notesMaster" Target="/ppt/notesMasters/notesMaster1.xml" Id="R161a483e9afc49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9ef620949946a5" /><Relationship Type="http://schemas.openxmlformats.org/officeDocument/2006/relationships/notesMaster" Target="/ppt/notesMasters/notesMaster1.xml" Id="Rfed8ac3871324b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80769fa8914fc6" /><Relationship Type="http://schemas.openxmlformats.org/officeDocument/2006/relationships/notesMaster" Target="/ppt/notesMasters/notesMaster1.xml" Id="Rd366ef8b24dd40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e63837c0b74cd3" /><Relationship Type="http://schemas.openxmlformats.org/officeDocument/2006/relationships/notesMaster" Target="/ppt/notesMasters/notesMaster1.xml" Id="Rdbac1842b6d449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5032dc7a684eb4" /><Relationship Type="http://schemas.openxmlformats.org/officeDocument/2006/relationships/notesMaster" Target="/ppt/notesMasters/notesMaster1.xml" Id="R6321d9e1c9244e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dff669f26647da" /><Relationship Type="http://schemas.openxmlformats.org/officeDocument/2006/relationships/notesMaster" Target="/ppt/notesMasters/notesMaster1.xml" Id="Rc2724adf1aea425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324f56b6f6423e" /><Relationship Type="http://schemas.openxmlformats.org/officeDocument/2006/relationships/notesMaster" Target="/ppt/notesMasters/notesMaster1.xml" Id="R7b715740194849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8491c285e74af2" /><Relationship Type="http://schemas.openxmlformats.org/officeDocument/2006/relationships/notesMaster" Target="/ppt/notesMasters/notesMaster1.xml" Id="R17332d70579b4d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02cae299b24cf7" /><Relationship Type="http://schemas.openxmlformats.org/officeDocument/2006/relationships/notesMaster" Target="/ppt/notesMasters/notesMaster1.xml" Id="Rfac78e19ba9d45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4fc7073bf2462a" /><Relationship Type="http://schemas.openxmlformats.org/officeDocument/2006/relationships/notesMaster" Target="/ppt/notesMasters/notesMaster1.xml" Id="R81790ca6093a48b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20cadf2cb54db4" /><Relationship Type="http://schemas.openxmlformats.org/officeDocument/2006/relationships/notesMaster" Target="/ppt/notesMasters/notesMaster1.xml" Id="Rc1938158de8b4e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ecaa5f2dd84bcf" /><Relationship Type="http://schemas.openxmlformats.org/officeDocument/2006/relationships/notesMaster" Target="/ppt/notesMasters/notesMaster1.xml" Id="Rcb8a3b20b0404f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17c0668da8943be" /><Relationship Type="http://schemas.openxmlformats.org/officeDocument/2006/relationships/notesMaster" Target="/ppt/notesMasters/notesMaster1.xml" Id="Ra254dee7eb4741f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fd752715805452a" /><Relationship Type="http://schemas.openxmlformats.org/officeDocument/2006/relationships/notesMaster" Target="/ppt/notesMasters/notesMaster1.xml" Id="Rbcefdf50302d420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6aad4003cfd4c2a" /><Relationship Type="http://schemas.openxmlformats.org/officeDocument/2006/relationships/notesMaster" Target="/ppt/notesMasters/notesMaster1.xml" Id="R2097e5a59ed2409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9206988d3684398" /><Relationship Type="http://schemas.openxmlformats.org/officeDocument/2006/relationships/notesMaster" Target="/ppt/notesMasters/notesMaster1.xml" Id="R8261622180c94c7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f39236fd5b94aea" /><Relationship Type="http://schemas.openxmlformats.org/officeDocument/2006/relationships/notesMaster" Target="/ppt/notesMasters/notesMaster1.xml" Id="Re7e1125282d24d2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47d50428324d16" /><Relationship Type="http://schemas.openxmlformats.org/officeDocument/2006/relationships/notesMaster" Target="/ppt/notesMasters/notesMaster1.xml" Id="R88dae33d0ad04e4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54839e8b71d40b4" /><Relationship Type="http://schemas.openxmlformats.org/officeDocument/2006/relationships/notesMaster" Target="/ppt/notesMasters/notesMaster1.xml" Id="R770a49ba5425492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44f69e99c884863" /><Relationship Type="http://schemas.openxmlformats.org/officeDocument/2006/relationships/notesMaster" Target="/ppt/notesMasters/notesMaster1.xml" Id="R12ee6da714da452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079e936ff4a4711" /><Relationship Type="http://schemas.openxmlformats.org/officeDocument/2006/relationships/notesMaster" Target="/ppt/notesMasters/notesMaster1.xml" Id="R039c6bbc1d4d48e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ebac7543c74910" /><Relationship Type="http://schemas.openxmlformats.org/officeDocument/2006/relationships/notesMaster" Target="/ppt/notesMasters/notesMaster1.xml" Id="R217c616939fe447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4974e90de5c4ce5" /><Relationship Type="http://schemas.openxmlformats.org/officeDocument/2006/relationships/notesMaster" Target="/ppt/notesMasters/notesMaster1.xml" Id="R098cc1856a2446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e6e6a64bd004a3b" /><Relationship Type="http://schemas.openxmlformats.org/officeDocument/2006/relationships/notesMaster" Target="/ppt/notesMasters/notesMaster1.xml" Id="R68f94b045c2a4f8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2f62500fbee4bef" /><Relationship Type="http://schemas.openxmlformats.org/officeDocument/2006/relationships/notesMaster" Target="/ppt/notesMasters/notesMaster1.xml" Id="R5fdd0376ee72443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2ee71b7ebfb4102" /><Relationship Type="http://schemas.openxmlformats.org/officeDocument/2006/relationships/notesMaster" Target="/ppt/notesMasters/notesMaster1.xml" Id="R23499d5803284f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РПД дисциплины, тема 2: глубокое обучение в обработке естественного языка.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РПД «Прикладные задачи машинного обучения», тема 2, стр.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Vaswani et al. Attention Is All You Need.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Vaswani et al. 2017.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Devlin et al. BERT, NAACL 2019. https://aclanthology.org/N19-1423/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Лабораторная работа 1 NLP: RuBERT используется как русскоязычный encoder-baseline.</a:t>
            </a:r>
          </a:p>
          <a:p xmlns:a="http://schemas.openxmlformats.org/drawingml/2006/main">
            <a:r>
              <a:t>Zmitrovich et al. Russian Transformer family, LREC-COLING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Araci. FinBERT: Financial Sentiment Analysis with Pre-trained Language Models. https://arxiv.org/abs/1908.10063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Conneau et al. XLM-R, ACL 2020. https://aclanthology.org/2020.acl-main.747/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 et al. DeBERTa. https://arxiv.org/abs/2006.03654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Radford et al. Improving Language Understanding by Generative Pre-Training.</a:t>
            </a:r>
          </a:p>
          <a:p xmlns:a="http://schemas.openxmlformats.org/drawingml/2006/main">
            <a:r>
              <a:t>Brown et al. Language Models are Few-Shot Learners. https://arxiv.org/abs/2005.14165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 AI. The Llama 3 Herd of Models. https://arxiv.org/abs/2407.21783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Jiang et al. Mistral 7B. https://arxiv.org/abs/2310.06825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Qwen2.5 Technical Report. https://arxiv.org/abs/2412.15115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Mamedov et al. GigaChat Family, ACL 2025. https://aclanthology.org/2025.acl-demo.10/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 et al. LoRA. https://arxiv.org/abs/2106.09685</a:t>
            </a:r>
          </a:p>
          <a:p xmlns:a="http://schemas.openxmlformats.org/drawingml/2006/main">
            <a:r>
              <a:t>Dettmers et al. QLoRA. https://arxiv.org/abs/2305.14314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4c7827ab648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6c4f7a01864d00" /><Relationship Type="http://schemas.openxmlformats.org/officeDocument/2006/relationships/slideLayout" Target="/ppt/slideLayouts/slideLayout1.xml" Id="R8a14669ea787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4669ea787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1d5c397f740e9" /><Relationship Type="http://schemas.openxmlformats.org/officeDocument/2006/relationships/image" Target="/ppt/media/image.png" Id="R652b4b4220154dc2" /><Relationship Type="http://schemas.openxmlformats.org/officeDocument/2006/relationships/hyperlink" Target="https://petrnikitin20.github.io/PML/" TargetMode="External" Id="R18cb57971ac842a6" /><Relationship Type="http://schemas.openxmlformats.org/officeDocument/2006/relationships/notesSlide" Target="/ppt/notesSlides/notesSlide1.xml" Id="R3ee6c999a89749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570f403d647fc" /><Relationship Type="http://schemas.openxmlformats.org/officeDocument/2006/relationships/image" Target="/ppt/media/image2.png" Id="Recc10a86a80d4845" /><Relationship Type="http://schemas.openxmlformats.org/officeDocument/2006/relationships/hyperlink" Target="https://petrnikitin20.github.io/PML/" TargetMode="External" Id="R1cd3366e6a2c4b00" /><Relationship Type="http://schemas.openxmlformats.org/officeDocument/2006/relationships/notesSlide" Target="/ppt/notesSlides/notesSlide2.xml" Id="R3a8d1b65313d45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9d5eefcdd4bdf" /><Relationship Type="http://schemas.openxmlformats.org/officeDocument/2006/relationships/image" Target="/ppt/media/image3.png" Id="R5397c74093dc46d6" /><Relationship Type="http://schemas.openxmlformats.org/officeDocument/2006/relationships/hyperlink" Target="https://petrnikitin20.github.io/PML/" TargetMode="External" Id="R04492dcef2884d87" /><Relationship Type="http://schemas.openxmlformats.org/officeDocument/2006/relationships/notesSlide" Target="/ppt/notesSlides/notesSlide3.xml" Id="R881c1a54c4f14c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d1ba30d84ece" /><Relationship Type="http://schemas.openxmlformats.org/officeDocument/2006/relationships/image" Target="/ppt/media/image4.png" Id="Ree99cf5187454e48" /><Relationship Type="http://schemas.openxmlformats.org/officeDocument/2006/relationships/hyperlink" Target="https://petrnikitin20.github.io/PML/" TargetMode="External" Id="R5b560ec5a5554773" /><Relationship Type="http://schemas.openxmlformats.org/officeDocument/2006/relationships/notesSlide" Target="/ppt/notesSlides/notesSlide4.xml" Id="Rb7a01c55443d4d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915ae5f0a44f0" /><Relationship Type="http://schemas.openxmlformats.org/officeDocument/2006/relationships/image" Target="/ppt/media/image5.png" Id="R944d0b99b89d440a" /><Relationship Type="http://schemas.openxmlformats.org/officeDocument/2006/relationships/hyperlink" Target="https://petrnikitin20.github.io/PML/" TargetMode="External" Id="R290d1f3cfc704296" /><Relationship Type="http://schemas.openxmlformats.org/officeDocument/2006/relationships/notesSlide" Target="/ppt/notesSlides/notesSlide5.xml" Id="Rc83234aad63d4b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ac26a4f644cb" /><Relationship Type="http://schemas.openxmlformats.org/officeDocument/2006/relationships/image" Target="/ppt/media/image6.png" Id="Rc4d61450fba54088" /><Relationship Type="http://schemas.openxmlformats.org/officeDocument/2006/relationships/hyperlink" Target="https://petrnikitin20.github.io/PML/" TargetMode="External" Id="R5c514a2a1d1a44ac" /><Relationship Type="http://schemas.openxmlformats.org/officeDocument/2006/relationships/notesSlide" Target="/ppt/notesSlides/notesSlide6.xml" Id="R6cceb2e7359c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c1352c60b4d23" /><Relationship Type="http://schemas.openxmlformats.org/officeDocument/2006/relationships/image" Target="/ppt/media/image7.png" Id="R809a0d3a92a6495c" /><Relationship Type="http://schemas.openxmlformats.org/officeDocument/2006/relationships/hyperlink" Target="https://petrnikitin20.github.io/PML/" TargetMode="External" Id="Rd1820541e32c4968" /><Relationship Type="http://schemas.openxmlformats.org/officeDocument/2006/relationships/notesSlide" Target="/ppt/notesSlides/notesSlide7.xml" Id="Rd8e1d130434c4e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793ef48624e9a" /><Relationship Type="http://schemas.openxmlformats.org/officeDocument/2006/relationships/image" Target="/ppt/media/image8.png" Id="Rfd4de87b20b24640" /><Relationship Type="http://schemas.openxmlformats.org/officeDocument/2006/relationships/hyperlink" Target="https://petrnikitin20.github.io/PML/" TargetMode="External" Id="R88128d2eb42d4d12" /><Relationship Type="http://schemas.openxmlformats.org/officeDocument/2006/relationships/notesSlide" Target="/ppt/notesSlides/notesSlide8.xml" Id="R09821a1f4bda40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e10dcb89b431a" /><Relationship Type="http://schemas.openxmlformats.org/officeDocument/2006/relationships/image" Target="/ppt/media/image9.png" Id="Rb0ab480e8b2b423d" /><Relationship Type="http://schemas.openxmlformats.org/officeDocument/2006/relationships/hyperlink" Target="https://petrnikitin20.github.io/PML/" TargetMode="External" Id="R6fc27b4c19fc4f21" /><Relationship Type="http://schemas.openxmlformats.org/officeDocument/2006/relationships/notesSlide" Target="/ppt/notesSlides/notesSlide9.xml" Id="R1ff468c703bd48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3bd50a9b344a6" /><Relationship Type="http://schemas.openxmlformats.org/officeDocument/2006/relationships/image" Target="/ppt/media/image10.png" Id="Rc4e844129b8f45f6" /><Relationship Type="http://schemas.openxmlformats.org/officeDocument/2006/relationships/hyperlink" Target="https://petrnikitin20.github.io/PML/" TargetMode="External" Id="R18f4cf1c224c43d2" /><Relationship Type="http://schemas.openxmlformats.org/officeDocument/2006/relationships/notesSlide" Target="/ppt/notesSlides/notesSlide10.xml" Id="Red62a082c0e84d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e7e7312254bb3" /><Relationship Type="http://schemas.openxmlformats.org/officeDocument/2006/relationships/image" Target="/ppt/media/image11.png" Id="Rc4e6ed5cb981494e" /><Relationship Type="http://schemas.openxmlformats.org/officeDocument/2006/relationships/hyperlink" Target="https://petrnikitin20.github.io/PML/" TargetMode="External" Id="Rcdb97f9646b84e3a" /><Relationship Type="http://schemas.openxmlformats.org/officeDocument/2006/relationships/notesSlide" Target="/ppt/notesSlides/notesSlide11.xml" Id="R5c525f4d901548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10dee3364984" /><Relationship Type="http://schemas.openxmlformats.org/officeDocument/2006/relationships/image" Target="/ppt/media/image12.png" Id="R30329b9470c24b5e" /><Relationship Type="http://schemas.openxmlformats.org/officeDocument/2006/relationships/hyperlink" Target="https://petrnikitin20.github.io/PML/" TargetMode="External" Id="R76e2741b0aab4161" /><Relationship Type="http://schemas.openxmlformats.org/officeDocument/2006/relationships/notesSlide" Target="/ppt/notesSlides/notesSlide12.xml" Id="R894401610b6049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3cbbda9e44a66" /><Relationship Type="http://schemas.openxmlformats.org/officeDocument/2006/relationships/image" Target="/ppt/media/image13.png" Id="R0d8c8c917cfc493b" /><Relationship Type="http://schemas.openxmlformats.org/officeDocument/2006/relationships/hyperlink" Target="https://petrnikitin20.github.io/PML/" TargetMode="External" Id="R4de8484e7cb74d41" /><Relationship Type="http://schemas.openxmlformats.org/officeDocument/2006/relationships/notesSlide" Target="/ppt/notesSlides/notesSlide13.xml" Id="R797611455e8c4d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42fe6d78a49cf" /><Relationship Type="http://schemas.openxmlformats.org/officeDocument/2006/relationships/image" Target="/ppt/media/image14.png" Id="Rd94b5facba8846d2" /><Relationship Type="http://schemas.openxmlformats.org/officeDocument/2006/relationships/hyperlink" Target="https://petrnikitin20.github.io/PML/" TargetMode="External" Id="Re01e8d755b754704" /><Relationship Type="http://schemas.openxmlformats.org/officeDocument/2006/relationships/notesSlide" Target="/ppt/notesSlides/notesSlide14.xml" Id="R0bf4b58f707842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84ef424284a52" /><Relationship Type="http://schemas.openxmlformats.org/officeDocument/2006/relationships/image" Target="/ppt/media/image15.png" Id="R82c78b739bf9458b" /><Relationship Type="http://schemas.openxmlformats.org/officeDocument/2006/relationships/hyperlink" Target="https://petrnikitin20.github.io/PML/" TargetMode="External" Id="R1811ff6d80194761" /><Relationship Type="http://schemas.openxmlformats.org/officeDocument/2006/relationships/notesSlide" Target="/ppt/notesSlides/notesSlide15.xml" Id="Rdc9319c9a55f43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0ea396f464b50" /><Relationship Type="http://schemas.openxmlformats.org/officeDocument/2006/relationships/image" Target="/ppt/media/image16.png" Id="R6cd6bba1928b4dac" /><Relationship Type="http://schemas.openxmlformats.org/officeDocument/2006/relationships/hyperlink" Target="https://petrnikitin20.github.io/PML/" TargetMode="External" Id="R9e2461770c114932" /><Relationship Type="http://schemas.openxmlformats.org/officeDocument/2006/relationships/notesSlide" Target="/ppt/notesSlides/notesSlide16.xml" Id="Rfc0268ecd93944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7891f41a74824" /><Relationship Type="http://schemas.openxmlformats.org/officeDocument/2006/relationships/image" Target="/ppt/media/image17.png" Id="R00146a9c262640d5" /><Relationship Type="http://schemas.openxmlformats.org/officeDocument/2006/relationships/hyperlink" Target="https://petrnikitin20.github.io/PML/" TargetMode="External" Id="Rc5b71870501f489b" /><Relationship Type="http://schemas.openxmlformats.org/officeDocument/2006/relationships/notesSlide" Target="/ppt/notesSlides/notesSlide17.xml" Id="Rbe2da569e02a40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50c09d9184612" /><Relationship Type="http://schemas.openxmlformats.org/officeDocument/2006/relationships/image" Target="/ppt/media/image18.png" Id="R666e6c7e42e44324" /><Relationship Type="http://schemas.openxmlformats.org/officeDocument/2006/relationships/hyperlink" Target="https://petrnikitin20.github.io/PML/" TargetMode="External" Id="Rf15896abdbf04057" /><Relationship Type="http://schemas.openxmlformats.org/officeDocument/2006/relationships/notesSlide" Target="/ppt/notesSlides/notesSlide18.xml" Id="R2a383450833344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a111355a94e22" /><Relationship Type="http://schemas.openxmlformats.org/officeDocument/2006/relationships/image" Target="/ppt/media/image19.png" Id="R3d800c795eab4b0b" /><Relationship Type="http://schemas.openxmlformats.org/officeDocument/2006/relationships/hyperlink" Target="https://petrnikitin20.github.io/PML/" TargetMode="External" Id="Rebe5b325e0194c11" /><Relationship Type="http://schemas.openxmlformats.org/officeDocument/2006/relationships/notesSlide" Target="/ppt/notesSlides/notesSlide19.xml" Id="Rec5a1fed0ba04d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058e89780498c" /><Relationship Type="http://schemas.openxmlformats.org/officeDocument/2006/relationships/image" Target="/ppt/media/image20.png" Id="R26eca337ef434578" /><Relationship Type="http://schemas.openxmlformats.org/officeDocument/2006/relationships/hyperlink" Target="https://petrnikitin20.github.io/PML/" TargetMode="External" Id="R8a17c98747c34051" /><Relationship Type="http://schemas.openxmlformats.org/officeDocument/2006/relationships/notesSlide" Target="/ppt/notesSlides/notesSlide20.xml" Id="R8b8aa6564bf448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25e06a2764c13" /><Relationship Type="http://schemas.openxmlformats.org/officeDocument/2006/relationships/image" Target="/ppt/media/image21.png" Id="R478be456f98241e9" /><Relationship Type="http://schemas.openxmlformats.org/officeDocument/2006/relationships/hyperlink" Target="https://petrnikitin20.github.io/PML/" TargetMode="External" Id="R168b054252d041c9" /><Relationship Type="http://schemas.openxmlformats.org/officeDocument/2006/relationships/notesSlide" Target="/ppt/notesSlides/notesSlide21.xml" Id="R388f70b24d274e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39127fa5b4b58" /><Relationship Type="http://schemas.openxmlformats.org/officeDocument/2006/relationships/image" Target="/ppt/media/image22.png" Id="R288efc9d1b0e40da" /><Relationship Type="http://schemas.openxmlformats.org/officeDocument/2006/relationships/hyperlink" Target="https://petrnikitin20.github.io/PML/" TargetMode="External" Id="R4eb936d23d634778" /><Relationship Type="http://schemas.openxmlformats.org/officeDocument/2006/relationships/notesSlide" Target="/ppt/notesSlides/notesSlide22.xml" Id="Recabb52ecad547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b7eb7b4104b9f" /><Relationship Type="http://schemas.openxmlformats.org/officeDocument/2006/relationships/image" Target="/ppt/media/image23.png" Id="Rc2755fa56ac841bf" /><Relationship Type="http://schemas.openxmlformats.org/officeDocument/2006/relationships/hyperlink" Target="https://petrnikitin20.github.io/PML/" TargetMode="External" Id="R1be967d4d7dd4bbd" /><Relationship Type="http://schemas.openxmlformats.org/officeDocument/2006/relationships/notesSlide" Target="/ppt/notesSlides/notesSlide23.xml" Id="Rd723d72217524a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8d0c36ab44622" /><Relationship Type="http://schemas.openxmlformats.org/officeDocument/2006/relationships/image" Target="/ppt/media/image24.png" Id="R358ffdcb3e1d4d87" /><Relationship Type="http://schemas.openxmlformats.org/officeDocument/2006/relationships/hyperlink" Target="https://petrnikitin20.github.io/PML/" TargetMode="External" Id="Rf9889a410d5442eb" /><Relationship Type="http://schemas.openxmlformats.org/officeDocument/2006/relationships/notesSlide" Target="/ppt/notesSlides/notesSlide24.xml" Id="Rfc5630054fd94f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2372c86e6444c" /><Relationship Type="http://schemas.openxmlformats.org/officeDocument/2006/relationships/image" Target="/ppt/media/image25.png" Id="R849587f760d64d1b" /><Relationship Type="http://schemas.openxmlformats.org/officeDocument/2006/relationships/hyperlink" Target="https://petrnikitin20.github.io/PML/" TargetMode="External" Id="Rd1305c84ef7a4c02" /><Relationship Type="http://schemas.openxmlformats.org/officeDocument/2006/relationships/notesSlide" Target="/ppt/notesSlides/notesSlide25.xml" Id="R982f53c41aba46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ed79e597453e" /><Relationship Type="http://schemas.openxmlformats.org/officeDocument/2006/relationships/image" Target="/ppt/media/image26.png" Id="Rc3930d789a414adb" /><Relationship Type="http://schemas.openxmlformats.org/officeDocument/2006/relationships/hyperlink" Target="https://petrnikitin20.github.io/PML/" TargetMode="External" Id="R2de91d81167f41d1" /><Relationship Type="http://schemas.openxmlformats.org/officeDocument/2006/relationships/notesSlide" Target="/ppt/notesSlides/notesSlide26.xml" Id="R9e6c2d3f268342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4b46c77034d63" /><Relationship Type="http://schemas.openxmlformats.org/officeDocument/2006/relationships/image" Target="/ppt/media/image27.png" Id="R2706df61fe62458b" /><Relationship Type="http://schemas.openxmlformats.org/officeDocument/2006/relationships/hyperlink" Target="https://petrnikitin20.github.io/PML/" TargetMode="External" Id="R01d57cc666f04ced" /><Relationship Type="http://schemas.openxmlformats.org/officeDocument/2006/relationships/notesSlide" Target="/ppt/notesSlides/notesSlide27.xml" Id="R2d35198e52d349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b193f2b4a455f" /><Relationship Type="http://schemas.openxmlformats.org/officeDocument/2006/relationships/image" Target="/ppt/media/image28.png" Id="R4245b09c9423454f" /><Relationship Type="http://schemas.openxmlformats.org/officeDocument/2006/relationships/hyperlink" Target="https://petrnikitin20.github.io/PML/" TargetMode="External" Id="R6a682d13d5ce4778" /><Relationship Type="http://schemas.openxmlformats.org/officeDocument/2006/relationships/notesSlide" Target="/ppt/notesSlides/notesSlide28.xml" Id="R74124a90943b46b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9f6790857455c" /><Relationship Type="http://schemas.openxmlformats.org/officeDocument/2006/relationships/image" Target="/ppt/media/image29.png" Id="R416e7c7a15af40d3" /><Relationship Type="http://schemas.openxmlformats.org/officeDocument/2006/relationships/hyperlink" Target="https://petrnikitin20.github.io/PML/" TargetMode="External" Id="R6c99a7a4662c40af" /><Relationship Type="http://schemas.openxmlformats.org/officeDocument/2006/relationships/notesSlide" Target="/ppt/notesSlides/notesSlide29.xml" Id="R827d3bcf3a6e43f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110388ca248cd" /><Relationship Type="http://schemas.openxmlformats.org/officeDocument/2006/relationships/image" Target="/ppt/media/image30.png" Id="R7c689b92e1104d4a" /><Relationship Type="http://schemas.openxmlformats.org/officeDocument/2006/relationships/hyperlink" Target="https://petrnikitin20.github.io/PML/" TargetMode="External" Id="R9f0e06a357df4cc0" /><Relationship Type="http://schemas.openxmlformats.org/officeDocument/2006/relationships/notesSlide" Target="/ppt/notesSlides/notesSlide30.xml" Id="R6e77fb2a15b94e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13705f3804a46" /><Relationship Type="http://schemas.openxmlformats.org/officeDocument/2006/relationships/image" Target="/ppt/media/image31.png" Id="Rc70ebf91c45b406e" /><Relationship Type="http://schemas.openxmlformats.org/officeDocument/2006/relationships/hyperlink" Target="https://petrnikitin20.github.io/PML/" TargetMode="External" Id="Re7e65572dee24fae" /><Relationship Type="http://schemas.openxmlformats.org/officeDocument/2006/relationships/notesSlide" Target="/ppt/notesSlides/notesSlide31.xml" Id="Rcb26eb57feb4423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95dc3888441d9" /><Relationship Type="http://schemas.openxmlformats.org/officeDocument/2006/relationships/image" Target="/ppt/media/image32.png" Id="R16d02c69c498407d" /><Relationship Type="http://schemas.openxmlformats.org/officeDocument/2006/relationships/hyperlink" Target="https://petrnikitin20.github.io/PML/" TargetMode="External" Id="Rb3b58e0a053644f0" /><Relationship Type="http://schemas.openxmlformats.org/officeDocument/2006/relationships/notesSlide" Target="/ppt/notesSlides/notesSlide32.xml" Id="Reee1d0e75f944d5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b3af4a2814b38" /><Relationship Type="http://schemas.openxmlformats.org/officeDocument/2006/relationships/image" Target="/ppt/media/image33.png" Id="Reef66715063d4a35" /><Relationship Type="http://schemas.openxmlformats.org/officeDocument/2006/relationships/image" Target="/ppt/media/image34.png" Id="R58820471b9fa457b" /><Relationship Type="http://schemas.openxmlformats.org/officeDocument/2006/relationships/hyperlink" Target="https://petrnikitin20.github.io/PML/" TargetMode="External" Id="R111b14e259b54f13" /><Relationship Type="http://schemas.openxmlformats.org/officeDocument/2006/relationships/notesSlide" Target="/ppt/notesSlides/notesSlide33.xml" Id="Re88ab4887c554ee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d0a478ff14c35" /><Relationship Type="http://schemas.openxmlformats.org/officeDocument/2006/relationships/image" Target="/ppt/media/image35.png" Id="Ra6aed4908dfb4057" /><Relationship Type="http://schemas.openxmlformats.org/officeDocument/2006/relationships/image" Target="/ppt/media/image36.png" Id="Redf74faf48d24e3a" /><Relationship Type="http://schemas.openxmlformats.org/officeDocument/2006/relationships/hyperlink" Target="https://petrnikitin20.github.io/PML/" TargetMode="External" Id="R9244abc46da64201" /><Relationship Type="http://schemas.openxmlformats.org/officeDocument/2006/relationships/notesSlide" Target="/ppt/notesSlides/notesSlide34.xml" Id="Rbaa15fdcdcf2484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cdc359f0644a4" /><Relationship Type="http://schemas.openxmlformats.org/officeDocument/2006/relationships/image" Target="/ppt/media/image37.png" Id="Ra8fa03ffbb5f4a72" /><Relationship Type="http://schemas.openxmlformats.org/officeDocument/2006/relationships/hyperlink" Target="https://petrnikitin20.github.io/PML/" TargetMode="External" Id="R3a7b08a2ac684cf0" /><Relationship Type="http://schemas.openxmlformats.org/officeDocument/2006/relationships/notesSlide" Target="/ppt/notesSlides/notesSlide35.xml" Id="R1904c991049a4e8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5ac0b3b0e4f07" /><Relationship Type="http://schemas.openxmlformats.org/officeDocument/2006/relationships/image" Target="/ppt/media/image38.png" Id="R99675a6a64e545fe" /><Relationship Type="http://schemas.openxmlformats.org/officeDocument/2006/relationships/chart" Target="/ppt/slides/charts/chart1.xml" Id="R1be5d38f31944bfd" /><Relationship Type="http://schemas.openxmlformats.org/officeDocument/2006/relationships/hyperlink" Target="https://petrnikitin20.github.io/PML/" TargetMode="External" Id="Rbbc28b0541994323" /><Relationship Type="http://schemas.openxmlformats.org/officeDocument/2006/relationships/notesSlide" Target="/ppt/notesSlides/notesSlide36.xml" Id="R3c231ce210594ea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da40b73584062" /><Relationship Type="http://schemas.openxmlformats.org/officeDocument/2006/relationships/image" Target="/ppt/media/image39.png" Id="Rff44cb41c06d498c" /><Relationship Type="http://schemas.openxmlformats.org/officeDocument/2006/relationships/hyperlink" Target="https://petrnikitin20.github.io/PML/" TargetMode="External" Id="Rb3b4a9a4c7484fbf" /><Relationship Type="http://schemas.openxmlformats.org/officeDocument/2006/relationships/notesSlide" Target="/ppt/notesSlides/notesSlide37.xml" Id="R7f51229d381d41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8e8c8fbe749ab" /><Relationship Type="http://schemas.openxmlformats.org/officeDocument/2006/relationships/image" Target="/ppt/media/image40.png" Id="R0a527824663f4ca7" /><Relationship Type="http://schemas.openxmlformats.org/officeDocument/2006/relationships/hyperlink" Target="https://petrnikitin20.github.io/PML/" TargetMode="External" Id="R93ad6f571baf49e3" /><Relationship Type="http://schemas.openxmlformats.org/officeDocument/2006/relationships/notesSlide" Target="/ppt/notesSlides/notesSlide38.xml" Id="R5bdd84cbeaf441c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fc4948c314968" /><Relationship Type="http://schemas.openxmlformats.org/officeDocument/2006/relationships/image" Target="/ppt/media/image41.png" Id="R9e8472cde6a14a4e" /><Relationship Type="http://schemas.openxmlformats.org/officeDocument/2006/relationships/hyperlink" Target="https://petrnikitin20.github.io/PML/" TargetMode="External" Id="R5f40b3f7a0d94548" /><Relationship Type="http://schemas.openxmlformats.org/officeDocument/2006/relationships/notesSlide" Target="/ppt/notesSlides/notesSlide39.xml" Id="Rf74bcc579fd94e3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5147dc2a046f0" /><Relationship Type="http://schemas.openxmlformats.org/officeDocument/2006/relationships/image" Target="/ppt/media/image42.png" Id="R1c041cf16d1d49ee" /><Relationship Type="http://schemas.openxmlformats.org/officeDocument/2006/relationships/hyperlink" Target="https://petrnikitin20.github.io/PML/" TargetMode="External" Id="R735db480b9bb4653" /><Relationship Type="http://schemas.openxmlformats.org/officeDocument/2006/relationships/notesSlide" Target="/ppt/notesSlides/notesSlide40.xml" Id="R111c10e16dd245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d797b3a4e4024" /><Relationship Type="http://schemas.openxmlformats.org/officeDocument/2006/relationships/image" Target="/ppt/media/image43.png" Id="R04b3e73646054daf" /><Relationship Type="http://schemas.openxmlformats.org/officeDocument/2006/relationships/hyperlink" Target="https://arxiv.org/abs/1706.03762" TargetMode="External" Id="R10d546a2f6f948a7" /><Relationship Type="http://schemas.openxmlformats.org/officeDocument/2006/relationships/hyperlink" Target="https://aclanthology.org/N19-1423/" TargetMode="External" Id="R7b36f8228f3e497a" /><Relationship Type="http://schemas.openxmlformats.org/officeDocument/2006/relationships/hyperlink" Target="https://arxiv.org/abs/1908.10063" TargetMode="External" Id="R44358704437b4af4" /><Relationship Type="http://schemas.openxmlformats.org/officeDocument/2006/relationships/hyperlink" Target="https://arxiv.org/abs/2407.21783" TargetMode="External" Id="R7b20dfee89c8402a" /><Relationship Type="http://schemas.openxmlformats.org/officeDocument/2006/relationships/hyperlink" Target="https://arxiv.org/abs/2310.06825" TargetMode="External" Id="R38e803f0fa1c4da8" /><Relationship Type="http://schemas.openxmlformats.org/officeDocument/2006/relationships/hyperlink" Target="https://arxiv.org/abs/2412.15115" TargetMode="External" Id="R0bf1f9ad70ee4d88" /><Relationship Type="http://schemas.openxmlformats.org/officeDocument/2006/relationships/hyperlink" Target="https://aclanthology.org/2025.acl-demo.10/" TargetMode="External" Id="Rbff269ab50bf428f" /><Relationship Type="http://schemas.openxmlformats.org/officeDocument/2006/relationships/hyperlink" Target="https://huggingface.co/docs/transformers/" TargetMode="External" Id="R70a772f54fe940de" /><Relationship Type="http://schemas.openxmlformats.org/officeDocument/2006/relationships/hyperlink" Target="https://petrnikitin20.github.io/PML/" TargetMode="External" Id="Rad8e1d2c77b44209" /><Relationship Type="http://schemas.openxmlformats.org/officeDocument/2006/relationships/notesSlide" Target="/ppt/notesSlides/notesSlide41.xml" Id="R0e8e2ae85df6487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32d8409344a39" /><Relationship Type="http://schemas.openxmlformats.org/officeDocument/2006/relationships/image" Target="/ppt/media/image44.png" Id="R6c1b25ea0c43417d" /><Relationship Type="http://schemas.openxmlformats.org/officeDocument/2006/relationships/hyperlink" Target="https://petrnikitin20.github.io/PML/lab1-nlp.html" TargetMode="External" Id="R73d9ec311cb944d7" /><Relationship Type="http://schemas.openxmlformats.org/officeDocument/2006/relationships/hyperlink" Target="https://petrnikitin20.github.io/PML/" TargetMode="External" Id="R2414c43305e44dd3" /><Relationship Type="http://schemas.openxmlformats.org/officeDocument/2006/relationships/notesSlide" Target="/ppt/notesSlides/notesSlide42.xml" Id="Rdad233b42c84431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116A6E"/>
            </a:solidFill>
          </c:spPr>
          <c:cat>
            <c:strRef>
              <c:f>'Chart Data'!$A$2:$A$9</c:f>
              <c:strCache>
                <c:ptCount val="8"/>
                <c:pt idx="0">
                  <c:v>TF-IDF</c:v>
                </c:pt>
                <c:pt idx="1">
                  <c:v>BiLSTM</c:v>
                </c:pt>
                <c:pt idx="2">
                  <c:v>RuBERT</c:v>
                </c:pt>
                <c:pt idx="3">
                  <c:v>FinBERT</c:v>
                </c:pt>
                <c:pt idx="4">
                  <c:v>XLM-R</c:v>
                </c:pt>
                <c:pt idx="5">
                  <c:v>Qwen2.5</c:v>
                </c:pt>
                <c:pt idx="6">
                  <c:v>Llama 3.1</c:v>
                </c:pt>
                <c:pt idx="7">
                  <c:v>GigaChat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0.682</c:v>
                </c:pt>
                <c:pt idx="1">
                  <c:v>0.711</c:v>
                </c:pt>
                <c:pt idx="2">
                  <c:v>0.781</c:v>
                </c:pt>
                <c:pt idx="3">
                  <c:v>0.803</c:v>
                </c:pt>
                <c:pt idx="4">
                  <c:v>0.796</c:v>
                </c:pt>
                <c:pt idx="5">
                  <c:v>0.824</c:v>
                </c:pt>
                <c:pt idx="6">
                  <c:v>0.806</c:v>
                </c:pt>
                <c:pt idx="7">
                  <c:v>0.818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b4b4220154d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26524-3FE5-419B-8A9A-283BB00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271B5-AFED-4903-A668-9D8420DC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8239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F2D41-C49B-417E-B4EE-309A636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rPr>
              <a:t>ПРИКЛАДНЫЕ ЗАДАЧИ МАШИННОГО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54220-F3AA-4CD7-9F64-3132720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000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Обработка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9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естественного языка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8C749-CE19-4953-A5E3-C62AE553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Теория, архитектуры LLM, математика, код и демонстрационный пример лабораторной работы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83E07-A313-40F1-BCB9-A5AE3F7F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18cb57971ac842a6"/>
              </a:rPr>
              <a:t>petrnikitin20.github.io/PML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38348-FA3E-4896-8A56-E0E5F27F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Никитин Петр Владимирович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кафедра искусственного интеллекта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Финансового университета</a:t>
            </a:r>
          </a:p>
        </p:txBody>
      </p:sp>
    </p:spTree>
    <p:extLst>
      <p:ext uri="{BB962C8B-B14F-4D97-AF65-F5344CB8AC3E}">
        <p14:creationId xmlns:p14="http://schemas.microsoft.com/office/powerpoint/2010/main" val="170282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10a86a80d48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6D692-82F4-4199-86FC-C902A92E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D56E7-7150-47CC-9454-97E5626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РПД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49B6F-CF37-488C-B6ED-F815CD76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AA9FC-F77D-47E6-B5E2-A4FEAA5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Место NLP в дисциплине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17316-32A1-41FC-B014-A9D57E17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Содержание сначала следует РПД, затем переходит к исследовательскому заданию лабораторной работы.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77085-AAC4-499F-97F8-851BC664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1BB30-3A60-4309-AB35-CE8E9A60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46DD3-0FF0-489F-92FA-54B7649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Токенизация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0549F-8287-4716-81F0-FB285FA7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BPE, SentencePiece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D3E20-B4F2-424E-80E8-F9A2CFC7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79EC-C64F-43EB-A448-C3E0FA53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15A16-9344-4965-8957-973E206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Представления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AB573-1515-450D-8895-13B71749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Word2Vec, GloVe, FastText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20A97-3977-42B2-82B2-9896382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D47D5-8B39-4B09-A122-CDDB0BA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52343-CF0C-4CA5-B3E1-6ED2803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Последовательности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DAF71-EFD4-44E6-8AC3-93F23A6A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RNN, LSTM, GRU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ACF54-D100-41A8-AC44-2D8B120C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FE1F6-799E-4F5D-BD16-89B02DF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19DA4-85B7-4A15-A0D7-0DE2201D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FC25B-3B2A-4B83-86B7-1137AA9F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attention, encoder, decoder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3F860-02DD-4218-A688-62AEEA2C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C83CB-5EEE-4F5B-8162-54A6000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AC07E-355D-4B21-9F2B-8A92926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Модели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E7313-250B-4B9F-A131-FB5FFA3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BERT, GPT, Llama, Mistral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BC613-3557-4DA5-BE82-BD87B19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4EDDC-9160-4B6A-B20F-2E806E04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DC3AC-E024-48D1-BF11-7BEDC13B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Задачи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49994-05DD-4FC6-9E58-C45CB97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классификация, NER, суммаризация, генерация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58415-5D8B-48CC-9A79-6FDC1ACD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cd3366e6a2c4b0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2849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7c74093dc46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C6ABC-BDC8-4B95-B228-C89F940F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8463F-4E8E-48FD-B57A-F691DF5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D79E0-4F8A-426D-8C79-363F5047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8C52D-C59D-42E6-A8C0-2CBDF4B6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Что должен доказать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293A1-2237-427E-8C02-C47D13A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выбирается по заранее объявленному правилу, а не по одной удобной метрике.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C479-78D4-41BD-AF2F-4498FE8F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869FA-DF0B-442D-8088-AACF09C4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ИССЛЕДОВАНИЕ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ED5AD-2BEC-4E75-B01D-8EC76DC4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Гипотеза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9364E-AE27-479D-963B-7AD293DF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81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Связать NLP-задачу с ВКР, найти пробел и сформулировать проверяемый эффект.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2DE92-4753-4F1F-BE0E-F53D2CB8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360B3-90BF-49A0-8A8F-90D6D1F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40892-8562-4505-9722-7EEBFF2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Честный протокол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8BBC9-EA00-45ED-8A5F-EA494FE3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3181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Лицензия, temporal split, дубликаты, персональные данные и защита от утечки.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59A8A-2283-457E-9516-72B1AFC5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5A6D5-C1AE-4BA1-B8F8-E8428FA8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МОДЕЛИ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021AE-2383-4A16-A6A1-FBF807E4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Семь или восемь вариантов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CA235-B396-4E3B-AF76-71EE920D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3181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Baseline, BiLSTM/GRU, encoder, предметная модель и instruction-модели.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CA666-2955-42AE-B43B-68C3A1EE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026AD-70F8-4945-9BD4-565CD426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899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обзор → пробел → гипотеза → эксперимент → 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43FBC-58E6-4A81-B9B2-0CCB67B6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логика лабораторной работы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656FC-C8F2-45E2-84CC-2D35C0A3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4492dcef2884d8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53800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9cf5187454e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7D807-C765-4BDA-BBA2-33153E4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A329D-1058-418E-9FA1-A6E8C409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ПРИКЛАДНОЙ КЕЙС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74605-E126-4E05-A575-5DB44FF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3AFD6-427A-44B4-B490-846D0B99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Пример: финансовая новость как структурированный сигнал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49526-DA5B-4CF0-A177-2F30395A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Выход не является инвестиционной рекомендацией. Он становится признаком следующего компонента.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5F0FB-57CD-4843-B453-D28589F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5D388-A281-4F07-971A-D839AFE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Текст новости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E8BF7-4CCE-4AAF-837D-A9168951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8AA26-55E8-4582-8546-AADA866D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B077A-D0AD-4A9C-AED4-6DB35A5E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NER + событие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F463-BB45-4D5A-9ADB-FC0C8B8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28F0E-F188-4DA5-B91C-29E017DA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8DE25-3AAB-4C82-8ABA-315CA5C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Тональность +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0A0E5-A6E4-475D-B279-74063FB6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136E3-E6F8-4D89-8BA5-590F835D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1A697-7120-42EB-9AFD-1E806EB4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+ 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A4581-0941-40A0-A52F-14DF742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JSON: ticker · entity span · event type · sentiment ∈ {−1,0,1} · confidence · evidence span · abstain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5D16B-65FA-4681-BBC6-DACA522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Пользователь результата: рекомендательная система и исследователь, который проверяет доказательный фрагмент.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4FDBD-87EA-48F8-AEEA-9AAF2413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b560ec5a555477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36254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d0b99b89d44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3AD1-2B79-467D-A72D-F1B1C71E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875E3-D3C3-4DE1-B888-4E1E1F57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ИССЛЕДОВАНИЕ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E77E7-8DC2-420C-9342-39174FD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5701A-CA7F-4423-952D-ADCDCCDB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Обзор литературы нужен до выбора архитектуры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BE555-2B5F-4DEE-97EF-4A99814A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Его результатом становится карта методов и проверяемая гипотеза, а не перечень пересказанных статей.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6A511-492A-4881-B76B-DF1FD5AE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CD271-7E8A-498C-89B4-70E2BCE4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ДЛЯ КАЖДОЙ РАБОТЫ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CF131-315C-42F7-97FB-43A04AC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Извлечь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814A4-A6EB-42EE-BFB1-A7565BD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Задача, данные, метод, метрики, сильные стороны, ограничения и переносимость.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6D4D2-3379-44BA-8EBF-12A968FF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A7D3A-471D-4AF8-85BC-A68CE4F5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ПОСЛЕ СИНТЕЗА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50DE1-5A2F-4C84-9BA9-8E92A11C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Сформулировать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42939-5347-4AA5-98A2-F05882BA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Какой метод остается сильным baseline и где опубликованные решения расходятся.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220B2-0A1E-49ED-ADE4-2179A49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DF830-5B6A-4DCC-A384-D0BD410D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ДЛЯ ЭКСПЕРИМЕНТА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27AE1-A0BD-4115-8D3F-5A277CC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Зафиксировать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1A1D2-DA31-45E3-A6E7-D1C41E5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Пробел, H1–H4, критерий подтверждения и необходимый срез данных.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36ABD-1E08-4F88-BE33-6422045C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Пример H1: предметная адаптация повышает Macro-F1 не менее чем на 0,03 относительно общего encoder-baseline.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1D791-2122-4B7E-95AA-FDDD9616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90d1f3cfc704296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09986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61450fba540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9FC54-0DC7-437F-9541-3B85C9FB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A2759-9E9D-459F-9AE6-93B08801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ПРЕДСТАВЛЕНИЕ ТЕКСТА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B7B35-06D0-463A-9C25-1073287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A6DDA-9139-44D9-A6F3-0EA9D4E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От символа к вектору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6D837-2003-4806-A3B7-64242AB9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Нейросеть получает номера токенов, затем преобразует их в обучаемые плотные представления.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476EA-98DC-4B58-9100-E1638168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D8AFF-E3E0-40EC-A3BD-F6257F9D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Строка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«рост прибыли»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99A84-2ED2-4B43-B904-9EA4296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0AA83-A336-4094-B485-CDE08BB7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1D6C4-3686-427C-9CC6-E6B93F5F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Токены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[рост, при, ##были]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89E15-B309-417B-9D7A-51A6D136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3E195-5E73-4ADC-913B-21B5272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67BCD-7D1C-48F2-92B2-5F373F6F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[1842, 531, 908]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8E6D9-B37D-403D-81E7-A165915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D4118-E9B3-476A-8469-03CE428A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54AF6-5120-4730-9E70-F615035D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Embeddings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 ∈ ℝⁿˣᵈ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90072-2681-4378-9CA5-42DC041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5E06A-75C4-4FB2-8FD5-203A9A07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670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x_i = E[token_i] + P_i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CCAA7-7DA7-4F62-877D-E9F2EA22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244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token embedding + positional representation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300B3-EE40-415F-9F4D-0B06E20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One-hot хранит только идентичность. Embedding учится так, чтобы полезная для задачи близость отражалась в геометрии.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5D4D5-3FA9-44A3-94DB-E619C349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c514a2a1d1a44ac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70054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a0d3a92a649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A506F-F067-4CD8-9E4F-9F469214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125D6-68CA-4E18-99BF-E1AA7D7D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ТОКЕНИЗАЦИЯ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F001D-9013-4FB7-866B-CB41A5E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75B03-235A-4F04-9E75-13EECE6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BPE и SentencePiece решают проблему открытого словаря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691FF-64EE-4D59-AAA2-45C73CE6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Редкое слово разбивается на повторно используемые части, но границы токенов влияют на NER и стоимость.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D5D13-7700-412A-9D74-156D8A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238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915B-2EDE-484A-ADE9-8F442B81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BPE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04CD3-88AB-4C3D-BF61-17EF51A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9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Частые слияния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97F05-B639-4506-B94F-E1CF6C5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895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Итеративно объединяет наиболее частые пары символов или токенов. Хорошо контролируется, но зависит от предварительной сегментации.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440E0-4E5E-4B2C-BCDC-FB301BE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2197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58A70-9337-41D1-B11D-C517E186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SENTENCEPIECE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930EA-D1BE-4D84-9DCB-9B477B2E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Текст без предварительного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0B1C8-2803-49C7-8EBA-EA8AA5D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4876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Обучает BPE или unigram-модель непосредственно на Unicode-строке. Удобен для многоязычных корпусов.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5E3A1-9B34-447A-97DE-FE774994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3F768-E459-424F-BBAB-133503E8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746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cost ≈ number of input tokens × model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3E2D9-5517-4A16-8C4C-585C762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34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 лабораторной фиксируются max_length и доля усечения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01332-FCA2-4C4B-ACAB-2A86647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1820541e32c496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597804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de87b20b246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56AC9-A88A-4324-8B2F-7393133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1ABB7-E163-48B8-BDB8-84AD565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ЭМБЕДДИНГИ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8C0E2-1F3A-487C-B828-0BE4183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29414-D93E-4FB1-A929-0D5B661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86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Статические и контекстные представления отвечают на разные вопросы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BD1B1-EF83-4029-9EC1-C0B9CD4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вектор слова не различает значение без контекста. Transformer вычисляет вектор для каждого употребления.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B77C8-2D32-4245-ACA5-0D36D285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02B65-0DD1-4CCB-91E1-A06833E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WORD2VEC / GLOVE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34DF4-8DE9-4573-A8ED-E5E5DCA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Статические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3F545-F4FF-46E6-81FA-88542CE8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вектор на слово. Быстрый baseline, но полисемия не разделяется.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DA07E-7F50-43E2-B4F2-D8519BE4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7CE84-7342-4A1E-BD2E-BE2EBD80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FASTTEXT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DDDBE-800F-470A-B4F8-D7D6FEF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Субсловные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20461-3A07-4BAF-B863-3ACDBD2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Вектор складывается из n-грамм. Лучше для морфологии и редких слов.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13376-2883-4297-96DC-8D607CE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B1F87-F3AD-4BEB-9254-35178D7E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BERT /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F7AE3-889B-4F7F-91FC-F2B55951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Контекстные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D5F55-4BB0-4025-BEF7-EF129045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Вектор токена зависит от всего доступного контекста и выбранной mask.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6491F-40FB-4299-9CAE-BEE282C3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F5871-C9A6-4BC3-A082-3F71A21A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29250"/>
            <a:ext cx="613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sim(u,v) = (u · v) / (||u||₂ ||v||₂)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983EB-8DD2-4F8B-84B5-DCC4C37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34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косинусная близость для retrieval и проверки эмбеддингов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24963-16A4-4719-8636-126D472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8128d2eb42d4d1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76592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b480e8b2b42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A46DC-D7D1-4DAE-BDF4-718E3553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A9740-E9B8-49DE-9913-5F2CDBD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RNN · LSTM · GRU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D69CA-FBF8-4582-ACD7-5C984BD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6A44A-B151-4551-B876-15E25048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Рекуррентная сеть читает последовательность по шагам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EBE3D-0543-4BA2-9417-BC4608A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LSTM и GRU управляют памятью через обучаемые ворота, но обучение трудно распараллелить по длине.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4042A-C0D2-463A-8196-3B72566C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9C9F6-8461-44CA-B144-2E0FFBD8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A80D4-5A07-4878-8242-BA5A7481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4B82C-8A21-48FE-8D80-83C962E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CC089-3E14-4926-8673-0E74A312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hₜ₋₁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A5598-4FFC-48EA-B0E4-75CF1C17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604E1-D6A4-4EBB-9D0C-2394820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B9C7A-07B7-4F8D-B2A2-D10A1756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DD871-5118-4C2E-99B0-081EFA6A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F0C96-0115-47DF-97BC-37870B8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F3E6E-8230-4C25-BD35-FD54EBF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D51EE-162C-4F8A-A2D7-19FC486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6C426-30FE-4A7D-B41B-B92D3C1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75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iₜ=σ(Wᵢxₜ+Uᵢhₜ₋₁),  fₜ=σ(W_f xₜ+U_f hₜ₋₁),  cₜ=fₜ⊙cₜ₋₁+iₜ⊙c̃ₜ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B9DD8-7CDD-41FA-8A8B-8B5D8B0D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основные ворота LSTM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93C8B-2A30-4355-9D15-E14E6708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BiLSTM остается полезным baseline: он показывает, какую часть качества дает последовательное моделирование без предобученного Transformer.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6D516-FEA2-4BEB-B23C-F6071282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fc27b4c19fc4f2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43096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844129b8f45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15BE8-CDB7-4981-BC90-08B1993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5C2B0-F282-4060-A0CE-D2B59D6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8061B-C7D4-4B72-8D18-88B6B31E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E3A18-5F4A-4E2A-A84E-20567846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Self-attention связывает каждый токен с релевантным контекстом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4858C-4C4B-426C-8F96-99668FB3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Query задает запрос, Key — адрес признака, Value — передаваемое содержание.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FD290-6D5F-4DFD-A179-36D1C95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E6310-5F77-492A-87F3-204FA6FF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8610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Attention(Q,K,V) = softmax(QKᵀ / √dₖ)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D7DC3-A074-4CE4-BE98-432147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масштабирование стабилизирует softmax при росте размерности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86522-0554-4A10-8756-B0BDB58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DFB26-8E94-4216-885A-A9133F75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4A3FD-6E29-4A04-975A-FA39C8A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48E30-4D9F-49F4-8980-35C4D0E8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12C22-B076-4216-9344-4A74EE68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 = XWQ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K = XWK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 = XWV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C7D6A-D013-4A90-A39F-C49E7AE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988A8-6EEE-42FD-A74D-8F7D949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77979-0968-4E05-B201-23D6F2E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Матрица весов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 ∈ ℝⁿˣⁿ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470BF-C1C1-4C36-97FC-FB12FFF5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CDE75-CFFB-4327-8595-172CD0E3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04D6D-26DC-47D9-8376-69E4AB08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Контекст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Z = AV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9DDF7-8AF0-41EC-9F07-AB22631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8f4cf1c224c43d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39794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6ed5cb98149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7F8F-07E8-4038-BD41-F2B8B317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8B591-C5CD-4867-AB89-A223F77B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1BC7B-8652-4E87-AB81-2A4BA0B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40823-E197-444F-BDB3-AF3EF4E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Multi-head attention ищет несколько типов связи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9C362-05CB-4E45-A48A-3BBDE3F1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Каждая голова имеет собственные проекции Q, K, V; результат объединяется и смешивается линейным слоем.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72146-6FDF-467B-AFFB-99BE421B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0274F-F06C-4057-B924-0B6EED14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47875"/>
            <a:ext cx="861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headᵢ = Attention(QWᵢQ, KWᵢK, VWᵢV)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54235-8F11-4B05-9648-344CBEC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4531A-B094-47F4-94DF-095CAF32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90875"/>
            <a:ext cx="861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MHA(Q,K,V) = Concat(head₁,…,head_h) Wᴼ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ED8E3-1B50-481A-BE50-B2645A15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04312-9052-4DAE-8BCA-CB64474B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099E3-836D-4862-AB93-92C9585F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39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06FF5-38CF-4C73-80C7-849BC21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49083-D25B-4655-8323-E919E7E7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Multi-Head Attention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3A9D7-724F-402B-B875-86ED27D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339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C736B-6E6B-4D56-BFEA-CBE7A99B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165AA-51E1-4698-9789-5805917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416A4-F2ED-44FC-B6C8-E3A4FDF5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C1963-23D0-4BA6-80BA-72BC1DEB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767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5283A-3F0D-4A27-9A46-E5DAF25A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FFN: GELU / SwiGLU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2A4A0-A6F6-419C-87C1-27E93092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db97f9646b84e3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831743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29b9470c24b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8F05D-3CAC-4E65-AF4C-E881B7A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9267B-B194-43A0-AD31-FF265E84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2744-3B9D-4B91-9F23-2D52DB0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45CDF-B012-46B0-A0B0-88AB01A2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Mask определяет, какую информацию видит токен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F4FE1-1F9C-4B20-8762-12C29E06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Архитектура и objective вместе задают сильные и слабые стороны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4B580-979C-442F-9C17-79E4B41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1B0FC-1AD6-4DE7-AC55-E0FBABD1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8BFF7-6631-4449-9B3E-E3DA9ED8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Полный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A5E87-2EFF-47C5-9004-9A65825B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Все токены видят друг друга. Удобно для классификации, NER и embeddings.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ACBEF-9ED9-49FF-A3A1-9C21EE27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91742-4484-4D47-95C8-4470DEF2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AE870-EE08-4B54-9B39-80BD29E1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Causal 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D95A8-343A-4778-B86F-82B4F68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Токен видит только прошлое. Удобно для генерации и instruction following.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419C0-152B-4233-B555-E7777792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02FB5-64ED-461C-AEDC-0994755C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ENCODER–DECODER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62214-F4B8-45DD-93C9-50CFE0F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Cross-attention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70892-3BAD-482F-BD9D-4D7298B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читает вход, decoder генерирует выход. Подходит для перевода и суммаризации.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F5CA5-06BD-428A-9780-AC6A0A4D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86375"/>
            <a:ext cx="7334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756E5-72E1-46A1-9907-E94ED4E0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1625"/>
            <a:ext cx="699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Mᵢⱼ = 0, если j ≤ i;  Mᵢⱼ = −∞, если j &gt; 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0D833-8BA7-495B-AC88-0A44D935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054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attention mask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B7B08-15B2-4AE7-BAE5-C4CFD597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6e2741b0aab416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360509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c8c917cfc49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1C2F6-956A-4524-AA52-9A71556A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A0B69-9E0C-4B6E-81C6-C754342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7D338-88DE-4DC0-A5E9-CE4FB239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C95BC-593A-4B3A-850B-647B32C2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8DA85-AA9B-472C-9D3A-1867BCE4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Bidirectional Transformer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03B93-BA2F-4957-9289-821EEA0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34129-24AF-4CEF-8BDC-A91AEB74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FF846-1C8E-48CD-91D0-C90520A1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D3750-D5AE-4966-A4FB-C32AAA4E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 или 24 encoder-блока; [CLS] агрегирует последовательность, токенные представления используются для 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E2F72-0E8F-42E6-BB91-18F9347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EA94E-6739-4FBB-AED5-2EBFB14D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71469-1C19-4A51-AC53-C7EEC625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3F3E0-352F-4F90-8C1C-B9A63A3B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Masked Language Modeling: восстановление случайно скрытых токенов.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E9B40-8F8B-410F-A71F-C43CD5ED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6E493-E9FC-4569-BEC5-F392101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09E13-E59C-4FBD-B301-B660D2B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71429-F347-497A-AD37-906746F8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Классификация тональности и NER на общей архитектуре.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A5FD1-59BE-45E8-ABE2-B76E57F9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DD657-7660-4C52-BB51-0DE1B46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L_MLM = − Σ_{i∈M} log p(xᵢ | x_{M})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4EA15-42FB-45C6-8F0B-FFB9803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B349E-C040-41B6-8090-D404AF9A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Не генерирует свободный текст авторегрессионно и требует fine-tuning для целевой схемы.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2B072-0B93-48EB-A806-34143044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de8484e7cb74d4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765184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b5facba8846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51A37-1A41-4045-B4EC-A055C0B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CCC36-6A3B-42CB-952C-876B66E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8A18F-C54A-436B-91BC-14CB5B8B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B78B4-3392-4A6D-9FFD-D20DE276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RuBERT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7956B-F756-436F-8837-6B2CB066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BERT, адаптированный к русскому языку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855EB-FEEC-49E3-919D-153A36C4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28039-9E66-40FF-8708-380BBC90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8A43B-85E2-4726-88E6-09A4A8D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77926-10C6-49E8-82E2-3FC7034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Encoder-only Transformer с русскоязычным словарем и предобучением на русском корпусе.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FEC0-934E-4506-B399-A3BDAB4B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69B87-04F9-4B3A-A00E-797F02F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0A9C1-2E3F-4D69-9D84-6392C0EA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C7105-9AA2-4C94-AEA9-F513208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MLM на русскоязычных данных; затем supervised fine-tuning.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EB819-A201-4714-8C0D-A2E55EE2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DD470-5404-413F-94A6-3241CB7E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C3014-B9A5-4D54-B61C-013DF0C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EE7C2-8AF1-4873-BE0E-6DF74D05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Русские названия компаний, морфология и NER финансовых сущностей.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671DB-F544-4A41-86D7-BBB02984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54AC5-9E68-403F-86DE-BFEBB7F3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h = Encoder_ru(tokens, mask)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29737-7B85-4A3F-AC1C-4DF5F79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FF2F6-0199-4E3C-9866-756F735F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Преимущество на русском срезе нужно проверять отдельно; оно не переносится автоматически на английский.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A8929-1442-4461-AF44-6D9AC340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01e8d755b75470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995047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78b739bf945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D4F94-A9D8-40FD-8336-C5AE43B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942E6-A22B-4457-AFC6-A1DD6219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0A39-6E76-459C-A03D-3D78E3B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70E16-FCF3-42E8-8D15-6D99BE78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FinBERT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3E982-4AF0-4C8F-93DA-F2F7956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Предметная адаптация BERT к финансовому языку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86245-BB85-4F25-8A54-5AE4BBD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3EC4B-4A96-485C-B61E-F73FFE1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34589-10EC-4BF6-9282-2CD1CE0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97134-6183-443F-B450-F8F6005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BERT encoder сохраняется; меняются корпус предобучения и целевой fine-tuning.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3C33C-AC06-4186-B6B7-582D36B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B708A-305D-4CF0-981E-135184CD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3B9FD-CE64-4A4F-8310-971A9752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2D033-A5FB-4D0B-AC42-147CDE8F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Domain-adaptive pretraining снижает разрыв между общим языком и финансовыми формулировками.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C3142-FDE0-4109-ACFB-D988E7D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84482-A3AC-4BFA-B058-125F2CB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A8F08-1406-4B36-8CBF-C2802306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9D293-A8F6-4631-8210-270E9EA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быстрый baseline для тональности финансовых новостей.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CD7E8-89F9-41E2-A5B2-BB9C3C20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A9EB0-EDAE-4418-8CDB-89FF4C6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L_MLM(financial corpus) + λ L_sentiment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76737-CAEA-4BBA-B683-621A29B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A2FC1-6DA0-4657-9368-1381B56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Название FinBERT используют разные модели; нужно фиксировать точную карточку, корпус и checkpoint.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2A709-8D64-4B58-B01C-AB0E4F13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811ff6d8019476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050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6bba1928b4d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A36DC-3233-45C6-B18B-2CC1EE5E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7C78D-DC3C-40D8-8021-9DC383DF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7C073-06A0-4F7F-A4A9-E81C63B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CA577-3F0A-4E62-9BEE-BFAFA6F3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XLM-R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5910F-A59C-4277-AE92-86991324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Многоязычный Transformer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9FA01-E4B8-4278-AAA7-EAF3842B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36D83-5696-41B1-83CE-2DDC7EC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E4DBA-6A7C-4B91-A094-EF64AA17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72CD0-E1AE-4E78-B852-783C527C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Encoder-only модель с общим SentencePiece-словарем для многих языков.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B0FAC-0E8D-4F56-9BB4-8782207A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572EE-7222-4B2F-9187-F1195884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C3D71-4DF5-4FBC-9A8F-6FD3314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45F9E-51EE-4FCE-A7A3-168A08EF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MLM на крупном многоязычном корпусе без языковых меток на входе.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FDF15-5C2B-4C4B-B6DE-C06DDC99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3DE3E-E616-4FCF-ADEF-FEDE5E9D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32E5D-BB39-454D-98CF-8DA76D73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7C89B-B9C1-429B-8E0A-5F18F16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Единая модель для русского и английского срезов финансовых новостей.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B46C7-F0C2-4334-8683-DD4E267C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B9F6D-B5DE-473E-8E87-73ADC94E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 = − Σ_{i∈M} log p(xᵢ | context_multilingual)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2BDBF-8F63-42D3-96EE-88BB06D4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F4408-DFF6-4D97-88DA-8BBF243B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Общий словарь и конкуренция языков могут ухудшать редкие имена и термины.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859BD-60D1-4201-B715-5B9EFCDD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e2461770c11493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750681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46a9c262640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6791C-8DE1-4C12-86E1-B94A4AE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DAC74-754B-46D1-BD8A-F9D3ED1F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7D2C1-47E6-4360-BF88-64F10EE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AE00B-76B0-4076-B34F-2CDA0E93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DeBERTa-v3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2D4A9-0C01-48DC-A437-129D69A3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Disentangled attention + ELECTRA-style pretraining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DF162-2532-4273-B818-CF5A56BA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69640-A966-4F3E-8FF6-93CDD4B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CA32-B3AA-45C9-921D-913F2E3D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CCF70-446A-4E54-B010-7B5F00A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Содержание и позиция кодируются раздельно; attention учитывает content-to-content и content-to-position связи.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84DB2-D3E5-4B2A-8EB2-5E08960D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F1A1E-ABF5-4796-98BF-4F7AC96A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16AB2-BE34-481B-8283-66138EA3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2C8B6-FB38-46E4-AC96-DF7958EF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Replaced token detection повышает эффективность использования обучающих примеров.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CEF72-4691-489D-8141-74DBD88D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1DDF7-66FE-43BF-B4B4-F74A784C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4901F-8BEF-4B01-8E83-0308DD8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88C71-071E-4F6D-975D-70FEB6E3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encoder-baseline для аспектной тональности и классификации.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5608B-3144-4438-9C21-419DC04B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BE3F8-95D1-462C-B4A9-EBE7AE8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Aᵢⱼ ∝ qᶜᵢkᶜⱼ + qᶜᵢkʳ_{i−j} + qʳ_{i−j}kᶜⱼ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E5201-259C-44EE-A997-C5CE7AF6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8CD35-5BC7-4A13-8737-D68CFF4B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Выше вычислительная сложность baseline; преимущество нужно подтверждать на предметном test.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4B722-8C54-4BC0-9F94-C86A3D25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5b71870501f489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43043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e6c7e42e443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171F6-E829-4FCC-B08F-AE28792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4D3F2-4D82-46EE-B176-B876C948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F96BB-45A6-44B9-BA7B-B1AE7C4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EE5DB-98E8-4E75-9C94-88A9059E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A6DDE-D8A8-49DA-9513-4A9C087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Transformer decoder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E7C6A-C62F-4B9F-AFC4-D791C1A4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0482B-0486-4C5D-8AA5-DE1C184D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E7786-0012-402A-974D-281CDB4A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66201-3787-4A6C-AA51-789FF8D4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Стек decoder-блоков с causal self-attention предсказывает следующий токен.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12705-7878-4717-B3E4-49D4B16C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A9E97-B35A-4765-A23A-718F835C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07E52-D98D-453A-BA64-1F34E22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8C94D-4E60-4CD3-AAED-F202436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Next-token prediction на большой коллекции последовательностей; instruction tuning меняет поведение, а не базовый objective.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65451-AD8A-479A-B120-BD5FBE6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99502-BB3D-49DE-80B2-D73CF0FE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BD883-364E-45E7-9F07-BE84073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B85D3-1881-4BAE-A591-F10A011A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Генерация JSON, суммаризация, explanation и few-shot классификация.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E6AF6-5B4A-484A-BBA4-0E173B49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B07CD-56B8-4B61-8648-B1E8FFE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L_CLM = − Σ_t log p(x_t | x_{&lt;t})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1DE8D-B210-499C-B13B-3D7E5B02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DCEAC-7BF0-40FC-B902-51CE094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Свободная генерация может нарушить схему или добавить неподтвержденный факт.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7929A-0214-4989-BA97-39DCB1EE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15896abdbf04057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203052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00c795eab4b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232EE-4D15-41E1-AE28-B0B7254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630EE-EFDD-4330-8E91-249AD872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86329-3CC4-4B9E-9733-AE30EF6E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E107-5758-4592-8E5A-60C9979B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Llama 3.1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5B258-E9D2-4D07-A3A4-70D379BF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Dense decoder-only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1891F-8E18-42EB-9B98-2F1F3F4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7BB3A-7D05-4FEE-91F8-256E5AE0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3F6B5-72B6-41A9-A75E-AE6578C0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4CC91-E1D6-47F1-9E17-C6BCEAC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Transformer, RoPE и grouped-query attention; семейство масштабируется от 8B до 405B.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24231-FB7C-496C-92AA-C312681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C0A39-398A-4742-94E3-11941C0D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BDF46-CD64-4AC8-B120-1BB918B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8F584-A32F-4A19-896B-339D40C6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Многоязычное pretraining, supervised fine-tuning и preference optimization.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A8F6-973F-43B1-8170-7B05AFA0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56CA5-3E3B-4E3F-8480-347B835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16D04-70DC-463B-BCB9-9A12139E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6A1F8-D9E3-4EEF-9A5B-9E2AF35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Instruction-baseline для структурированного извлечения и объяснения.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FBFB8-491B-4654-821F-3B798BCF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26ACD-F723-40A9-B498-34DC783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RoPE(x_m) = R_m x_m;  L = L_CLM + L_post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13321-1880-4C64-915C-A46F5DF0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76329-A3F9-4C79-9979-6A55373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Локальный запуск 8B требует памяти и контроля квантования; качество русского среза нельзя предполагать.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CB8B5-AA21-43A2-AA0C-ED4854E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be5b325e0194c1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570645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ca337ef4345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95F72-B5DA-45E6-9C49-518ABE9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73F47-1029-41AC-8205-1E0EE0E5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78DF6-ACA1-44FA-A32D-C3B2031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3E048-60A9-4EB6-AF38-89869FF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Mistral 7B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715C9-773D-41CF-9526-97E0E024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Efficient decoder-only Transformer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9963F-A46F-41B2-968E-8462A46A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064DB-D304-49FB-8488-7645199C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F7AA1-26C0-4012-955F-855DE524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DC863-5387-40DB-B2BC-8736111C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Grouped-query attention уменьшает KV-cache; sliding-window attention ограничивает локальный контекст слоя.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9CD50-DC17-43A6-AAE2-2D623D5E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4AE3D-81A5-454D-80FE-FDB91FA9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DF2A1-443B-41F2-A293-783B7E16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17761-5E6A-40D9-8B0C-496B22F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pretraining; отдельная Instruct-версия обучена следовать инструкциям.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CD28D-A0D5-4470-BFDA-19AC2149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B9847-06D8-48A7-B018-BC483F6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902C3-BE06-4C84-92B0-4B1F4C4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8E8EA-8C6B-46DA-9687-96170F0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Эффективный открытый decoder-baseline для JSON-извлечения.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53FD0-762E-4FE4-B8C1-CBAC974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D8A91-646F-482D-B974-86DFB1E2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Attention_i = softmax(Q_i K_{i−w:i}ᵀ/√d)V_{i−w:i}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E5892-BBCA-430E-8264-BD403B87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DE56B-86C6-4E52-B36A-F976FDF0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Локальное окно меняет доступ к дальнему контексту; точную версию и контекст нужно фиксировать.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382E0-7EFF-48BD-B805-F9842533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a17c98747c3405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907700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be456f98241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CECDD-FC05-4C33-BB56-B1E97554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4F5DF-CC23-45A3-9481-2D3BBD72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16CF7-14F7-435B-A1D2-9BEB984B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6EDB8-F59C-4D57-884B-1D092722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Qwen2.5-7B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743E1-C8D6-4C2C-AF94-CA6989E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Dense multilingual decoder-only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C2E30-8441-4213-8CB2-73EAC67D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D8595-906B-4388-A139-A735B7C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AFC80-A9D3-462E-B11A-38F8B1C2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F0E4F-BF4A-4A33-8EEA-0418175D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Causal Transformer с RoPE, GQA и SwiGLU; instruction-версия оптимизирована для структурированных ответов.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39F68-3054-4E7F-9337-D11C41E8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734AB-86CB-449C-89B5-CBBFF8F4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5F5D4-D15C-4278-B35A-7CE82FDA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12809-4A0F-4975-B6CB-F8AD1717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Pretraining на большом многоязычном корпусе, SFT и многоэтапное RL/post-training.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29B79-A8D8-4CA7-85DC-A69AE972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B8CA4-679D-4B93-BFCE-530B13AC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E8977-5B7E-4299-9012-1F042346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6689E-AB89-4128-9C11-548F864F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Лучший пакетный вариант в учебной таблице: Macro-F1 0,824 и entity-F1 0,866.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B507B-9631-4710-BFB2-3F7EEF9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8204A-08CB-43B0-8C91-8198A82D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Score = 0.55 F1 + 0.20 NER + 0.10 Cal + 0.10 Lat + 0.05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2C651-DE61-44F0-B6A1-607EA15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5BDB4-6147-491E-9ADE-E4836768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Высокая задержка относительно encoder; учебные числа требуется заменить собственным запуском.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D61A2-812E-4AB2-AA1F-7BBD329B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68b054252d041c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499708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efc9d1b0e40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C8C3E-61A2-49AB-AED7-60C7D0EA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65C4C-37BB-45F4-A2E0-F90B60AB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 · MoE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420E8-DDAE-4453-8944-FBD05E82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D32D1-DAB0-4AA3-80C3-A413F700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GigaChat Family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BF153-7954-4E73-ACC2-F96A530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Русскоязычная Mixture-of-Experts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D2F03-EB48-463C-BB03-E980A2B1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76EA5-AC43-41A8-BECE-0FB65BB3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АРХИТЕКТУРА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B1E51-A754-43F2-8152-AFA42FC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Как устроена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603E2-1A18-4CE4-9765-B669954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Decoder-only Transformer с маршрутизатором, который выбирает часть экспертов для каждого токена.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E3790-8354-4291-90E3-EB60C3E0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A5776-128E-4B62-A135-5756B96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ОБУЧЕНИЕ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4230D-4B47-45D6-86C4-6E304816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Основная цель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0DCA0-B5EF-4ECB-94EA-CF12E8F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Русскоязычное pretraining с последующим instruction tuning; открытые варианты опубликованы для исследований.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35AA8-4415-442C-9920-24CEFBC5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274D7-43AE-46FF-9695-EE2177A3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ПРИМЕНЕНИЕ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E229D-CCE3-488E-BA5D-6CD02E1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7E2D5-4D1D-4CAD-868C-2D43B95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Русскоязычный генеративный baseline и проверка российских сущностей.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0EDD2-C15D-4923-B775-C066578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CECB3-7139-421C-A5A3-9995A189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y = Σ_{e∈TopK(g(x))} g_e(x) · Expert_e(x)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E3F17-49DA-4995-A702-D9629AA4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математическая идея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95566-68E1-435B-B9EA-EB6D25BD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Ограничение: MoE усложняет оценку памяти, пропускной способности и воспроизводимости API/локального запуска.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207BB-1D57-4687-A4BA-F3727E9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eb936d23d63477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9344022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55fa56ac841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8FDC8-58F2-42BB-9447-F5BABDC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9F474-B6CD-4C25-A64D-51D5917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ВЫБОР АРХИТЕКТУРЫ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3F3DD-81B9-4A69-9FE0-0806E723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D5BE2-1C3C-497F-9937-6BB6286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Encoder и decoder занимают разные места в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065B6-4A3D-4469-9234-10203E4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проект сравнивает архитектуры на одной задаче, а не объявляет LLM универсальной заменой.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7D945-D730-4EAE-91A7-E5221CA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4D89C-AE31-4340-8FAC-7CC38DE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ОНЛАЙН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5EA7C-F8A1-4FC9-A349-31846C2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Encoder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271C9-056B-4E68-808F-374E7B82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FinBERT/RuBERT: низкая задержка, стабильная схема, отдельная NER-голова.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F3158-53F3-4FB0-9856-49C1F599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FAB06-EC93-42EA-9827-ABBF2319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ПАКЕТНЫЙ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12C31-F638-4995-8A05-6026AA8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Instruction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DF824-4E47-487A-995B-00865C04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Qwen/Llama/GigaChat: единый JSON, evidence и гибкость формата.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3B5E3-4290-47BB-BCDA-1146E7D7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40161-B5AF-471A-8336-1B9DA8DB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DE695-2577-46C5-916A-B92917BF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8578A-4C99-483A-8D42-8919149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дает быстрый score, LLM обрабатывает сложные или низкоуверенные случаи.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32961-782D-47C0-AD2E-2141D751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1C881-CA61-484A-9A63-F5CBC684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81625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route(x) = encoder, если confidence ≥ τ; иначе LLM или 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92FEC-375F-4CC1-BB0E-8DB01F8C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054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маршрутизация по калиброванной уверенности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2C21A-60F0-409F-89AA-7A7A3C13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be967d4d7dd4bb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421769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ffdcb3e1d4d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3F4CF-E560-4EB5-B14C-0E3364EB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EFCA5-88AC-4E35-848A-6FD2540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FINE-TUNING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F0A75-F010-4BEF-AB16-CCDB3DF5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A6592-F3D6-416E-8C69-56B078AD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Полное дообучение, adapters и prompting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553E6-6DA6-430C-8110-3C84BB3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Метод адаптации выбирается по данным, вычислительным ресурсам и требованию воспроизводимости.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3E54-90FF-40A4-A63A-A2118D6F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93A20-2281-4E0E-856C-4E248F23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FULL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24FF7-B618-4B61-A2E6-D958F4F8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Обновить все веса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C001-A9DC-403B-8A79-EDA1A81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Максимальная гибкость, высокая стоимость и риск catastrophic forgetting.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5C759-177A-4FDF-A8AC-10E5DFEF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71C2A-6660-4573-B606-072A637B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LoRA / QLoRA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12EDA-E176-4185-967C-775DEEBE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Низкоранговая поправка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F1664-E304-4FD9-A22A-C9E60E3D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Замороженная база, обучаются небольшие матрицы; QLoRA квантует базу.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F9476-887A-4B5B-B180-55DAC282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3524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11038-AC76-40FA-AD94-ED3D426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669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PROMPT /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4B653-01CC-4613-8E7A-845CB22A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Без изменения весов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E40CD-84D1-4A41-84BE-7344D7F3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181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Быстрый старт, но чувствительность к формулировке и контексту.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D3919-C3AE-4FE9-99C9-A997EC7D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90885-8254-485F-A7A3-C43A576C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81625"/>
            <a:ext cx="708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W′ = W + ΔW,  ΔW = B A,  rank(A,B) = r ≪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9A0E5-F17D-4AB8-BFC2-F54EC471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05475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2DBB6-9233-4D87-8FE3-B0E5E9F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9889a410d5442e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173762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587f760d64d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D757C-6555-40E4-9E43-92575B5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112FB-02F4-42AE-9284-F2A802A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STRUCTURED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36178-0E36-4C91-8F35-A0D7448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AE01F-99F2-4BDD-9DBF-5F12919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Генерация оценивается как программный контракт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012B0-3A23-416C-A22B-E257637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Невалидный JSON и ссылка на отсутствующий evidence считаются ошибками, а не исключаются из метрик.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DB1DE-09B3-41AF-8C40-8D01A4B2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762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EEB18-9B17-4061-A175-13D5BA4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19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"ticker": "SBER",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"event": "dividend",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"sentiment": 1,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"confidence": 0.91,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"evidence": "рост прибыли на 18%",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"abstain": false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A8A39-536C-4421-92AD-43E5D20A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9681E-ED4E-4879-8782-04855E2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JSON Schema проверяется до подсчета метрик.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6466F-BEC7-4BFF-BA45-E9678B0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AB974-7738-4A89-A68D-5EBBBC8F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должен быть подстрокой исходного текста.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A604D-8A06-4B2E-AA6B-1B6E9B24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09E80-7915-4F4D-B986-B6CE928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Temperature, seed и prompt фиксируются.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A71B0-9E17-4090-B666-942B3FBC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80F0B-6B90-4266-9EC9-DC85486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Abstain используется при низкой уверенности.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89FDA-AF71-47D5-AD4F-FF05AD93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143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F982A-0AAA-46E5-8423-40024CE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1125"/>
            <a:ext cx="4800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03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valid = schema ∧ evidence⊂input ∧ confidence∈[0,1]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1B2E7-3DE5-4CC0-8104-BF0693E9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валидность ответа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FC2DD-2CB5-40FB-B456-E784F4F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1305c84ef7a4c0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400608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30d789a414a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DBBE8-8B85-42FF-953C-24CE4D1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1BD9-39E8-4743-90DB-D9230EA6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F4284-884B-40F3-8243-B8498C05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F6B64-6BEE-4B3E-A9C5-C47737EE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NER измеряется по сущности, а не по отдельным токенам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41DA5-7336-4C12-9349-818DC4D2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BIO-разметка задает границы, а entity-level F1 штрафует неправильный span целиком.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55834-35D4-49D8-B109-E3E1FF4B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A9336-CB4F-4C82-B3B4-DA2E8E4A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Сбербанк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B-ORG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3DA9A-1681-4736-93CD-AC1B1CD5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134FE-3A9E-417D-9072-E398FF03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4C8DC-94A8-4A4F-B37D-597C677C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увеличил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68ACB-D920-4169-B1F0-7ED7A75A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4045D-EBB7-4CB1-8C18-53ADB71C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D951A-2646-41CC-B55B-F673A29F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дивиденды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B-EVENT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494F0-9555-46A2-B6D9-E7AE6D6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68EB0-D2C7-4BEE-B416-4785EE9D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C1DB4-7631-49A5-829A-FB53F82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 18%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B-VALUE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B812E-F5DF-489B-AC32-2BB896E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7B27B-61F3-40AF-91DE-A1A5FDD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956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Precision = TP/(TP+FP),  Recall = TP/(TP+FN),  F1 = 2PR/(P+R)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CEE51-33FC-44D7-B584-60FA183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TP: тип и границы сущности совпали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6F988-F76A-44FA-8F92-4DCFAC8D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Для финансовых новостей отдельно проверяются тикеры, российские названия, несколько компаний в одном тексте и редкие события.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88CC1-B255-47DA-9629-1E8FA5C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de91d81167f41d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614793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6df61fe6245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3741A-EE37-418A-8B3C-E82CA2F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5EBD6-979F-451C-8A92-7178B89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720EF-0CE3-48D1-B876-4955E82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538ED-C4D9-4E1B-9E5F-81DCE1A5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Macro-F1 не позволяет частому классу скрыть ошибки редкого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C5F67-078B-429B-8168-9AB4785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Среднее берется по классам после отдельного F1, поэтому negative учитывается наравне с neutral.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7D2F8-6D4B-4931-8F50-3F50DF76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B7607-3782-40F5-B21E-5E02F915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8610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Macro-F1 = (1/C) Σ_c F1_c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EC96B-4C4B-41A7-946B-2E2F877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E5E05-466D-408C-9D34-4AB01C9E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NEGATIVE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68B61-FD05-4F2C-8225-AAACE595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Редкий и рискованный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9C866-1683-4740-9973-536E3D4B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Показывать F1 негативного класса и примеры уверенных ошибок.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8BC78-CA73-48E5-AFCA-3B73EAC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0DE72-82B8-4E1C-8429-1741D8E0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NEUTRAL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2AB55-AD7E-4805-B8BE-E31B4EE1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Сложная граница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045E5-AE12-48F6-B7B5-5D87D47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Прогнозные формулировки и отсутствие нового факта часто путают классы.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7A495-FF3A-41D4-8EB3-DDBE8623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22F90-4D2E-4E43-BC19-642514A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POSITIVE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6A73F-679E-4D8D-8147-008B09A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равно росту цены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7A473-1DD9-41C4-92AE-E7830E97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Тональность текста не гарантирует положительную доходность актива.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DD53D-4EE7-42EA-938F-7AC3BB8C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1d57cc666f04ced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840429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5b09c942345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BCE42-4947-4B40-B920-195686C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71807-DC49-4CFD-95FA-0264A88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2D61D-2EDE-460B-B5B1-BFFE4DE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77409-001B-4183-8739-B5629F19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Паспорт данных превращает набор в проверяемый объект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CE80B-A820-41D7-ADBA-694661A4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До обучения нужно знать источник, лицензию, единицу наблюдения и ограничения переноса.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6969D-7343-4389-B1C2-85AA386A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81BD0-BE23-4148-AB5A-9AD1B5B4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EDF30-9820-4425-9F93-EA1BB02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Источник и лицензия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FC8B6-6B7C-4A5C-B499-159776E2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можно ли использовать и публиковать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384E9-1331-4313-B5B0-5390AC97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CFB10-3627-4A83-863F-1600440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83A0-0FE9-4264-A5E2-CC0A0B7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Временной охват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A7C20-02D1-45CB-98B0-EB413A5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какой market regime представлен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8B9E9-8845-4B67-92F3-6EA94C7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77B61-B1DC-4456-8C04-3B375775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9B7F4-8138-4B6D-869D-3CFEC5E9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Поля и классы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DB45F-B974-475A-A84F-983EB877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является входом и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8CCC7-501B-479B-8013-B84D94F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963B0-7EA9-4FF2-BF9E-CDF31690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0B6E9-7864-41CC-A9B8-81047193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Пропуски и дубликаты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E3578-4659-4452-A6C9-823641D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удалено и почему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F2695-FB81-4987-ABB5-935C18F8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6C2A4-DCCE-429E-A4A6-ADB7D1E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C95CF-E027-4A08-BE79-36851294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Персональные данные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C7439-924A-49D4-B0B8-EA7B75AF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какие поля исключены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76EB4-5670-4D09-AAA2-6DA176E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B420C-BAA4-48FD-8BBE-E5B5B7BA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CCBCC-B640-4D08-AC42-9D890D6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Сдвиг и bias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09DBD-A11E-4396-9326-D0825927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какие группы недопредставлены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0173E4-DDA7-428F-8C0D-32B7569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a682d13d5ce477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437271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7c7a15af40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7F3F9-F25F-4DD8-AFB6-743A656E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47441-765A-4F02-9F4B-55ADDD4E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F7B2C-DAAE-4B64-A4A5-07C6A732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8B9E3-7316-4709-95F2-D40FEB6C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Разбиение выполняется до преобразований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5C146-C4A1-47F4-8917-B64F175A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Финансовый test должен находиться в будущем относительно train. Дубликаты события группируются.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282D8-9AC0-411B-8853-1DF4AB5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33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39DB4-C4C2-40A9-9807-F8E2102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TRAIN · прошлое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fit tokenizer, scaler,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770C1-7CBB-45B6-AFD2-5D822CE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5C7A7-8591-4E30-9689-9DCBAFD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45313-E7AA-407E-B798-8CE2FFCA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9E669-91C1-4EF5-9795-DBC296D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TEST · будущее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один финальный протокол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5973B-F8D1-41C3-A236-F43C1B1D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0D778-117D-48C8-984A-A5AC42CA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885825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event_id и near-duplicates не пересекают split.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960D8-4B9E-4208-968B-193B7D5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8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645F4-8047-4DF3-A811-C025D6E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08500"/>
            <a:ext cx="885825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Справочник организаций соответствует дате события.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B393F-5C3B-4810-9B5B-312E4BA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6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FE379-C6F8-4DDA-A39F-72986EF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6500"/>
            <a:ext cx="885825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Параметры prompt и threshold подбираются только на validation.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CE7B5-B70C-48FD-AF46-AF0B4196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c99a7a4662c40a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495536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89b92e1104d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CB5E9-5CAD-48E0-93B3-7D11EFF3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ACE2D-FD9C-4895-9CA1-DEB5E9C1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МЕТРИКИ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66A6B-C785-4716-8033-7531662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94B3C-E870-4074-B23E-307C1F5A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Качество, калибровка и скорость входят в одно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EDAC9-F0F6-4A6E-841F-3C3D4D30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Высокий F1 не компенсирует невалидный формат или неприемлемую задержку.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DEB0A-371C-4833-A297-4EE54A0A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77130-D19C-4023-84A8-8CFFD56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C58B8-5708-4C54-A631-08194B57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классы равноправны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E5490-0A22-4CF4-B993-4E0C7AF4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85CD1-FE72-49F4-AF96-0DF574F0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3A449-0069-4EF6-9508-8A13A682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Entity-F1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5293E-FBB6-4DCC-8025-59A0B6FD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границы и тип сущности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9AD2A-1FCA-499C-A4BE-A8AE573C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C261A-0966-45E8-B00A-8E4A420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90B3B-AE7C-459F-BC3A-7EFE827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7A209-4BAC-46E3-9787-6AF289CB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соответствие confidence частоте успеха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2BB72-D39C-4548-8500-DD6EE9D6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4E588-A35E-498A-AA4B-F2078DA5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99547-5D04-41F9-8CBF-592A9A0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p95 latency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06649-2D18-4754-8A8E-72609D21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хвост времени ответа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29161-E8C3-4DF7-9A6B-05C18F9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04004-A5FE-4B3F-8F3C-798514CE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85B42-ADB9-4FF8-9881-54321458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Valid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9F6A7-571A-4A68-A891-7B731B3C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доля ответов по схеме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19A7E-A24B-46FE-97AA-DDC2C0E0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18013-7854-4A69-9AC4-7477611E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96D660-D867-4705-953A-3E310E15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Bootstrap CI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6ECAC-10D0-44A3-B079-7A155DCD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неопределенность метрики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5F194-012F-48DF-AB55-C3618C4E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Считать на замороженном test и сохранять срезы.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4608E-9222-484A-8FA9-CC76A832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f0e06a357df4cc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729876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ebf91c45b40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19109-1F7C-4EC4-80B4-5B6451CE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2493C-68DF-4FC5-99B9-BDB860D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2AB92-C11E-41CF-85BD-2DE211F4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0EECB-7299-476A-A9EA-C0F0E8EA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Confidence должен означать наблюдаемую вероятность успеха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19464-8201-4D3F-94AB-DC13754E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 с confidence 0,8 должна быть правильной примерно в 80% похожих случаев.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9D0EC-FBCF-4307-8EB0-E121F988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895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4B072-07AA-4BA6-BB4F-D1B85EF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43125"/>
            <a:ext cx="8610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ECE = Σ_b (|B_b|/n) · |acc(B_b) − conf(B_b)|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B016D-D45A-444B-9871-8489E3E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Expected Calibration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B629B-815D-4AFC-AA40-917E30D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8F25F-AF01-4472-BD71-1EC7C090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Logits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CE27A-3CE5-4FE9-845C-9286AF5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00B7F-9383-4F0D-A764-E472AE43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22EA4-1E94-4001-A85D-18460230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Temperature 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38B9B-4222-40B1-B813-AD6B946A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EC7CD-25A3-426E-B8B7-5A08BE59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DE687-EB61-430A-AA94-6861037D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Calibrated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C1EFB-8887-4DCA-A236-63C2AE20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672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ACD8D-C541-4A66-878C-09702387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921E1-B8E7-479F-9693-9F32FCA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Threshold τ / 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5C00B-1DC5-4337-AB94-4C46F333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Калибровка обучается на validation. Test используется только для окончательной оценки ECE и покрытия после отказа.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FBF32-3548-4917-A4CC-B4A425E8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7e65572dee24fa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736673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02c69c49840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B23EA-22EE-4D8F-885B-4A3E5BD2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CB459-2E1F-429F-926F-57E3460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ПРАВИЛО ВЫБОРА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69C2A-2703-46D9-B548-7A5C8C9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B62E8-8CB2-42DE-9E2E-483DF10F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Лучшая модель определяется до просмотра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68BF0-4182-4BE9-BF14-D5C9903F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Веса отражают назначение системы; ограничение по задержке может изменить победителя.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3CD9B-247C-4A9B-8D29-23D0B55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6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0E4B-FC51-4FF3-BA12-9B2BB04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95500"/>
            <a:ext cx="10420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S = 0.55·MacroF1 + 0.20·EntityF1 + 0.10·Cal + 0.10·Latency + 0.05·ValidJSON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3CAA8-02F7-469F-BC0C-0E4EE62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893AA-42FC-4D73-B213-77889BE3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ПАКЕТНО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C5837-589C-41F0-A2CD-D0C9B1F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Qwen2.5-7B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47905-B756-4602-9DB1-C5C128FA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Максимальный учебный score 0,846; используется для исследовательского прототипа.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F1BA4-38A2-4C3C-887F-BBEF44E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54E4D-F91B-4FC5-9147-8BB20947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ИНТЕРАКТИВНО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CF2D1-C248-49ED-9ED0-4FB9A255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FinBERT + RuBERT-NER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721CB-F2DF-4B00-A500-10768EC7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Качество ниже на 0,021, зато p95 почти в девять раз меньше.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6F5A8-2240-4A3A-865B-3A654937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24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AD367-7001-4904-AEFD-F03E1A0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ОТКАЗ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32FFE-8472-4E2A-8F52-2FB0C8A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Abstain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D7D70-8287-42E6-ABDE-5CE40A76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52950"/>
            <a:ext cx="3181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Низкая confidence не превращается в уверенный сигнал следующего компонента.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367A6-700C-422E-A079-4BDC4D0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3b58e0a053644f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8835681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66715063d4a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D305E-82DB-4616-913B-5FDEDB09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07422-8E6F-44E7-81F8-8E6E8793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САЙТ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041DB-76CC-4403-95A8-0A885E78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47EAC-FF88-4EFE-B02C-BD05995B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Демонстрация NLP: от текста к проверяемой структуре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75AAC-F6F6-4863-BC9F-031417C4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 странице видны вход, выбранная модель, сущность, тональность, confidence, событие и evidence.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20471b9fa457b"/>
          <a:srcRect xmlns:a="http://schemas.openxmlformats.org/drawingml/2006/main" l="0" t="5953" r="0" b="5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8096250" cy="44577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2E08A-3B34-4C40-9B55-789E4EAE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8003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133C6-93E7-40D4-AA00-E4737EA5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ДЕМОНСТРАЦИЯ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05E2D-828F-4DC8-9C0E-6A2C48F9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905CC-9670-498C-92F9-04434DB7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2457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Вставить новость.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Выбрать модель.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Нажать «Анализировать».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Объяснить каждый ключ 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8BAC8-527B-4D52-B780-A5F7591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8003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6CCA0-4692-4D6F-925E-C48AAE3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52297-E36B-43B9-AE5B-B51E2767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сайт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B419E-7491-4AF5-86BA-FFBCD5CC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457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petrnikitin20.github.io/PML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Кнопки, параметры и выводы работают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CE891-5E86-477F-961D-59DDDAB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11b14e259b54f1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356824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ed4908dfb40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BF629-A896-4270-8D9E-DB4DE114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4C1B6-42DE-4C51-9D4D-B6E05E2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САЙТ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85608-3D88-48A0-8F45-CC226E63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411B2-8E8A-47DF-8948-6AF614DD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Сравнение моделей и учебные метрики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82062-488A-425F-8639-606050B5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График и таблица используют единый test-протокол. Результаты помечены как учебные.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74faf48d24e3a"/>
          <a:srcRect xmlns:a="http://schemas.openxmlformats.org/drawingml/2006/main" l="0" t="5953" r="0" b="59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8096250" cy="44577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33970-4E53-403B-B604-61AEB899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8003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8BDF1-D919-4029-8792-874E805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ДЕМОНСТРАЦИЯ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422F4-01F9-4777-99B1-BBDD1FCF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34226-240D-4131-A36C-16C0C501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24574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Сравнить Macro-F1.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Найти p95.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Объяснить условный выбор Qwen.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Показать быстрый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EA751-8B28-4FB4-BC8A-89D671F0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8003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C8EA6-F8F4-4752-897C-65188DEA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0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891B9-BED8-4289-B422-A61B97EE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767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сайт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E6F87-ADFE-4D06-9C1D-EA0341C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457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petrnikitin20.github.io/PML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Кнопки, параметры и выводы работают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92DA2-25E1-46E2-BB80-BB8BAFC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244abc46da6420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391158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a03ffbb5f4a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A3435-FBFA-4C49-BE87-27686DC0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41A2-7BCE-495B-9B4D-DC70DE04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01346-907C-4DD8-A84D-2491FA0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55775-875D-4201-8AF5-3CA4CA0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Единая схема 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36DE7-F342-4653-B6A3-84991880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Код повторяет исследовательский протокол сайта и лабораторной работы.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723F9-DD79-4FAD-9C49-0FEA07A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7524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47E9B-1873-4689-802C-D0F6C20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056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schema = {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"ticker": str, "event": str,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"sentiment": int, "confidence": float,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"evidence": str, "abstain": bool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split = temporal_split(events, group_by="event_id")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model.fit(split.train)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pred = validate_json(model.predict(split.test), schema)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metrics = evaluate(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y_true, pred,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slices=["language", "rare_ticker", "multi_company"]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8A98A-568F-483D-B183-FD45898E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37185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5BA4E-CD2E-42E8-BDF0-5584C002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0B518-44B1-4F37-9581-9C74C825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38D43-CC52-4955-811B-723BAE69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Сначала замораживается split, затем проверяется контракт ответа, после чего считаются общие метрики и проблемные срезы.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54102-A91F-4E78-9713-9F5D3F7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3718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1910C-6D08-4791-947E-58E49EDC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AB8E8-70F6-464F-8C01-BFC5A920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сохраняем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66561-80C2-4B00-9469-2E8133D3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387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Версию данных, split, модель, seed, метрики, время инференса и артефакты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2A268-478A-4C4C-A0C8-FC9F4BA7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a7b08a2ac684cf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5195323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75a6a64e545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8166D-83A5-45D7-BEE2-BCACAD8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D7263-50A5-4CF9-B468-23D02FFF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РЕЗУЛЬТАТЫ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8B9DE-A6B5-413A-A154-213D0E7B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9CA4B-E88F-4E72-A544-C1105D74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2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Macro-F1: предметные и instruction-модели сильнее простых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864B6-85A5-4D4A-AA04-D96588C6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Числа учебные. Студент заменяет их собственными запусками и прикладывает журнал экспериментов.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239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e5d38f31944bf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0E008-3530-4E3E-A594-2ADAE52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87909-3E14-4724-869C-2D40E01E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ПОБЕДИТЕЛЬ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3716D-3350-4B8B-A597-80217927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Qwen2.5-7B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093BD-A280-4D11-88A0-22E89B61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Macro-F1 0,824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Entity-F1 0,866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ECE 0,039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p95 640 мс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B1441-4E4C-4DC1-93DC-4CE85E8D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3718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35CB0-51AD-42D1-8258-8095F9BF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БЫСТРЫЙ КОНТУР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E9188-D281-47DE-B99C-F4BC569B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FinBERT + 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EC313-E723-418C-995F-2E813324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43450"/>
            <a:ext cx="3028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Ниже интегральный score, но p95 66–71 мс. Подходит для online.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8F70D-651D-428C-92CF-D1A117A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6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 чисел: учебная таблица лабораторной работы 1 NLP.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998F9-2640-400E-93A1-8F96860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bc28b054199432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878273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4cb41c06d49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2EF5D-7FE0-47A3-98A3-2D8E9898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887C3-43EF-484A-B001-05D3CC39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АНАЛИЗ ОШИБОК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C96E6-1C3F-4877-B2D4-7EA13BE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CAF49-EC56-4992-8D65-077C8938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Среднее качество скрывает разные механизмы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D4E57-2376-4C42-B570-9941FB9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Каждая категория ошибки должна приводить к конкретному следующему эксперименту.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F2E06-2D6C-436F-B9BB-3FAF38E7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C002A-ACC1-4A21-AE41-95619FB4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E1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4D66E-7874-4B04-BCF6-F541855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Редкий тикер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9B56B-BF9A-459D-8A01-513912F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добавить справочник и hard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F9395-3F7F-438F-BD24-1F1D0920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B64AD-C54D-44AF-830B-20113D5F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E2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15B65-18CE-4C3F-9908-D681A92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Несколько компаний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8576F-9D87-4218-BA2D-BD0BE31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multi-label event linking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7A8D7-3F9D-49C3-9C7A-2FB01CC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5A84E-FE66-4D54-95DE-8D409B96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E3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E069C-9F07-4C73-8D77-1C4FF2AA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Сарказм и цитаты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C8AE4-1D17-438E-B0F4-931B702C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контекст источника и 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4D86F-7BE2-41D5-8170-777CAEA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D1DD2-E133-4511-AD79-90A122E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E4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5149D-9BA4-478F-907B-58585D09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Прогнозная формулировка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61253-67EE-419F-8B41-2279FE6E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отделить факт от ожидания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27D8E-0D59-4514-8A73-42798377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42FEB-88A3-4D4C-8B9C-C72CE522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838A5-4FC9-4803-A6A4-06C8912F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Русский срез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1AD74-5758-4835-BB97-9B4EAF17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отдельная метрика и tokenizer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87DD8-FFEC-47FE-845B-582BD8F9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EBC3EB-33AC-4761-9F08-1F00B851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6A4C93"/>
                </a:solidFill>
                <a:latin typeface="Times New Roman"/>
                <a:ea typeface="Times New Roman"/>
                <a:cs typeface="Times New Roman"/>
              </a:rPr>
              <a:t>E6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D66DF-00DE-4715-9F64-1600420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Невалидный 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79549-1A8C-4752-ACCD-DC0BCC2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constrained decoding / repair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FD35B-809E-4B1D-A5B1-ECA2F81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3b4a9a4c7484fb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663067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7824663f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DE4C5-69E6-4318-B268-42642EED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2D453-D67F-468B-BE1E-F78710B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2504F-DA6A-42CD-BCDA-7C8B7483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A9A04-A280-434C-8185-C291361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Вывод связывается с каждой гипотезой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2BA58-E27E-4E6B-808E-79369E97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Подтверждение означает измеримый эффект в заданном протоколе, а не универсальную истинность.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42421-5B4C-4DF3-A0F6-9412D08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95B8B-9EBB-4017-A45F-61EC821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93A4B-F6C4-445D-800C-369339AC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Предметная адаптация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EE523-5AAE-4C0B-B23A-E1EEBAD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99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Учебный пример подтверждает прирост относительно общего encoder-baseline.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C4343-D8D3-4728-835B-E87413F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314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7B032-069B-45A0-931A-2174DAE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C0246-EBDB-4C2C-9799-2733FB36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Сущности + время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47EF5-D8C0-4A49-AC2E-20505FD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972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Переходит в рекомендательную систему и проверяется на конечном NDCG.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1F5EA-DD4D-482F-9141-69630C06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334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0CB43-A7F0-4FB7-A6A8-10E8BADF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H3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E0B81-9E13-471A-BB7F-2F40D27B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Calibration + 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2B25B-51FF-43BE-AB8C-3A03D7F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99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Требует отчета coverage и доли опасных уверенных ошибок.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A6A08-EE68-4C90-A422-24E04CA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53149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531D1-2918-421F-9863-BE113A8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H4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D4B7B-C3B1-423E-8018-11E7E152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86250"/>
            <a:ext cx="497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Русскоязычная модель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68CBA-882C-47D4-AE3F-B4135DFA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972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Проверяется отдельно на российском срезе и не переносится автоматически.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7FA43-CF56-4E22-818C-D91ABB2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3ad6f571baf49e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113688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472cde6a14a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183F1-F88E-433E-9253-251E7B2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2499D-351B-486B-B95A-24FFB70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ПЕРЕДАЧА В 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5F72-381E-49DA-84B1-7B722B9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19A41-A861-4689-9771-DE90676B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NLP-модуль создает контракт для следующей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B089-2D76-4BE4-87A9-AD4D1741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CV анализирует изображение, не дублируя текстовый сигнал.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2ED51-88FA-42A1-AA5C-80C3F3E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2310-10B8-40F3-943D-D4AD9861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ticker +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C8B7C-BA73-421D-9234-8E55E895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C2274-5606-4C9F-BAC9-D647DFF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40D3B-2B90-4E50-A95D-7FB5BEE8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sentiment +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E09AE-1772-4B17-8475-09578F7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2DD12-853B-4549-9A4B-5FB51704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6F7DD-5012-4A2F-8594-869C0F34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+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9C2A6-B1EB-4A56-8F4F-9FF39144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6F780-83A0-46D5-A746-75B1A826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ECF58-5B36-4FB7-92D0-B68285D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image URL + event_id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2668F-085B-4F7F-B27D-19CEF6EE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B4D09-E94F-4DCC-9B11-D8A8E24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899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feature_record = {value, confidence, timestamp, encoder_version, source}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20E0D-41C3-4835-9C68-2C1FF3BF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признак версионируется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4AF55-8EA4-472B-807A-09B6F36D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 лабораторной 2 сравниваются text-only, image-only и fusion. Прирост изображения должен сохраняться после контроля времени и источника.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B862E-05B2-49C3-8641-76A04FA0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f40b3f7a0d9454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026683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41cf16d1d49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0DDD2-17C0-437D-A11F-15F0BA5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431AA-B0E1-4301-84CD-108383B7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ОТЧЕТ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3D4E4-576C-4E8F-9574-E5B5A94B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59BB0-DF51-4E3D-A6FF-D8EF7C88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Что должно быть в сдаваемой работе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C833E-4C5C-4BA8-8C6A-B36411CE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Командный проект допустим, но каждый участник объясняет весь экспериментальный контур.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EEC8-F2AC-4AF6-A4FA-1475BCA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D33F7-6B3F-4DD9-8403-2859993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связь с ВКР и измеримый 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0EC84-F08E-4867-AB07-AEA7C5B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5482-AD27-4B48-A7CB-CB92C014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обзор 10–15 источников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28416-7DD4-419D-8856-35444635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F8185-B6F9-45D8-8EC9-3EE9DDCF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выводы, пробел и H1–H4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B535A-FCB3-4283-A310-1F02D27A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9F53-3D99-44F2-B018-61756E0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datasheet и схема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2C35E-AC2E-4276-8FB8-7BEFF5F0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FA83B-59DD-4CBD-8E42-73353CD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7–8 моделей и одинаковый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01EB4-CAF2-482E-9458-4D539A2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3DBF5-3247-4F01-A714-9056ECC5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таблица метрик и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606B8-ED00-472D-8204-E75CC8F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1DEFB-5E26-4252-B28F-78910E17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анализ ошибок и ограничения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262A4-8193-4C29-9515-9F9C465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A9066-CD98-4E0B-A291-BADD1A59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код, конфигурации и вклад команды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A2DB9-00DB-4E6C-B728-7C73A71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F7A7D-6026-47C5-88BB-4A11A088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76875"/>
            <a:ext cx="861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артефакт = данные + код + веса/конфигурация + метрики + вывод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F1EBF-606C-4A08-94AB-59BB170D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388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минимум для воспроизводимости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D3ED1-228B-45FF-8EDA-5620E0CA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35db480b9bb465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643289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3e73646054d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B8E45-BDE3-46BB-A8EF-F7350BC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96721-DC6D-4F50-B667-035D637C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9CFCA-B2C6-438F-92C9-E7FE13E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EF8D3-71AD-4DE7-93A5-9DD4166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Первичные публикации и открытые материалы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3945D-9A31-4FB2-B6B3-6D56A54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Названия кликабельны. Полный перечень литературы находится в лабораторной работе.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444E6-953C-4BA7-B8CB-E2F1058D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183BF-6D37-45D7-ACDE-7238B4F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10d546a2f6f948a7"/>
              </a:rPr>
              <a:t>Transformer · Vaswani et 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5678E-0B08-43D0-A72D-CCF3C25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arxiv.org/abs/1706.03762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AF596-12CB-49C2-9820-CB796C4C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421B1-F730-4E0F-AA03-8BC6AE7D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28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7b36f8228f3e497a"/>
              </a:rPr>
              <a:t>BERT · Devlin et 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F7C32-325A-451A-AF2E-295B4B94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288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aclanthology.org/N19-1423/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89FE7-F2A5-4589-863B-65B5336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ECC26-AAEC-4F9F-8046-D2FCE12C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28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44358704437b4af4"/>
              </a:rPr>
              <a:t>FinBERT · Araci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1A65F-4957-4A35-98E8-2247180B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2892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arxiv.org/abs/1908.10063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F4230-DBFF-4F43-BFB2-3B681354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A2D35-5928-4424-85A0-F87B3786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28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7b20dfee89c8402a"/>
              </a:rPr>
              <a:t>Llama 3 · Meta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2275E-8C03-4CA5-B560-46BFB8C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892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arxiv.org/abs/2407.21783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F9FB3-AA50-4159-934E-ACA6C0C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7DE50-881A-40A0-BB59-022CFB0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38e803f0fa1c4da8"/>
              </a:rPr>
              <a:t>Mistral 7B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4C90D-D941-4F9D-8B92-124DC746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arxiv.org/abs/2310.06825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09415-DADE-49F3-9EFA-E39A8538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FF839-465B-4C77-8B2B-D7339858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290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0bf1f9ad70ee4d88"/>
              </a:rPr>
              <a:t>Qwen2.5 Technical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D8AF3-04CA-404E-A8A6-48A29DF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arxiv.org/abs/2412.15115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5E4A4-57B2-4DF7-8A58-2B077096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BDFE3-026D-4E76-B34D-E0E55B5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29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bff269ab50bf428f"/>
              </a:rPr>
              <a:t>GigaChat Family · ACL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4E0FD-17D0-49D5-ADA2-E9019B2D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2917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aclanthology.org/2025.acl-demo.10/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C8B95-D74A-4CF1-BDCA-20FA55CF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14875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C781E-AD83-4EE9-9E48-622253A6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291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70a772f54fe940de"/>
              </a:rPr>
              <a:t>Hugging Face Transformers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21EBE9-AE4F-4BB9-B491-BACD7190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2917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huggingface.co/docs/transformers/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A9EC4-9B5D-42CB-88D3-3EFCC69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d8e1d2c77b4420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39909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b25ea0c4341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4818E-0873-4CE5-9434-AFFFB963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88D8-EBE9-4063-9783-DFA68DF1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BE49D-05D4-4D0E-9EE7-5F3AAE3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1A6E-826C-4159-AC34-9D12A1F3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Маршрут выполнения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809F1-4292-4CFB-9734-9B6E27F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Начните с вопроса и обзора, затем фиксируйте данные и только после этого сравнивайте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C638-3AF4-4761-99A7-EB76F4D4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780F5-6023-4E71-929B-CB71CC8D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1. Вопрос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обзор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640D3-B68A-4935-95CD-0083E2B0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F74ED-F867-4F8D-8E1E-1F855FBB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E518C-5731-461F-9168-D9564BE4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2. Данные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9536-8CBC-4F0B-9A52-13C73564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527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EA82C-6F1E-43EC-B05A-6B84EE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9AB3E-5305-4AA3-A8BB-C5B5940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3. Baseline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20A8E-BCDC-4536-8E0B-154A6C7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2EA68-AE7B-4A36-A27C-E7D5C7E8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B12CD-D86A-489E-92A6-FE7C3A3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4. Метрики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06F9C-22EE-4E5D-9C66-8D0798DB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391B4-BFB5-4658-BE5A-F76F83C7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5. Правило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выбора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8B5C8-A91A-4885-AF70-76C3642B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DC3FD-E852-42E7-A592-CB1E55D9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240FE-EBA9-4DD0-BC89-60C7EC4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6. Вывод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 гипотезе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5E7F7-FCB9-4904-AD7D-B767F37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62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30822-CB7A-4963-B74C-F313E370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11089-90A8-4217-AAD2-25A7CBBE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7. Контракт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для CV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3BC5B-DD0B-4B54-AACD-2160531C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0651D-A7C0-4662-8D41-6DE12F79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05250"/>
            <a:ext cx="24384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C52C3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A640A-7590-4EBE-A383-6764C4D2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8. Защита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 репозиторий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6EECE-5DFE-4DD9-9D0D-DD03E51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57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73d9ec311cb944d7"/>
              </a:rPr>
              <a:t>Открыть интерактивный пример: petrnikitin20.github.io/PML/lab1-nlp.html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B6171-2699-4FFB-BAD5-D6E58A9E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414c43305e44dd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16881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2026-09-18T03:06:16.2140000Z</dcterms:created>
  <dcterms:modified xsi:type="dcterms:W3CDTF">2026-09-18T03:06:16.2140000Z</dcterms:modified>
</coreProperties>
</file>