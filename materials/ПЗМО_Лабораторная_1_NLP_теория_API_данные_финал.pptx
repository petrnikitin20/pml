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d1b699d944c91" /><Relationship Type="http://schemas.openxmlformats.org/officeDocument/2006/relationships/extended-properties" Target="/docProps/app.xml" Id="R10d6b1f3c2d3402d" /><Relationship Type="http://schemas.openxmlformats.org/officeDocument/2006/relationships/officeDocument" Target="/ppt/presentation.xml" Id="R20eeaff81d1c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1d4ec97204033"/>
  </p:sldMasterIdLst>
  <p:notesMasterIdLst>
    <p:notesMasterId xmlns:r="http://schemas.openxmlformats.org/officeDocument/2006/relationships" r:id="R9b32294b1d8749d2"/>
  </p:notesMasterIdLst>
  <p:sldIdLst>
    <p:sldId xmlns:r="http://schemas.openxmlformats.org/officeDocument/2006/relationships" id="256" r:id="Rcc026dccb4584233"/>
    <p:sldId xmlns:r="http://schemas.openxmlformats.org/officeDocument/2006/relationships" id="257" r:id="Re2657b4b31f04ff6"/>
    <p:sldId xmlns:r="http://schemas.openxmlformats.org/officeDocument/2006/relationships" id="258" r:id="R1f9ac0e8c9164e00"/>
    <p:sldId xmlns:r="http://schemas.openxmlformats.org/officeDocument/2006/relationships" id="259" r:id="Re4107c15a3294e92"/>
    <p:sldId xmlns:r="http://schemas.openxmlformats.org/officeDocument/2006/relationships" id="260" r:id="Raac1df499a3846ef"/>
    <p:sldId xmlns:r="http://schemas.openxmlformats.org/officeDocument/2006/relationships" id="261" r:id="R01375de7c01846f4"/>
    <p:sldId xmlns:r="http://schemas.openxmlformats.org/officeDocument/2006/relationships" id="262" r:id="R83a83f26ee8f4497"/>
    <p:sldId xmlns:r="http://schemas.openxmlformats.org/officeDocument/2006/relationships" id="263" r:id="R5deeec8a7c48464d"/>
    <p:sldId xmlns:r="http://schemas.openxmlformats.org/officeDocument/2006/relationships" id="264" r:id="Refc39502929343a4"/>
    <p:sldId xmlns:r="http://schemas.openxmlformats.org/officeDocument/2006/relationships" id="265" r:id="Rd48d6a35192e463c"/>
    <p:sldId xmlns:r="http://schemas.openxmlformats.org/officeDocument/2006/relationships" id="266" r:id="R884f09acb5f5468c"/>
    <p:sldId xmlns:r="http://schemas.openxmlformats.org/officeDocument/2006/relationships" id="267" r:id="Rba3ea3f76a364b7e"/>
    <p:sldId xmlns:r="http://schemas.openxmlformats.org/officeDocument/2006/relationships" id="268" r:id="R118439f7ac894c58"/>
    <p:sldId xmlns:r="http://schemas.openxmlformats.org/officeDocument/2006/relationships" id="269" r:id="R06fec5708c764711"/>
    <p:sldId xmlns:r="http://schemas.openxmlformats.org/officeDocument/2006/relationships" id="270" r:id="R4e72e73c3db3467a"/>
    <p:sldId xmlns:r="http://schemas.openxmlformats.org/officeDocument/2006/relationships" id="271" r:id="Rc993d484b1ea4291"/>
    <p:sldId xmlns:r="http://schemas.openxmlformats.org/officeDocument/2006/relationships" id="272" r:id="R0166a89151844025"/>
    <p:sldId xmlns:r="http://schemas.openxmlformats.org/officeDocument/2006/relationships" id="273" r:id="R9f8d47e5366f4ae4"/>
    <p:sldId xmlns:r="http://schemas.openxmlformats.org/officeDocument/2006/relationships" id="274" r:id="R4d187ca2592d4094"/>
    <p:sldId xmlns:r="http://schemas.openxmlformats.org/officeDocument/2006/relationships" id="275" r:id="R7820dcad1cd042ce"/>
    <p:sldId xmlns:r="http://schemas.openxmlformats.org/officeDocument/2006/relationships" id="276" r:id="R07234535de8543b8"/>
    <p:sldId xmlns:r="http://schemas.openxmlformats.org/officeDocument/2006/relationships" id="277" r:id="Rccc80e342bc94c8d"/>
    <p:sldId xmlns:r="http://schemas.openxmlformats.org/officeDocument/2006/relationships" id="278" r:id="R7eb6b2ff2acf4e7f"/>
    <p:sldId xmlns:r="http://schemas.openxmlformats.org/officeDocument/2006/relationships" id="279" r:id="R3d8d19b9cd2e49a8"/>
    <p:sldId xmlns:r="http://schemas.openxmlformats.org/officeDocument/2006/relationships" id="280" r:id="Rc4fc64f26dde433e"/>
    <p:sldId xmlns:r="http://schemas.openxmlformats.org/officeDocument/2006/relationships" id="281" r:id="R6c62fe0b6208446f"/>
    <p:sldId xmlns:r="http://schemas.openxmlformats.org/officeDocument/2006/relationships" id="282" r:id="R9750749d53be40e7"/>
    <p:sldId xmlns:r="http://schemas.openxmlformats.org/officeDocument/2006/relationships" id="283" r:id="R24c6025f245e448c"/>
    <p:sldId xmlns:r="http://schemas.openxmlformats.org/officeDocument/2006/relationships" id="284" r:id="R83723aaf21f844cf"/>
    <p:sldId xmlns:r="http://schemas.openxmlformats.org/officeDocument/2006/relationships" id="285" r:id="R2c052e2aa4fc4dff"/>
    <p:sldId xmlns:r="http://schemas.openxmlformats.org/officeDocument/2006/relationships" id="286" r:id="R505609b8fa6e4f30"/>
    <p:sldId xmlns:r="http://schemas.openxmlformats.org/officeDocument/2006/relationships" id="287" r:id="R6dc25709376146bb"/>
    <p:sldId xmlns:r="http://schemas.openxmlformats.org/officeDocument/2006/relationships" id="288" r:id="Ra7493f2ec70749bf"/>
    <p:sldId xmlns:r="http://schemas.openxmlformats.org/officeDocument/2006/relationships" id="289" r:id="Rc1f9ed21a4434f6e"/>
    <p:sldId xmlns:r="http://schemas.openxmlformats.org/officeDocument/2006/relationships" id="290" r:id="R0a227dc4ffd64cba"/>
    <p:sldId xmlns:r="http://schemas.openxmlformats.org/officeDocument/2006/relationships" id="291" r:id="R74c170db05454863"/>
    <p:sldId xmlns:r="http://schemas.openxmlformats.org/officeDocument/2006/relationships" id="292" r:id="R639f77b0ec10477d"/>
    <p:sldId xmlns:r="http://schemas.openxmlformats.org/officeDocument/2006/relationships" id="293" r:id="Rabb32e42091b48b1"/>
    <p:sldId xmlns:r="http://schemas.openxmlformats.org/officeDocument/2006/relationships" id="294" r:id="Rbc97512e517843be"/>
    <p:sldId xmlns:r="http://schemas.openxmlformats.org/officeDocument/2006/relationships" id="295" r:id="R06d842fa8fa34fe4"/>
    <p:sldId xmlns:r="http://schemas.openxmlformats.org/officeDocument/2006/relationships" id="296" r:id="Reaa0311fd64b46a6"/>
    <p:sldId xmlns:r="http://schemas.openxmlformats.org/officeDocument/2006/relationships" id="297" r:id="Rea7375f376014271"/>
    <p:sldId xmlns:r="http://schemas.openxmlformats.org/officeDocument/2006/relationships" id="298" r:id="Rfc59c789d19e4c2e"/>
    <p:sldId xmlns:r="http://schemas.openxmlformats.org/officeDocument/2006/relationships" id="299" r:id="R118ea0ec885b40c8"/>
    <p:sldId xmlns:r="http://schemas.openxmlformats.org/officeDocument/2006/relationships" id="300" r:id="R42ed033592b84af3"/>
    <p:sldId xmlns:r="http://schemas.openxmlformats.org/officeDocument/2006/relationships" id="301" r:id="Rd445c72057074f9a"/>
    <p:sldId xmlns:r="http://schemas.openxmlformats.org/officeDocument/2006/relationships" id="302" r:id="Ra445b5ff0c9442fd"/>
    <p:sldId xmlns:r="http://schemas.openxmlformats.org/officeDocument/2006/relationships" id="303" r:id="R72b797438ab04c2e"/>
    <p:sldId xmlns:r="http://schemas.openxmlformats.org/officeDocument/2006/relationships" id="304" r:id="R0c8dcd35229343c0"/>
    <p:sldId xmlns:r="http://schemas.openxmlformats.org/officeDocument/2006/relationships" id="305" r:id="R6429248507a24867"/>
    <p:sldId xmlns:r="http://schemas.openxmlformats.org/officeDocument/2006/relationships" id="306" r:id="R76794026f13e4732"/>
    <p:sldId xmlns:r="http://schemas.openxmlformats.org/officeDocument/2006/relationships" id="307" r:id="R207cc10949314e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b5358e1ae348e3" /><Relationship Type="http://schemas.openxmlformats.org/officeDocument/2006/relationships/slideMaster" Target="/ppt/slideMasters/slideMaster1.xml" Id="Rd7c1d4ec97204033" /><Relationship Type="http://schemas.openxmlformats.org/officeDocument/2006/relationships/notesMaster" Target="/ppt/notesMasters/notesMaster1.xml" Id="R9b32294b1d8749d2" /><Relationship Type="http://schemas.openxmlformats.org/officeDocument/2006/relationships/presProps" Target="/ppt/presProps.xml" Id="Rfbd0d6e7d057449f" /><Relationship Type="http://schemas.openxmlformats.org/officeDocument/2006/relationships/tableStyles" Target="/ppt/tableStyles.xml" Id="R2e78626ec0954d0f" /><Relationship Type="http://schemas.openxmlformats.org/officeDocument/2006/relationships/slide" Target="/ppt/slides/slide1.xml" Id="Rcc026dccb4584233" /><Relationship Type="http://schemas.openxmlformats.org/officeDocument/2006/relationships/slide" Target="/ppt/slides/slide2.xml" Id="Re2657b4b31f04ff6" /><Relationship Type="http://schemas.openxmlformats.org/officeDocument/2006/relationships/slide" Target="/ppt/slides/slide3.xml" Id="R1f9ac0e8c9164e00" /><Relationship Type="http://schemas.openxmlformats.org/officeDocument/2006/relationships/slide" Target="/ppt/slides/slide4.xml" Id="Re4107c15a3294e92" /><Relationship Type="http://schemas.openxmlformats.org/officeDocument/2006/relationships/slide" Target="/ppt/slides/slide5.xml" Id="Raac1df499a3846ef" /><Relationship Type="http://schemas.openxmlformats.org/officeDocument/2006/relationships/slide" Target="/ppt/slides/slide6.xml" Id="R01375de7c01846f4" /><Relationship Type="http://schemas.openxmlformats.org/officeDocument/2006/relationships/slide" Target="/ppt/slides/slide7.xml" Id="R83a83f26ee8f4497" /><Relationship Type="http://schemas.openxmlformats.org/officeDocument/2006/relationships/slide" Target="/ppt/slides/slide8.xml" Id="R5deeec8a7c48464d" /><Relationship Type="http://schemas.openxmlformats.org/officeDocument/2006/relationships/slide" Target="/ppt/slides/slide9.xml" Id="Refc39502929343a4" /><Relationship Type="http://schemas.openxmlformats.org/officeDocument/2006/relationships/slide" Target="/ppt/slides/slide10.xml" Id="Rd48d6a35192e463c" /><Relationship Type="http://schemas.openxmlformats.org/officeDocument/2006/relationships/slide" Target="/ppt/slides/slide11.xml" Id="R884f09acb5f5468c" /><Relationship Type="http://schemas.openxmlformats.org/officeDocument/2006/relationships/slide" Target="/ppt/slides/slide12.xml" Id="Rba3ea3f76a364b7e" /><Relationship Type="http://schemas.openxmlformats.org/officeDocument/2006/relationships/slide" Target="/ppt/slides/slide13.xml" Id="R118439f7ac894c58" /><Relationship Type="http://schemas.openxmlformats.org/officeDocument/2006/relationships/slide" Target="/ppt/slides/slide14.xml" Id="R06fec5708c764711" /><Relationship Type="http://schemas.openxmlformats.org/officeDocument/2006/relationships/slide" Target="/ppt/slides/slide15.xml" Id="R4e72e73c3db3467a" /><Relationship Type="http://schemas.openxmlformats.org/officeDocument/2006/relationships/slide" Target="/ppt/slides/slide16.xml" Id="Rc993d484b1ea4291" /><Relationship Type="http://schemas.openxmlformats.org/officeDocument/2006/relationships/slide" Target="/ppt/slides/slide17.xml" Id="R0166a89151844025" /><Relationship Type="http://schemas.openxmlformats.org/officeDocument/2006/relationships/slide" Target="/ppt/slides/slide18.xml" Id="R9f8d47e5366f4ae4" /><Relationship Type="http://schemas.openxmlformats.org/officeDocument/2006/relationships/slide" Target="/ppt/slides/slide19.xml" Id="R4d187ca2592d4094" /><Relationship Type="http://schemas.openxmlformats.org/officeDocument/2006/relationships/slide" Target="/ppt/slides/slide20.xml" Id="R7820dcad1cd042ce" /><Relationship Type="http://schemas.openxmlformats.org/officeDocument/2006/relationships/slide" Target="/ppt/slides/slide21.xml" Id="R07234535de8543b8" /><Relationship Type="http://schemas.openxmlformats.org/officeDocument/2006/relationships/slide" Target="/ppt/slides/slide22.xml" Id="Rccc80e342bc94c8d" /><Relationship Type="http://schemas.openxmlformats.org/officeDocument/2006/relationships/slide" Target="/ppt/slides/slide23.xml" Id="R7eb6b2ff2acf4e7f" /><Relationship Type="http://schemas.openxmlformats.org/officeDocument/2006/relationships/slide" Target="/ppt/slides/slide24.xml" Id="R3d8d19b9cd2e49a8" /><Relationship Type="http://schemas.openxmlformats.org/officeDocument/2006/relationships/slide" Target="/ppt/slides/slide25.xml" Id="Rc4fc64f26dde433e" /><Relationship Type="http://schemas.openxmlformats.org/officeDocument/2006/relationships/slide" Target="/ppt/slides/slide26.xml" Id="R6c62fe0b6208446f" /><Relationship Type="http://schemas.openxmlformats.org/officeDocument/2006/relationships/slide" Target="/ppt/slides/slide27.xml" Id="R9750749d53be40e7" /><Relationship Type="http://schemas.openxmlformats.org/officeDocument/2006/relationships/slide" Target="/ppt/slides/slide28.xml" Id="R24c6025f245e448c" /><Relationship Type="http://schemas.openxmlformats.org/officeDocument/2006/relationships/slide" Target="/ppt/slides/slide29.xml" Id="R83723aaf21f844cf" /><Relationship Type="http://schemas.openxmlformats.org/officeDocument/2006/relationships/slide" Target="/ppt/slides/slide30.xml" Id="R2c052e2aa4fc4dff" /><Relationship Type="http://schemas.openxmlformats.org/officeDocument/2006/relationships/slide" Target="/ppt/slides/slide31.xml" Id="R505609b8fa6e4f30" /><Relationship Type="http://schemas.openxmlformats.org/officeDocument/2006/relationships/slide" Target="/ppt/slides/slide32.xml" Id="R6dc25709376146bb" /><Relationship Type="http://schemas.openxmlformats.org/officeDocument/2006/relationships/slide" Target="/ppt/slides/slide33.xml" Id="Ra7493f2ec70749bf" /><Relationship Type="http://schemas.openxmlformats.org/officeDocument/2006/relationships/slide" Target="/ppt/slides/slide34.xml" Id="Rc1f9ed21a4434f6e" /><Relationship Type="http://schemas.openxmlformats.org/officeDocument/2006/relationships/slide" Target="/ppt/slides/slide35.xml" Id="R0a227dc4ffd64cba" /><Relationship Type="http://schemas.openxmlformats.org/officeDocument/2006/relationships/slide" Target="/ppt/slides/slide36.xml" Id="R74c170db05454863" /><Relationship Type="http://schemas.openxmlformats.org/officeDocument/2006/relationships/slide" Target="/ppt/slides/slide37.xml" Id="R639f77b0ec10477d" /><Relationship Type="http://schemas.openxmlformats.org/officeDocument/2006/relationships/slide" Target="/ppt/slides/slide38.xml" Id="Rabb32e42091b48b1" /><Relationship Type="http://schemas.openxmlformats.org/officeDocument/2006/relationships/slide" Target="/ppt/slides/slide39.xml" Id="Rbc97512e517843be" /><Relationship Type="http://schemas.openxmlformats.org/officeDocument/2006/relationships/slide" Target="/ppt/slides/slide40.xml" Id="R06d842fa8fa34fe4" /><Relationship Type="http://schemas.openxmlformats.org/officeDocument/2006/relationships/slide" Target="/ppt/slides/slide41.xml" Id="Reaa0311fd64b46a6" /><Relationship Type="http://schemas.openxmlformats.org/officeDocument/2006/relationships/slide" Target="/ppt/slides/slide42.xml" Id="Rea7375f376014271" /><Relationship Type="http://schemas.openxmlformats.org/officeDocument/2006/relationships/slide" Target="/ppt/slides/slide43.xml" Id="Rfc59c789d19e4c2e" /><Relationship Type="http://schemas.openxmlformats.org/officeDocument/2006/relationships/slide" Target="/ppt/slides/slide44.xml" Id="R118ea0ec885b40c8" /><Relationship Type="http://schemas.openxmlformats.org/officeDocument/2006/relationships/slide" Target="/ppt/slides/slide45.xml" Id="R42ed033592b84af3" /><Relationship Type="http://schemas.openxmlformats.org/officeDocument/2006/relationships/slide" Target="/ppt/slides/slide46.xml" Id="Rd445c72057074f9a" /><Relationship Type="http://schemas.openxmlformats.org/officeDocument/2006/relationships/slide" Target="/ppt/slides/slide47.xml" Id="Ra445b5ff0c9442fd" /><Relationship Type="http://schemas.openxmlformats.org/officeDocument/2006/relationships/slide" Target="/ppt/slides/slide48.xml" Id="R72b797438ab04c2e" /><Relationship Type="http://schemas.openxmlformats.org/officeDocument/2006/relationships/slide" Target="/ppt/slides/slide49.xml" Id="R0c8dcd35229343c0" /><Relationship Type="http://schemas.openxmlformats.org/officeDocument/2006/relationships/slide" Target="/ppt/slides/slide50.xml" Id="R6429248507a24867" /><Relationship Type="http://schemas.openxmlformats.org/officeDocument/2006/relationships/slide" Target="/ppt/slides/slide51.xml" Id="R76794026f13e4732" /><Relationship Type="http://schemas.openxmlformats.org/officeDocument/2006/relationships/slide" Target="/ppt/slides/slide52.xml" Id="R207cc1094931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ef265e24848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bcb8beb884dd7" /><Relationship Type="http://schemas.openxmlformats.org/officeDocument/2006/relationships/notesMaster" Target="/ppt/notesMasters/notesMaster1.xml" Id="R9aa686ab2b144e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fed1645b148db" /><Relationship Type="http://schemas.openxmlformats.org/officeDocument/2006/relationships/notesMaster" Target="/ppt/notesMasters/notesMaster1.xml" Id="R70a4e0a424c4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de0ac58f145ba" /><Relationship Type="http://schemas.openxmlformats.org/officeDocument/2006/relationships/notesMaster" Target="/ppt/notesMasters/notesMaster1.xml" Id="R6ff788684126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9df41b8494245" /><Relationship Type="http://schemas.openxmlformats.org/officeDocument/2006/relationships/notesMaster" Target="/ppt/notesMasters/notesMaster1.xml" Id="Raa76c7bbccd2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3af1812de4302" /><Relationship Type="http://schemas.openxmlformats.org/officeDocument/2006/relationships/notesMaster" Target="/ppt/notesMasters/notesMaster1.xml" Id="R13456158080341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3ab58468984b7d" /><Relationship Type="http://schemas.openxmlformats.org/officeDocument/2006/relationships/notesMaster" Target="/ppt/notesMasters/notesMaster1.xml" Id="R75a3ae5d2f104d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917e2d7a84c3a" /><Relationship Type="http://schemas.openxmlformats.org/officeDocument/2006/relationships/notesMaster" Target="/ppt/notesMasters/notesMaster1.xml" Id="Re03e3aa2efce4d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8134f362c44e80" /><Relationship Type="http://schemas.openxmlformats.org/officeDocument/2006/relationships/notesMaster" Target="/ppt/notesMasters/notesMaster1.xml" Id="R0d6d6bf38c7e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323bfb917141cd" /><Relationship Type="http://schemas.openxmlformats.org/officeDocument/2006/relationships/notesMaster" Target="/ppt/notesMasters/notesMaster1.xml" Id="Rd8b5a41b15a4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893d44997f4a83" /><Relationship Type="http://schemas.openxmlformats.org/officeDocument/2006/relationships/notesMaster" Target="/ppt/notesMasters/notesMaster1.xml" Id="R3d7a0349c661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3949c4115f439a" /><Relationship Type="http://schemas.openxmlformats.org/officeDocument/2006/relationships/notesMaster" Target="/ppt/notesMasters/notesMaster1.xml" Id="R04c77541ba0b44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e5f75296b4401" /><Relationship Type="http://schemas.openxmlformats.org/officeDocument/2006/relationships/notesMaster" Target="/ppt/notesMasters/notesMaster1.xml" Id="R447585ce14cb44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97a6a5393e46f8" /><Relationship Type="http://schemas.openxmlformats.org/officeDocument/2006/relationships/notesMaster" Target="/ppt/notesMasters/notesMaster1.xml" Id="R9ba823e862494d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bdf39c83414ffc" /><Relationship Type="http://schemas.openxmlformats.org/officeDocument/2006/relationships/notesMaster" Target="/ppt/notesMasters/notesMaster1.xml" Id="R87ef6cf0476940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e21f3960234146" /><Relationship Type="http://schemas.openxmlformats.org/officeDocument/2006/relationships/notesMaster" Target="/ppt/notesMasters/notesMaster1.xml" Id="R4a4d99bf62bb45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0a8087e1fd4996" /><Relationship Type="http://schemas.openxmlformats.org/officeDocument/2006/relationships/notesMaster" Target="/ppt/notesMasters/notesMaster1.xml" Id="R06c6967f248a49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867995958a4e39" /><Relationship Type="http://schemas.openxmlformats.org/officeDocument/2006/relationships/notesMaster" Target="/ppt/notesMasters/notesMaster1.xml" Id="R97314c80596a43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7da97918ac4268" /><Relationship Type="http://schemas.openxmlformats.org/officeDocument/2006/relationships/notesMaster" Target="/ppt/notesMasters/notesMaster1.xml" Id="R55d8d2add32c4f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8b299bef344683" /><Relationship Type="http://schemas.openxmlformats.org/officeDocument/2006/relationships/notesMaster" Target="/ppt/notesMasters/notesMaster1.xml" Id="Rbcdfc904ca1f4d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5d7f4bb63c48d8" /><Relationship Type="http://schemas.openxmlformats.org/officeDocument/2006/relationships/notesMaster" Target="/ppt/notesMasters/notesMaster1.xml" Id="R54e44e3cd4d444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05dc9f12ac457f" /><Relationship Type="http://schemas.openxmlformats.org/officeDocument/2006/relationships/notesMaster" Target="/ppt/notesMasters/notesMaster1.xml" Id="R5b7b325b29154b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6349f08529408d" /><Relationship Type="http://schemas.openxmlformats.org/officeDocument/2006/relationships/notesMaster" Target="/ppt/notesMasters/notesMaster1.xml" Id="Re050bdc6be9a40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e474fa468c4a8d" /><Relationship Type="http://schemas.openxmlformats.org/officeDocument/2006/relationships/notesMaster" Target="/ppt/notesMasters/notesMaster1.xml" Id="R4c732213e0714f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9bd21c43aff4dc5" /><Relationship Type="http://schemas.openxmlformats.org/officeDocument/2006/relationships/notesMaster" Target="/ppt/notesMasters/notesMaster1.xml" Id="R4c73f76528c44d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5555343ae4479a" /><Relationship Type="http://schemas.openxmlformats.org/officeDocument/2006/relationships/notesMaster" Target="/ppt/notesMasters/notesMaster1.xml" Id="R64ca842a6c554a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2f89f78631472c" /><Relationship Type="http://schemas.openxmlformats.org/officeDocument/2006/relationships/notesMaster" Target="/ppt/notesMasters/notesMaster1.xml" Id="R35a85d0377eb46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53fef51cfa4850" /><Relationship Type="http://schemas.openxmlformats.org/officeDocument/2006/relationships/notesMaster" Target="/ppt/notesMasters/notesMaster1.xml" Id="Rcb4901a4d1d4462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d6e2ae21084a44" /><Relationship Type="http://schemas.openxmlformats.org/officeDocument/2006/relationships/notesMaster" Target="/ppt/notesMasters/notesMaster1.xml" Id="Rd4ac25902ef049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45acda87b04ad5" /><Relationship Type="http://schemas.openxmlformats.org/officeDocument/2006/relationships/notesMaster" Target="/ppt/notesMasters/notesMaster1.xml" Id="Rc91ee6b06bca4b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b1310e9bd0462c" /><Relationship Type="http://schemas.openxmlformats.org/officeDocument/2006/relationships/notesMaster" Target="/ppt/notesMasters/notesMaster1.xml" Id="R2e5bf19585d849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db6bfce4574d3b" /><Relationship Type="http://schemas.openxmlformats.org/officeDocument/2006/relationships/notesMaster" Target="/ppt/notesMasters/notesMaster1.xml" Id="R25356a4bb0ca4c8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02d8a268674001" /><Relationship Type="http://schemas.openxmlformats.org/officeDocument/2006/relationships/notesMaster" Target="/ppt/notesMasters/notesMaster1.xml" Id="R4dd3d34ac2274d9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40b7239de54e3d" /><Relationship Type="http://schemas.openxmlformats.org/officeDocument/2006/relationships/notesMaster" Target="/ppt/notesMasters/notesMaster1.xml" Id="Rf9841e3416a349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c6289fb895c4b4f" /><Relationship Type="http://schemas.openxmlformats.org/officeDocument/2006/relationships/notesMaster" Target="/ppt/notesMasters/notesMaster1.xml" Id="R66d97ec25d2145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71736af4074c9a" /><Relationship Type="http://schemas.openxmlformats.org/officeDocument/2006/relationships/notesMaster" Target="/ppt/notesMasters/notesMaster1.xml" Id="Rec6fd6a5cbb94b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7c457727bb64386" /><Relationship Type="http://schemas.openxmlformats.org/officeDocument/2006/relationships/notesMaster" Target="/ppt/notesMasters/notesMaster1.xml" Id="R75da6f0d977c40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598083409df42df" /><Relationship Type="http://schemas.openxmlformats.org/officeDocument/2006/relationships/notesMaster" Target="/ppt/notesMasters/notesMaster1.xml" Id="Rc2ef8af42fdd40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6a3ca36a9794e2d" /><Relationship Type="http://schemas.openxmlformats.org/officeDocument/2006/relationships/notesMaster" Target="/ppt/notesMasters/notesMaster1.xml" Id="R8482250679bb434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bb8530ccbbf40d1" /><Relationship Type="http://schemas.openxmlformats.org/officeDocument/2006/relationships/notesMaster" Target="/ppt/notesMasters/notesMaster1.xml" Id="R7f97253353b04d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2fffcc56df5483d" /><Relationship Type="http://schemas.openxmlformats.org/officeDocument/2006/relationships/notesMaster" Target="/ppt/notesMasters/notesMaster1.xml" Id="R50d825267b4f443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9f69aae4ef4122" /><Relationship Type="http://schemas.openxmlformats.org/officeDocument/2006/relationships/notesMaster" Target="/ppt/notesMasters/notesMaster1.xml" Id="Rbceb43d5c23f490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a9a2a4416b41d8" /><Relationship Type="http://schemas.openxmlformats.org/officeDocument/2006/relationships/notesMaster" Target="/ppt/notesMasters/notesMaster1.xml" Id="R593c228c303c4cf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f731ee258ac458e" /><Relationship Type="http://schemas.openxmlformats.org/officeDocument/2006/relationships/notesMaster" Target="/ppt/notesMasters/notesMaster1.xml" Id="R8773824ee34945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388d9921b064392" /><Relationship Type="http://schemas.openxmlformats.org/officeDocument/2006/relationships/notesMaster" Target="/ppt/notesMasters/notesMaster1.xml" Id="R6952ab96d0214d0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82c7e6ec9e94413" /><Relationship Type="http://schemas.openxmlformats.org/officeDocument/2006/relationships/notesMaster" Target="/ppt/notesMasters/notesMaster1.xml" Id="R63d70e8e842a416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e3fe7e4707c4bec" /><Relationship Type="http://schemas.openxmlformats.org/officeDocument/2006/relationships/notesMaster" Target="/ppt/notesMasters/notesMaster1.xml" Id="Ra0c8de50716249d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75605a7bfea43f0" /><Relationship Type="http://schemas.openxmlformats.org/officeDocument/2006/relationships/notesMaster" Target="/ppt/notesMasters/notesMaster1.xml" Id="Rf7fd9eb3f7cf4cd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6572534012d49a9" /><Relationship Type="http://schemas.openxmlformats.org/officeDocument/2006/relationships/notesMaster" Target="/ppt/notesMasters/notesMaster1.xml" Id="R3746a87d50f5475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c4b6f0a6a2749b6" /><Relationship Type="http://schemas.openxmlformats.org/officeDocument/2006/relationships/notesMaster" Target="/ppt/notesMasters/notesMaster1.xml" Id="Red3a3efa8dbd406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303d7032a8b4e9f" /><Relationship Type="http://schemas.openxmlformats.org/officeDocument/2006/relationships/notesMaster" Target="/ppt/notesMasters/notesMaster1.xml" Id="R9c042a882cde415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22fb1ad93a44af4" /><Relationship Type="http://schemas.openxmlformats.org/officeDocument/2006/relationships/notesMaster" Target="/ppt/notesMasters/notesMaster1.xml" Id="Rb9fc67397f5645c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70d97beb4164631" /><Relationship Type="http://schemas.openxmlformats.org/officeDocument/2006/relationships/notesMaster" Target="/ppt/notesMasters/notesMaster1.xml" Id="R870f84ce92f9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РПД дисциплины, тема 2: глубокое обучение в обработке естественного языка.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РПД «Прикладные задачи машинного обучения», тема 2, стр.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Vaswani et al. Attention Is All You Need.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Vaswani et al. 2017.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Devlin et al. BERT, NAACL 2019. https://aclanthology.org/N19-1423/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1 NLP: RuBERT используется как русскоязычный encoder-baseline.</a:t>
            </a:r>
          </a:p>
          <a:p xmlns:a="http://schemas.openxmlformats.org/drawingml/2006/main">
            <a:r>
              <a:t>Zmitrovich et al. Russian Transformer family, LREC-COLING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Araci. FinBERT: Financial Sentiment Analysis with Pre-trained Language Models. https://arxiv.org/abs/1908.10063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Conneau et al. XLM-R, ACL 2020. https://aclanthology.org/2020.acl-main.747/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 et al. DeBERTa. https://arxiv.org/abs/2006.03654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Radford et al. Improving Language Understanding by Generative Pre-Training.</a:t>
            </a:r>
          </a:p>
          <a:p xmlns:a="http://schemas.openxmlformats.org/drawingml/2006/main">
            <a:r>
              <a:t>Brown et al. Language Models are Few-Shot Learners. https://arxiv.org/abs/2005.14165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 AI. The Llama 3 Herd of Models. https://arxiv.org/abs/2407.21783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Jiang et al. Mistral 7B. https://arxiv.org/abs/2310.06825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Qwen2.5 Technical Report. https://arxiv.org/abs/2412.15115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Mamedov et al. GigaChat Family, ACL 2025. https://aclanthology.org/2025.acl-demo.10/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 et al. LoRA. https://arxiv.org/abs/2106.09685</a:t>
            </a:r>
          </a:p>
          <a:p xmlns:a="http://schemas.openxmlformats.org/drawingml/2006/main">
            <a:r>
              <a:t>Dettmers et al. QLoRA. https://arxiv.org/abs/2305.14314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Hugging Face pricing: https://huggingface.co/docs/inference-providers/pricing</a:t>
            </a:r>
          </a:p>
          <a:p xmlns:a="http://schemas.openxmlformats.org/drawingml/2006/main">
            <a:r>
              <a:t>OpenAI models: https://developers.openai.com/api/docs/models</a:t>
            </a:r>
          </a:p>
          <a:p xmlns:a="http://schemas.openxmlformats.org/drawingml/2006/main">
            <a:r>
              <a:t>Mistral quickstart: https://docs.mistral.ai/getting-started/quickstarts/developer/first-api-request</a:t>
            </a:r>
          </a:p>
          <a:p xmlns:a="http://schemas.openxmlformats.org/drawingml/2006/main">
            <a:r>
              <a:t>GigaChat quickstart: https://developers.sber.ru/docs/ru/gigachat/individuals-quickstart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75cc678c6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6bd6f38ec84ae6" /><Relationship Type="http://schemas.openxmlformats.org/officeDocument/2006/relationships/slideLayout" Target="/ppt/slideLayouts/slideLayout1.xml" Id="R59bcc4582e97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cc4582e97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14a36457045b8" /><Relationship Type="http://schemas.openxmlformats.org/officeDocument/2006/relationships/image" Target="/ppt/media/image.png" Id="R0d03c6e74b5f4d47" /><Relationship Type="http://schemas.openxmlformats.org/officeDocument/2006/relationships/hyperlink" Target="https://petrnikitin20.github.io/PML/" TargetMode="External" Id="R96b2332bf42d4e77" /><Relationship Type="http://schemas.openxmlformats.org/officeDocument/2006/relationships/notesSlide" Target="/ppt/notesSlides/notesSlide1.xml" Id="R75ddf97faedd4f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321472e7446bb" /><Relationship Type="http://schemas.openxmlformats.org/officeDocument/2006/relationships/image" Target="/ppt/media/image2.png" Id="R7240d4908bfc4101" /><Relationship Type="http://schemas.openxmlformats.org/officeDocument/2006/relationships/hyperlink" Target="https://petrnikitin20.github.io/PML/" TargetMode="External" Id="Rfc453438025748fe" /><Relationship Type="http://schemas.openxmlformats.org/officeDocument/2006/relationships/notesSlide" Target="/ppt/notesSlides/notesSlide2.xml" Id="Rf860857552774b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24d0914184c54" /><Relationship Type="http://schemas.openxmlformats.org/officeDocument/2006/relationships/image" Target="/ppt/media/image3.png" Id="Rbbf9360779714d79" /><Relationship Type="http://schemas.openxmlformats.org/officeDocument/2006/relationships/hyperlink" Target="https://petrnikitin20.github.io/PML/" TargetMode="External" Id="Ra9ce7a8e7b6f4cb9" /><Relationship Type="http://schemas.openxmlformats.org/officeDocument/2006/relationships/notesSlide" Target="/ppt/notesSlides/notesSlide3.xml" Id="R5d0b996b6e07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cf6773d4438a" /><Relationship Type="http://schemas.openxmlformats.org/officeDocument/2006/relationships/image" Target="/ppt/media/image4.png" Id="Ra38ef9fcfbf345fa" /><Relationship Type="http://schemas.openxmlformats.org/officeDocument/2006/relationships/hyperlink" Target="https://petrnikitin20.github.io/PML/" TargetMode="External" Id="R6ac0c4253bc34c33" /><Relationship Type="http://schemas.openxmlformats.org/officeDocument/2006/relationships/notesSlide" Target="/ppt/notesSlides/notesSlide4.xml" Id="R34594109ca80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9fa1f979446f" /><Relationship Type="http://schemas.openxmlformats.org/officeDocument/2006/relationships/image" Target="/ppt/media/image5.png" Id="Ra7da2872b0e34815" /><Relationship Type="http://schemas.openxmlformats.org/officeDocument/2006/relationships/hyperlink" Target="https://petrnikitin20.github.io/PML/" TargetMode="External" Id="R483554cce43542e2" /><Relationship Type="http://schemas.openxmlformats.org/officeDocument/2006/relationships/notesSlide" Target="/ppt/notesSlides/notesSlide5.xml" Id="R0fabcc9e602f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6827b719a4429" /><Relationship Type="http://schemas.openxmlformats.org/officeDocument/2006/relationships/image" Target="/ppt/media/image6.png" Id="R5a09e214f46f44a0" /><Relationship Type="http://schemas.openxmlformats.org/officeDocument/2006/relationships/hyperlink" Target="https://petrnikitin20.github.io/PML/" TargetMode="External" Id="R3f94908ed6e145ed" /><Relationship Type="http://schemas.openxmlformats.org/officeDocument/2006/relationships/notesSlide" Target="/ppt/notesSlides/notesSlide6.xml" Id="Rcd8d6a131927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ea1fbf7424b84" /><Relationship Type="http://schemas.openxmlformats.org/officeDocument/2006/relationships/image" Target="/ppt/media/image7.png" Id="Rb04b1366c8f94208" /><Relationship Type="http://schemas.openxmlformats.org/officeDocument/2006/relationships/hyperlink" Target="https://petrnikitin20.github.io/PML/" TargetMode="External" Id="R23e1b2ff8bb64cdb" /><Relationship Type="http://schemas.openxmlformats.org/officeDocument/2006/relationships/notesSlide" Target="/ppt/notesSlides/notesSlide7.xml" Id="R8522ce4575f24b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4f38dd4f48c3" /><Relationship Type="http://schemas.openxmlformats.org/officeDocument/2006/relationships/image" Target="/ppt/media/image8.png" Id="R784afdb8b3294980" /><Relationship Type="http://schemas.openxmlformats.org/officeDocument/2006/relationships/hyperlink" Target="https://petrnikitin20.github.io/PML/" TargetMode="External" Id="Rf2a04b3aa3084da1" /><Relationship Type="http://schemas.openxmlformats.org/officeDocument/2006/relationships/notesSlide" Target="/ppt/notesSlides/notesSlide8.xml" Id="Rde7f5aec3933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c5c999f1f4f9b" /><Relationship Type="http://schemas.openxmlformats.org/officeDocument/2006/relationships/image" Target="/ppt/media/image9.png" Id="Rd273f78624b94497" /><Relationship Type="http://schemas.openxmlformats.org/officeDocument/2006/relationships/hyperlink" Target="https://petrnikitin20.github.io/PML/" TargetMode="External" Id="R14388fd2d1f64239" /><Relationship Type="http://schemas.openxmlformats.org/officeDocument/2006/relationships/notesSlide" Target="/ppt/notesSlides/notesSlide9.xml" Id="Ra5f4bb8e5d804f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7c48122a14883" /><Relationship Type="http://schemas.openxmlformats.org/officeDocument/2006/relationships/image" Target="/ppt/media/image10.png" Id="R845f7a152d034da9" /><Relationship Type="http://schemas.openxmlformats.org/officeDocument/2006/relationships/hyperlink" Target="https://petrnikitin20.github.io/PML/" TargetMode="External" Id="R48c2f575e9f64c26" /><Relationship Type="http://schemas.openxmlformats.org/officeDocument/2006/relationships/notesSlide" Target="/ppt/notesSlides/notesSlide10.xml" Id="R910a9f87698043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66bac4bd64d54" /><Relationship Type="http://schemas.openxmlformats.org/officeDocument/2006/relationships/image" Target="/ppt/media/image11.png" Id="R2578a69828fc47d0" /><Relationship Type="http://schemas.openxmlformats.org/officeDocument/2006/relationships/hyperlink" Target="https://petrnikitin20.github.io/PML/" TargetMode="External" Id="Rfe053896da1b4503" /><Relationship Type="http://schemas.openxmlformats.org/officeDocument/2006/relationships/notesSlide" Target="/ppt/notesSlides/notesSlide11.xml" Id="Rcbdd04ab8c49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a775a75d74a09" /><Relationship Type="http://schemas.openxmlformats.org/officeDocument/2006/relationships/image" Target="/ppt/media/image12.png" Id="R666ba4a13d18473b" /><Relationship Type="http://schemas.openxmlformats.org/officeDocument/2006/relationships/hyperlink" Target="https://petrnikitin20.github.io/PML/" TargetMode="External" Id="Rae1c4a7c40944c1c" /><Relationship Type="http://schemas.openxmlformats.org/officeDocument/2006/relationships/notesSlide" Target="/ppt/notesSlides/notesSlide12.xml" Id="R7b26b6395aed4b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7b502d3db46be" /><Relationship Type="http://schemas.openxmlformats.org/officeDocument/2006/relationships/image" Target="/ppt/media/image13.png" Id="R7519ca4cf39c49b5" /><Relationship Type="http://schemas.openxmlformats.org/officeDocument/2006/relationships/hyperlink" Target="https://petrnikitin20.github.io/PML/" TargetMode="External" Id="R2126e1eaba414cc3" /><Relationship Type="http://schemas.openxmlformats.org/officeDocument/2006/relationships/notesSlide" Target="/ppt/notesSlides/notesSlide13.xml" Id="R8feb024ec2e340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42aa67b9d46f8" /><Relationship Type="http://schemas.openxmlformats.org/officeDocument/2006/relationships/image" Target="/ppt/media/image14.png" Id="Rb6d34c60222d44b9" /><Relationship Type="http://schemas.openxmlformats.org/officeDocument/2006/relationships/hyperlink" Target="https://petrnikitin20.github.io/PML/" TargetMode="External" Id="R690ca79bb52a45d0" /><Relationship Type="http://schemas.openxmlformats.org/officeDocument/2006/relationships/notesSlide" Target="/ppt/notesSlides/notesSlide14.xml" Id="R5eb532f52e6f49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4c7e868324d68" /><Relationship Type="http://schemas.openxmlformats.org/officeDocument/2006/relationships/image" Target="/ppt/media/image15.png" Id="R71b8e7fffdbe4f44" /><Relationship Type="http://schemas.openxmlformats.org/officeDocument/2006/relationships/hyperlink" Target="https://petrnikitin20.github.io/PML/" TargetMode="External" Id="Rca4b3d2bf69e4b10" /><Relationship Type="http://schemas.openxmlformats.org/officeDocument/2006/relationships/notesSlide" Target="/ppt/notesSlides/notesSlide15.xml" Id="R07f88aebe5174f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236abb6704c48" /><Relationship Type="http://schemas.openxmlformats.org/officeDocument/2006/relationships/image" Target="/ppt/media/image16.png" Id="Re26c6200618c4181" /><Relationship Type="http://schemas.openxmlformats.org/officeDocument/2006/relationships/hyperlink" Target="https://petrnikitin20.github.io/PML/" TargetMode="External" Id="Rfc869f2bf3e243f0" /><Relationship Type="http://schemas.openxmlformats.org/officeDocument/2006/relationships/notesSlide" Target="/ppt/notesSlides/notesSlide16.xml" Id="Rb8f11d0042f14e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c51f6c85d481d" /><Relationship Type="http://schemas.openxmlformats.org/officeDocument/2006/relationships/image" Target="/ppt/media/image17.png" Id="Re3719eb76d4941a0" /><Relationship Type="http://schemas.openxmlformats.org/officeDocument/2006/relationships/hyperlink" Target="https://petrnikitin20.github.io/PML/" TargetMode="External" Id="Rf52ca188f17c45d1" /><Relationship Type="http://schemas.openxmlformats.org/officeDocument/2006/relationships/notesSlide" Target="/ppt/notesSlides/notesSlide17.xml" Id="R726b0a1afaac4a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b4a7a36942e9" /><Relationship Type="http://schemas.openxmlformats.org/officeDocument/2006/relationships/image" Target="/ppt/media/image18.png" Id="Reaee78de60ed4c74" /><Relationship Type="http://schemas.openxmlformats.org/officeDocument/2006/relationships/hyperlink" Target="https://petrnikitin20.github.io/PML/" TargetMode="External" Id="R78c950188c3c454d" /><Relationship Type="http://schemas.openxmlformats.org/officeDocument/2006/relationships/notesSlide" Target="/ppt/notesSlides/notesSlide18.xml" Id="Rda0faf34c92445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1a9c53334406" /><Relationship Type="http://schemas.openxmlformats.org/officeDocument/2006/relationships/image" Target="/ppt/media/image19.png" Id="Rae5acb36e67c4a07" /><Relationship Type="http://schemas.openxmlformats.org/officeDocument/2006/relationships/hyperlink" Target="https://petrnikitin20.github.io/PML/" TargetMode="External" Id="R4616e84a09084b6d" /><Relationship Type="http://schemas.openxmlformats.org/officeDocument/2006/relationships/notesSlide" Target="/ppt/notesSlides/notesSlide19.xml" Id="R2abd6580a4094c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af08a7e6b4e86" /><Relationship Type="http://schemas.openxmlformats.org/officeDocument/2006/relationships/image" Target="/ppt/media/image20.png" Id="R4aaa7d6a15024093" /><Relationship Type="http://schemas.openxmlformats.org/officeDocument/2006/relationships/hyperlink" Target="https://petrnikitin20.github.io/PML/" TargetMode="External" Id="R307c16f337eb4900" /><Relationship Type="http://schemas.openxmlformats.org/officeDocument/2006/relationships/notesSlide" Target="/ppt/notesSlides/notesSlide20.xml" Id="R13a50b437ab54f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692df2dca435e" /><Relationship Type="http://schemas.openxmlformats.org/officeDocument/2006/relationships/image" Target="/ppt/media/image21.png" Id="R5db650b0e7364385" /><Relationship Type="http://schemas.openxmlformats.org/officeDocument/2006/relationships/hyperlink" Target="https://petrnikitin20.github.io/PML/" TargetMode="External" Id="R31ab754d764449e4" /><Relationship Type="http://schemas.openxmlformats.org/officeDocument/2006/relationships/notesSlide" Target="/ppt/notesSlides/notesSlide21.xml" Id="R4d534dfa5f4b4e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448cb3e54994" /><Relationship Type="http://schemas.openxmlformats.org/officeDocument/2006/relationships/image" Target="/ppt/media/image22.png" Id="Rd3b3bdd3c6b84876" /><Relationship Type="http://schemas.openxmlformats.org/officeDocument/2006/relationships/hyperlink" Target="https://petrnikitin20.github.io/PML/" TargetMode="External" Id="R7090ce95add34a15" /><Relationship Type="http://schemas.openxmlformats.org/officeDocument/2006/relationships/notesSlide" Target="/ppt/notesSlides/notesSlide22.xml" Id="Re259de6fd80444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1732f7d29490e" /><Relationship Type="http://schemas.openxmlformats.org/officeDocument/2006/relationships/image" Target="/ppt/media/image23.png" Id="Reb8fa0c5e80e46cb" /><Relationship Type="http://schemas.openxmlformats.org/officeDocument/2006/relationships/hyperlink" Target="https://petrnikitin20.github.io/PML/" TargetMode="External" Id="R3121eb9c47a741bb" /><Relationship Type="http://schemas.openxmlformats.org/officeDocument/2006/relationships/notesSlide" Target="/ppt/notesSlides/notesSlide23.xml" Id="R28c88206f3164a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6c28787cf4bb2" /><Relationship Type="http://schemas.openxmlformats.org/officeDocument/2006/relationships/image" Target="/ppt/media/image24.png" Id="R03127e45491241c8" /><Relationship Type="http://schemas.openxmlformats.org/officeDocument/2006/relationships/hyperlink" Target="https://petrnikitin20.github.io/PML/" TargetMode="External" Id="R5e3e11acc63e4775" /><Relationship Type="http://schemas.openxmlformats.org/officeDocument/2006/relationships/notesSlide" Target="/ppt/notesSlides/notesSlide24.xml" Id="R5f7b30abeebc46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d3bdf2174d69" /><Relationship Type="http://schemas.openxmlformats.org/officeDocument/2006/relationships/image" Target="/ppt/media/image25.png" Id="Rdcf4db9dbc1c4314" /><Relationship Type="http://schemas.openxmlformats.org/officeDocument/2006/relationships/hyperlink" Target="https://petrnikitin20.github.io/PML/" TargetMode="External" Id="Rc078eb8b853f4e4b" /><Relationship Type="http://schemas.openxmlformats.org/officeDocument/2006/relationships/notesSlide" Target="/ppt/notesSlides/notesSlide25.xml" Id="Rebde604c95e649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704caf9b14d83" /><Relationship Type="http://schemas.openxmlformats.org/officeDocument/2006/relationships/image" Target="/ppt/media/image26.png" Id="R7d3232be0f6845c3" /><Relationship Type="http://schemas.openxmlformats.org/officeDocument/2006/relationships/hyperlink" Target="https://petrnikitin20.github.io/PML/" TargetMode="External" Id="Re46d1b10cc1e4f25" /><Relationship Type="http://schemas.openxmlformats.org/officeDocument/2006/relationships/notesSlide" Target="/ppt/notesSlides/notesSlide26.xml" Id="Rf4b1c9492f81494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b4c73f1b048e8" /><Relationship Type="http://schemas.openxmlformats.org/officeDocument/2006/relationships/image" Target="/ppt/media/image27.png" Id="R3c71a9f59229414a" /><Relationship Type="http://schemas.openxmlformats.org/officeDocument/2006/relationships/hyperlink" Target="https://petrnikitin20.github.io/PML/" TargetMode="External" Id="Rc057ca806e97496a" /><Relationship Type="http://schemas.openxmlformats.org/officeDocument/2006/relationships/notesSlide" Target="/ppt/notesSlides/notesSlide27.xml" Id="R879d636dd3bf4e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0b74903c4d2d" /><Relationship Type="http://schemas.openxmlformats.org/officeDocument/2006/relationships/image" Target="/ppt/media/image28.png" Id="R6938a31d55cb4ee8" /><Relationship Type="http://schemas.openxmlformats.org/officeDocument/2006/relationships/hyperlink" Target="https://petrnikitin20.github.io/PML/" TargetMode="External" Id="R18cba5531a9546bd" /><Relationship Type="http://schemas.openxmlformats.org/officeDocument/2006/relationships/notesSlide" Target="/ppt/notesSlides/notesSlide28.xml" Id="Ra4492728d7cc4d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a417859fd4fcb" /><Relationship Type="http://schemas.openxmlformats.org/officeDocument/2006/relationships/image" Target="/ppt/media/image29.png" Id="R508432f0a1844be6" /><Relationship Type="http://schemas.openxmlformats.org/officeDocument/2006/relationships/hyperlink" Target="https://petrnikitin20.github.io/PML/" TargetMode="External" Id="Rad0dc13c631f4a75" /><Relationship Type="http://schemas.openxmlformats.org/officeDocument/2006/relationships/notesSlide" Target="/ppt/notesSlides/notesSlide29.xml" Id="R0f9ea93184be44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f60ee5774ff4" /><Relationship Type="http://schemas.openxmlformats.org/officeDocument/2006/relationships/image" Target="/ppt/media/image30.png" Id="Rae56d6ac23924412" /><Relationship Type="http://schemas.openxmlformats.org/officeDocument/2006/relationships/hyperlink" Target="https://petrnikitin20.github.io/PML/" TargetMode="External" Id="Re9cbda80b8cf4fdf" /><Relationship Type="http://schemas.openxmlformats.org/officeDocument/2006/relationships/notesSlide" Target="/ppt/notesSlides/notesSlide30.xml" Id="R7ef15a8bf4d042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6aa5e919e4ba2" /><Relationship Type="http://schemas.openxmlformats.org/officeDocument/2006/relationships/image" Target="/ppt/media/image31.png" Id="R1a027a45c3894fbc" /><Relationship Type="http://schemas.openxmlformats.org/officeDocument/2006/relationships/hyperlink" Target="https://petrnikitin20.github.io/PML/" TargetMode="External" Id="R6e8ff89821604443" /><Relationship Type="http://schemas.openxmlformats.org/officeDocument/2006/relationships/notesSlide" Target="/ppt/notesSlides/notesSlide31.xml" Id="R6a12ef5d772243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e3470534643d2" /><Relationship Type="http://schemas.openxmlformats.org/officeDocument/2006/relationships/image" Target="/ppt/media/image32.png" Id="Rc7a1bd990c404190" /><Relationship Type="http://schemas.openxmlformats.org/officeDocument/2006/relationships/hyperlink" Target="https://petrnikitin20.github.io/PML/" TargetMode="External" Id="Rf957d7ac8ebd4a2a" /><Relationship Type="http://schemas.openxmlformats.org/officeDocument/2006/relationships/notesSlide" Target="/ppt/notesSlides/notesSlide32.xml" Id="R4119b5769ff14c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54c36d27e4998" /><Relationship Type="http://schemas.openxmlformats.org/officeDocument/2006/relationships/image" Target="/ppt/media/image33.png" Id="Rbc45f493cc0745d9" /><Relationship Type="http://schemas.openxmlformats.org/officeDocument/2006/relationships/image" Target="/ppt/media/image34.png" Id="R3871dbba0e3b4d0e" /><Relationship Type="http://schemas.openxmlformats.org/officeDocument/2006/relationships/hyperlink" Target="https://petrnikitin20.github.io/PML/" TargetMode="External" Id="R1d033f3d638f4d6e" /><Relationship Type="http://schemas.openxmlformats.org/officeDocument/2006/relationships/notesSlide" Target="/ppt/notesSlides/notesSlide33.xml" Id="R6cd64bc892864a7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ea2dd9a504d2a" /><Relationship Type="http://schemas.openxmlformats.org/officeDocument/2006/relationships/image" Target="/ppt/media/image35.png" Id="R615dfdf9183f4523" /><Relationship Type="http://schemas.openxmlformats.org/officeDocument/2006/relationships/image" Target="/ppt/media/image36.png" Id="R8ea3111a2e9948ca" /><Relationship Type="http://schemas.openxmlformats.org/officeDocument/2006/relationships/hyperlink" Target="https://petrnikitin20.github.io/PML/" TargetMode="External" Id="R180df5542a7e4f42" /><Relationship Type="http://schemas.openxmlformats.org/officeDocument/2006/relationships/notesSlide" Target="/ppt/notesSlides/notesSlide34.xml" Id="Racb9fbcd90a049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e8bfd61194356" /><Relationship Type="http://schemas.openxmlformats.org/officeDocument/2006/relationships/image" Target="/ppt/media/image37.png" Id="R4962bca338df4fab" /><Relationship Type="http://schemas.openxmlformats.org/officeDocument/2006/relationships/hyperlink" Target="https://petrnikitin20.github.io/PML/" TargetMode="External" Id="Rba1871ea6c0142a4" /><Relationship Type="http://schemas.openxmlformats.org/officeDocument/2006/relationships/notesSlide" Target="/ppt/notesSlides/notesSlide35.xml" Id="Rdcad8f30df7c4e5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4ebb19b5d4851" /><Relationship Type="http://schemas.openxmlformats.org/officeDocument/2006/relationships/image" Target="/ppt/media/image38.png" Id="R56fc78f4472d4aa5" /><Relationship Type="http://schemas.openxmlformats.org/officeDocument/2006/relationships/chart" Target="/ppt/slides/charts/chart1.xml" Id="Rebf67090c33c41e5" /><Relationship Type="http://schemas.openxmlformats.org/officeDocument/2006/relationships/hyperlink" Target="https://petrnikitin20.github.io/PML/" TargetMode="External" Id="R023a45e074df4d68" /><Relationship Type="http://schemas.openxmlformats.org/officeDocument/2006/relationships/notesSlide" Target="/ppt/notesSlides/notesSlide36.xml" Id="Rff6e662fb7bc41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c935562134315" /><Relationship Type="http://schemas.openxmlformats.org/officeDocument/2006/relationships/image" Target="/ppt/media/image39.png" Id="Rce48c824bd00472f" /><Relationship Type="http://schemas.openxmlformats.org/officeDocument/2006/relationships/hyperlink" Target="https://petrnikitin20.github.io/PML/" TargetMode="External" Id="R47f094836bbc4e9e" /><Relationship Type="http://schemas.openxmlformats.org/officeDocument/2006/relationships/notesSlide" Target="/ppt/notesSlides/notesSlide37.xml" Id="Re195ac5173fe4d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c82c582e04dc5" /><Relationship Type="http://schemas.openxmlformats.org/officeDocument/2006/relationships/image" Target="/ppt/media/image40.png" Id="Rfb399d3310fd44b0" /><Relationship Type="http://schemas.openxmlformats.org/officeDocument/2006/relationships/hyperlink" Target="https://petrnikitin20.github.io/PML/" TargetMode="External" Id="Raf57a5b3955040af" /><Relationship Type="http://schemas.openxmlformats.org/officeDocument/2006/relationships/notesSlide" Target="/ppt/notesSlides/notesSlide38.xml" Id="Reb6f964b1110496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13d1cc0c34e44" /><Relationship Type="http://schemas.openxmlformats.org/officeDocument/2006/relationships/image" Target="/ppt/media/image41.png" Id="Rd28ca89602dd4b88" /><Relationship Type="http://schemas.openxmlformats.org/officeDocument/2006/relationships/hyperlink" Target="https://petrnikitin20.github.io/PML/" TargetMode="External" Id="R33cea12cfdfa4d17" /><Relationship Type="http://schemas.openxmlformats.org/officeDocument/2006/relationships/notesSlide" Target="/ppt/notesSlides/notesSlide39.xml" Id="R3ef97edb7d6d4a7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884a7592f4d29" /><Relationship Type="http://schemas.openxmlformats.org/officeDocument/2006/relationships/image" Target="/ppt/media/image42.png" Id="R60ecd90a45d049be" /><Relationship Type="http://schemas.openxmlformats.org/officeDocument/2006/relationships/hyperlink" Target="https://petrnikitin20.github.io/PML/" TargetMode="External" Id="Rab42569396164125" /><Relationship Type="http://schemas.openxmlformats.org/officeDocument/2006/relationships/notesSlide" Target="/ppt/notesSlides/notesSlide40.xml" Id="R901a3c5688004ce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4a36a73164a0b" /><Relationship Type="http://schemas.openxmlformats.org/officeDocument/2006/relationships/image" Target="/ppt/media/image43.png" Id="R567083e9941d463b" /><Relationship Type="http://schemas.openxmlformats.org/officeDocument/2006/relationships/hyperlink" Target="https://arxiv.org/abs/1706.03762" TargetMode="External" Id="R91abe022048f4534" /><Relationship Type="http://schemas.openxmlformats.org/officeDocument/2006/relationships/hyperlink" Target="https://aclanthology.org/N19-1423/" TargetMode="External" Id="R00439743ce3c44e7" /><Relationship Type="http://schemas.openxmlformats.org/officeDocument/2006/relationships/hyperlink" Target="https://arxiv.org/abs/1908.10063" TargetMode="External" Id="R7991c1fcbfa243bc" /><Relationship Type="http://schemas.openxmlformats.org/officeDocument/2006/relationships/hyperlink" Target="https://arxiv.org/abs/2407.21783" TargetMode="External" Id="R2e4f289634d8418f" /><Relationship Type="http://schemas.openxmlformats.org/officeDocument/2006/relationships/hyperlink" Target="https://arxiv.org/abs/2310.06825" TargetMode="External" Id="R8e96bf82bdc54cee" /><Relationship Type="http://schemas.openxmlformats.org/officeDocument/2006/relationships/hyperlink" Target="https://arxiv.org/abs/2412.15115" TargetMode="External" Id="Re9004bcec3744b40" /><Relationship Type="http://schemas.openxmlformats.org/officeDocument/2006/relationships/hyperlink" Target="https://aclanthology.org/2025.acl-demo.10/" TargetMode="External" Id="R49c850ad9266443a" /><Relationship Type="http://schemas.openxmlformats.org/officeDocument/2006/relationships/hyperlink" Target="https://huggingface.co/docs/transformers/" TargetMode="External" Id="R8da7731ae0e54bf0" /><Relationship Type="http://schemas.openxmlformats.org/officeDocument/2006/relationships/hyperlink" Target="https://petrnikitin20.github.io/PML/" TargetMode="External" Id="Rfc0d4ec02ac44a7a" /><Relationship Type="http://schemas.openxmlformats.org/officeDocument/2006/relationships/notesSlide" Target="/ppt/notesSlides/notesSlide41.xml" Id="R226c17d8f96847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12d9d92314bd5" /><Relationship Type="http://schemas.openxmlformats.org/officeDocument/2006/relationships/image" Target="/ppt/media/image44.png" Id="Rd409ac18aea94d21" /><Relationship Type="http://schemas.openxmlformats.org/officeDocument/2006/relationships/hyperlink" Target="https://petrnikitin20.github.io/PML/lab1-nlp.html" TargetMode="External" Id="Rf8b9dbb4b9c94dc7" /><Relationship Type="http://schemas.openxmlformats.org/officeDocument/2006/relationships/hyperlink" Target="https://petrnikitin20.github.io/PML/" TargetMode="External" Id="R9f709941e1044ee4" /><Relationship Type="http://schemas.openxmlformats.org/officeDocument/2006/relationships/notesSlide" Target="/ppt/notesSlides/notesSlide42.xml" Id="R171a35bd09ea47d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f6759ab84e68" /><Relationship Type="http://schemas.openxmlformats.org/officeDocument/2006/relationships/image" Target="/ppt/media/image45.png" Id="Rfa86bf6c37e848e0" /><Relationship Type="http://schemas.openxmlformats.org/officeDocument/2006/relationships/hyperlink" Target="https://petrnikitin20.github.io/PML/" TargetMode="External" Id="R64b7aad7e3b94957" /><Relationship Type="http://schemas.openxmlformats.org/officeDocument/2006/relationships/notesSlide" Target="/ppt/notesSlides/notesSlide43.xml" Id="Rec1fd32fa4fd47f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229bece79414e" /><Relationship Type="http://schemas.openxmlformats.org/officeDocument/2006/relationships/image" Target="/ppt/media/image46.png" Id="R2afc48fa623f4b66" /><Relationship Type="http://schemas.openxmlformats.org/officeDocument/2006/relationships/hyperlink" Target="https://petrnikitin20.github.io/PML/" TargetMode="External" Id="R03eb0d4594294a27" /><Relationship Type="http://schemas.openxmlformats.org/officeDocument/2006/relationships/notesSlide" Target="/ppt/notesSlides/notesSlide44.xml" Id="Rec3130eddceb4c9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6f94a691d4ac1" /><Relationship Type="http://schemas.openxmlformats.org/officeDocument/2006/relationships/image" Target="/ppt/media/image47.png" Id="R8cedfcd31b914d76" /><Relationship Type="http://schemas.openxmlformats.org/officeDocument/2006/relationships/hyperlink" Target="https://petrnikitin20.github.io/PML/" TargetMode="External" Id="R9018c0d99dc84e75" /><Relationship Type="http://schemas.openxmlformats.org/officeDocument/2006/relationships/notesSlide" Target="/ppt/notesSlides/notesSlide45.xml" Id="Re3b2a132396d404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235fe277f44e6" /><Relationship Type="http://schemas.openxmlformats.org/officeDocument/2006/relationships/image" Target="/ppt/media/image48.png" Id="R41ec3ab479da4a0f" /><Relationship Type="http://schemas.openxmlformats.org/officeDocument/2006/relationships/hyperlink" Target="https://petrnikitin20.github.io/PML/" TargetMode="External" Id="Rce3ef8cda0974867" /><Relationship Type="http://schemas.openxmlformats.org/officeDocument/2006/relationships/notesSlide" Target="/ppt/notesSlides/notesSlide46.xml" Id="R201c164af0c9477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eedd4613a4c2a" /><Relationship Type="http://schemas.openxmlformats.org/officeDocument/2006/relationships/image" Target="/ppt/media/image49.png" Id="Re3ace4246feb4bfa" /><Relationship Type="http://schemas.openxmlformats.org/officeDocument/2006/relationships/hyperlink" Target="https://petrnikitin20.github.io/PML/" TargetMode="External" Id="R247c67e09f3c4fc7" /><Relationship Type="http://schemas.openxmlformats.org/officeDocument/2006/relationships/notesSlide" Target="/ppt/notesSlides/notesSlide47.xml" Id="Re8048aaa702e46f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b736c82ee4d26" /><Relationship Type="http://schemas.openxmlformats.org/officeDocument/2006/relationships/image" Target="/ppt/media/image50.png" Id="R0a2a7b96ac014325" /><Relationship Type="http://schemas.openxmlformats.org/officeDocument/2006/relationships/hyperlink" Target="https://petrnikitin20.github.io/PML/" TargetMode="External" Id="R95bdd2051ee1430d" /><Relationship Type="http://schemas.openxmlformats.org/officeDocument/2006/relationships/notesSlide" Target="/ppt/notesSlides/notesSlide48.xml" Id="Rffcd675d40e34f3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946d2ecea457a" /><Relationship Type="http://schemas.openxmlformats.org/officeDocument/2006/relationships/image" Target="/ppt/media/image51.png" Id="R2a3d50664e3d4de1" /><Relationship Type="http://schemas.openxmlformats.org/officeDocument/2006/relationships/hyperlink" Target="https://petrnikitin20.github.io/PML/" TargetMode="External" Id="R62e288a829c849cf" /><Relationship Type="http://schemas.openxmlformats.org/officeDocument/2006/relationships/notesSlide" Target="/ppt/notesSlides/notesSlide49.xml" Id="Rb0341718b3b3458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4e20d079454a" /><Relationship Type="http://schemas.openxmlformats.org/officeDocument/2006/relationships/image" Target="/ppt/media/image52.png" Id="Rc40ead8ffd274798" /><Relationship Type="http://schemas.openxmlformats.org/officeDocument/2006/relationships/hyperlink" Target="https://petrnikitin20.github.io/PML/" TargetMode="External" Id="R855e34d792f14089" /><Relationship Type="http://schemas.openxmlformats.org/officeDocument/2006/relationships/notesSlide" Target="/ppt/notesSlides/notesSlide50.xml" Id="Rd77de54b8c9a4b0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753c10a074c34" /><Relationship Type="http://schemas.openxmlformats.org/officeDocument/2006/relationships/image" Target="/ppt/media/image53.png" Id="R56d44e10e2744b4a" /><Relationship Type="http://schemas.openxmlformats.org/officeDocument/2006/relationships/hyperlink" Target="https://petrnikitin20.github.io/PML/" TargetMode="External" Id="Rb86e2636ab4b40c7" /><Relationship Type="http://schemas.openxmlformats.org/officeDocument/2006/relationships/notesSlide" Target="/ppt/notesSlides/notesSlide51.xml" Id="R30dd96ee8278464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2a64fe6ee4127" /><Relationship Type="http://schemas.openxmlformats.org/officeDocument/2006/relationships/image" Target="/ppt/media/image54.png" Id="R50b63f9aac3f4a91" /><Relationship Type="http://schemas.openxmlformats.org/officeDocument/2006/relationships/hyperlink" Target="https://petrnikitin20.github.io/PML/" TargetMode="External" Id="R1e8bba453ce948f5" /><Relationship Type="http://schemas.openxmlformats.org/officeDocument/2006/relationships/notesSlide" Target="/ppt/notesSlides/notesSlide52.xml" Id="Re0a86b657db04e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116A6E"/>
            </a:solidFill>
          </c:spPr>
          <c:cat>
            <c:strRef>
              <c:f>'Chart Data'!$A$2:$A$9</c:f>
              <c:strCache>
                <c:ptCount val="8"/>
                <c:pt idx="0">
                  <c:v>TF-IDF</c:v>
                </c:pt>
                <c:pt idx="1">
                  <c:v>BiLSTM</c:v>
                </c:pt>
                <c:pt idx="2">
                  <c:v>RuBERT</c:v>
                </c:pt>
                <c:pt idx="3">
                  <c:v>FinBERT</c:v>
                </c:pt>
                <c:pt idx="4">
                  <c:v>XLM-R</c:v>
                </c:pt>
                <c:pt idx="5">
                  <c:v>Qwen2.5</c:v>
                </c:pt>
                <c:pt idx="6">
                  <c:v>Llama 3.1</c:v>
                </c:pt>
                <c:pt idx="7">
                  <c:v>GigaChat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0.682</c:v>
                </c:pt>
                <c:pt idx="1">
                  <c:v>0.711</c:v>
                </c:pt>
                <c:pt idx="2">
                  <c:v>0.781</c:v>
                </c:pt>
                <c:pt idx="3">
                  <c:v>0.803</c:v>
                </c:pt>
                <c:pt idx="4">
                  <c:v>0.796</c:v>
                </c:pt>
                <c:pt idx="5">
                  <c:v>0.824</c:v>
                </c:pt>
                <c:pt idx="6">
                  <c:v>0.806</c:v>
                </c:pt>
                <c:pt idx="7">
                  <c:v>0.818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3c6e74b5f4d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AE65B-204F-4DCB-AA1C-B4BD977D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58EC7-59EE-481E-8C6E-8E645A0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B2DA7-B4E0-4877-839F-E92D94B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ПРИКЛАДНЫЕ ЗАДАЧИ МАШИННОГО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316C8-8562-41BA-B127-37C6BA96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00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Обработка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естественного языка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60B1-8B41-4D63-A0A3-2AA02BA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Теория, архитектуры LLM, математика, код и демонстрационный пример лабораторной работы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E1835-8776-4A1B-9C97-A4674B6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96b2332bf42d4e77"/>
              </a:rPr>
              <a:t>petrnikitin20.github.io/PML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F7FA6-F12E-43CC-A73D-68638E6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Петр Владимирович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1188834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d4908bfc41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7A683-DF41-46E8-BDF0-77880517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8CC4-1AD6-42DB-AA7A-496ADB8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РПД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9D66-34CE-45BE-AA43-322BE58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1024-FBEF-42A0-BA2C-7927BC5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Место NLP в дисциплине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CE8FF-0DCF-46FF-917E-8D5447D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Содержание сначала следует РПД, затем переходит к исследовательскому заданию лабораторной работы.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69DAB-756A-4E16-85AC-9CB79B77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308EC-E84F-4486-9BF4-032D64F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2E484-AC25-47CF-9B93-61AB5679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Токенизация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4E90-05DE-4E12-8B0E-F503C30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BPE, SentencePiece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048A6-973B-4DF7-8F1D-5053828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73FAC-81FF-404B-B0F2-7DEB49FC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AF98A-0ECA-4390-8034-41162E27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Представления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2E4D4-BD4E-4300-9447-04CE5D1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Word2Vec, GloVe, FastText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F6629-22CF-4885-8B78-119F74A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1BA21-1E62-4310-B4E4-B25FE6B6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A9EE1-A40E-47B2-B387-8EE363B9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Последовательности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751FC-810A-4267-99DC-3D2DC43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RNN, LSTM, GRU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0BA58-A363-4330-8F81-B9836270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ED5D7-86FB-41BA-8C2F-4EDE9B68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503CB-1F5B-45B0-9247-440C3B48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51208-D4ED-4775-ACD9-F5342F6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attention, encoder, decoder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E3DA6-0B21-489E-9B89-DFA4789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7AF5E-62F5-4671-A998-E19E33C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F4C46-B769-4443-91E8-4F49A55E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Модели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A02F5-F6C8-4A3A-89FA-D1250A9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BERT, GPT, Llama, Mistral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47D38-C38C-493A-B6FA-F0AC8D0F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5C081-08D5-4D72-AADB-0554AC5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95783-2FA9-47CB-B122-7CBEE7FA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58068-AE19-43BD-99A5-D523030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классификация, NER, суммаризация, генерация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C6D62-5A83-4B84-B48B-33841683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c453438025748f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62722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9360779714d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581E9-2EC3-4E8D-9A15-9408944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38A3-DB52-45C7-824F-DFA8728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64C82-E97F-4310-B570-CCB4EA6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1BF66-5CE3-473F-85B9-83C2B10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должен доказать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A77C3-7D95-49AB-8384-9380E3BC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выбирается по заранее объявленному правилу, а не по одной удобной метрике.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BD3F4-0A02-47A7-AB83-15519292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5B067-1AD8-4225-BAFF-8DBBB79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1D791-F789-4A66-8996-E56DB83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Гипотеза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79B2C-3FDD-4BF6-832A-8E31D4B0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Связать NLP-задачу с ВКР, найти пробел и сформулировать проверяемый эффект.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D0BC2-A0BC-47F6-BBFC-8D3010F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5D742-BD88-4B6B-8F98-76D3B49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0C651-BDC7-4CC5-B431-B7D99A83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Честный протокол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D2FC9-0FAF-4D71-B8AF-F8B7764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Лицензия, temporal split, дубликаты, персональные данные и защита от утечки.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7A571-4F81-4FB6-BC83-04B9219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81E87-601F-4340-8B1E-EA165E0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МОДЕЛИ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03CD-81EC-4938-8AF8-F5A4FA1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Семь или восемь вариантов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0278A-321A-4C1A-AF42-1FF5A34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Baseline, BiLSTM/GRU, encoder, предметная модель и instruction-модели.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AA4EF-7C65-4962-9E7A-C90C9E2C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BAC15-3AA1-4C5E-A7A7-0DC9BA71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899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обзор → пробел → гипотеза → эксперимент → 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8B772-6304-4DF3-9828-2EF4112C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логика лабораторной работы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2A76B-E822-42A9-AFD2-1FA5E61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9ce7a8e7b6f4cb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16238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ef9fcfbf345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BB9DD-4AE7-4DE7-9E76-BE58A8E8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02F3-F9F1-48FC-9D1C-AACDBDD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ПРИКЛАДНОЙ КЕЙС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B276-2D05-4174-A35E-861E3287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486A2-C414-41DF-BA63-2B0BC8A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Пример: финансовая новость как структурированный сигнал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62264-B2A5-4498-B5C0-CDAA9E90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Выход не является инвестиционной рекомендацией. Он становится признаком следующего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262A-F7A3-4FE9-B5AD-FFD7B68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B8B04-9140-4F52-B295-184747B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 новости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EF28D-CD0C-4EB9-A027-41845EEA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18AEF-AA90-4FA1-B595-58534F5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C9A66-447D-4059-BD2E-D380B5FE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NER + событие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61280-839F-43FC-B11F-CE11F9E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FACF8-4C90-4D20-9ACF-60E35739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D8E14-D6F8-4A38-B9F9-98F1B5C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Тональность +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F3CB8-02CA-434E-AED9-E33681B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98A92-BE2E-4A6A-B4B2-1038F24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7D816-FF67-4CAC-96F2-560A563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+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31F0B-ACC9-43D0-9B93-5982A683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JSON: ticker · entity span · event type · sentiment ∈ {−1,0,1} · confidence · evidence span · abstain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9F2A1-2DBB-4415-AFEB-D108018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Пользователь результата: рекомендательная система и исследователь, который проверяет доказательный фрагмент.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BD3D4-2E3D-4313-A71D-39F95D65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ac0c4253bc34c3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38405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a2872b0e348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2CC68-A31A-40AA-9BB9-3F3FE63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91AB-BDAC-4DA9-93BF-633B2E29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E9861-A371-4CBA-A929-8F3D8E6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6FC13-AA6B-4BD3-A48B-A817808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Обзор литературы нужен до выбора архитектуры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445B-7F1A-4D8E-A010-A409122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Его результатом становится карта методов и проверяемая гипотеза, а не перечень пересказанных статей.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86C62-0AD1-433B-BA5C-AC279E0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A58EE-E84E-4A4C-9F98-66F79FF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ДЛЯ КАЖДОЙ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AAB3C-7D6D-4FDD-9BA7-67D547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Извлечь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51C88-90B2-4A91-B2CA-573A76E4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Задача, данные, метод, метрики, сильные стороны, ограничения и переносимость.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34DCC-6F27-4C1D-80B6-1AD2CE9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AA19C-5530-4ABF-84EF-F7602F50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ПОСЛЕ СИНТЕЗА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B4376-3372-4DD6-84AA-01D8C7A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Сформулировать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15AB8-8E51-4298-B986-1E5D9D5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Какой метод остается сильным baseline и где опубликованные решения расходятся.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FDF5F-B00C-4302-AE28-E7247ACE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9B321-6BA5-4A9B-A570-C47B14FB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ДЛЯ ЭКСПЕРИМЕНТА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7B6E1-FDEF-4B7D-81C1-C2DF618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Зафиксировать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9EFE7-7B4D-4D0B-946E-3473887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Пробел, H1–H4, критерий подтверждения и необходимый срез данных.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DE810-1783-48F4-AFBD-6A1B6EBD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Пример H1: предметная адаптация повышает Macro-F1 не менее чем на 0,03 относительно общего encoder-baseline.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65226-A060-475D-A208-A8B4235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83554cce43542e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118746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9e214f46f44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02825-4F26-4E44-93AB-DBCCE26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5CF25-DCCE-494C-B757-65E8CC0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ПРЕДСТАВЛЕНИЕ ТЕКСТА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3A195-5107-4937-901C-48C62B3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593B6-0174-416E-B5B3-1557C278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От символа к вектору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F36F6-F5E9-4099-98E7-0C9EE9DB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Нейросеть получает номера токенов, затем преобразует их в обучаемые плотные представления.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50418-0CF0-4A69-B31B-7240B69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21391-E8C6-42E5-9ED4-BF92047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Строка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«рост прибыли»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C8742-C5B4-4FD0-B856-D6F3F301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FEC15-3150-46ED-B1B9-ECB0DB34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5894A-90BD-4E36-BEDE-ECE28AA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Токены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[рост, при, ##были]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8D769-C013-4D5F-A0E8-6A5EA958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394F3-3649-457B-8C78-DE8AF9B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54578-6891-4609-9A65-BB6EDA3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[1842, 531, 908]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0C44A-0975-4F50-9054-D2509BE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D999F-AC35-42AB-B269-D3390E3C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ADC5E-A4C0-4659-8556-4143352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Embeddings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 ∈ ℝⁿˣᵈ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DF574-9E60-4475-B7BB-7603C28D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2987F-6F22-4D96-B555-D741DCFA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670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x_i = E[token_i] + P_i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6F3D4-D21B-42D4-86EF-8EFF3A5C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244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token embedding + positional representation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C9B69-DB11-49D4-805F-1C164F4A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One-hot хранит только идентичность. Embedding учится так, чтобы полезная для задачи близость отражалась в геометрии.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3BC5-1629-4FC4-A9C4-E950F82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f94908ed6e145e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93346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b1366c8f942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A2DE9-7E67-4172-BAB0-E6203D1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96697-6BF2-4797-9F4F-05AD425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ТОКЕНИЗАЦИЯ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F33EE-7FD7-47C8-B142-A4A059E6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1362F-8BD3-4BDE-B8FD-F6F2AEC4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BPE и SentencePiece решают проблему открытого словаря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9614C-63E2-4CFC-9A26-C472DD8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Редкое слово разбивается на повторно используемые части, но границы токенов влияют на NER и стоимость.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67155-DC42-4567-91C1-754E8507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41E3B-4645-40A2-A177-07D54384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BPE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8F3DD-DEAF-43D0-9FF9-5F974C9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Частые слияния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F96A1-663F-437A-AEE6-99007CC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895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Итеративно объединяет наиболее частые пары символов или токенов. Хорошо контролируется, но зависит от предварительной сегментации.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10456-371F-4801-B8E8-AFBA34EF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219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5D5D4-C236-4D42-8AE2-BF6D9639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SENTENCEPIECE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723D8-5C24-4789-8867-EE6E14E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 без предварительного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BB51B-1039-4D14-8693-34226AB1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4876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Обучает BPE или unigram-модель непосредственно на Unicode-строке. Удобен для многоязычных корпусов.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E86B5-9FAC-4389-B40F-279664B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F0BDE-B990-4872-ACBA-65FBC7FF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746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cost ≈ number of input tokens × model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4B9E7-9DB5-433E-AD31-B0408BB4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 лабораторной фиксируются max_length и доля усечения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601E6-B6FE-4122-9555-B4417D90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3e1b2ff8bb64cd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53222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afdb8b32949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0EDF2-EAE0-43D2-AA3B-CA8A25F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BC77A-74C4-4B12-BA03-4439E37A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ЭМБЕДДИНГИ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C1047-7E6F-44BB-AB6A-444D280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85D66-004B-41D8-A9EF-1C278B6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8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Статические и контекстные представления отвечают на разные вопросы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68A66-54C1-4122-B339-F826A6C4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вектор слова не различает значение без контекста. Transformer вычисляет вектор для каждого употребления.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84CDF-8414-4E2B-8438-5B44B51B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C3677-8305-4387-8E2D-5C6008EC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WORD2VEC / GLOVE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C89B7-5EEA-40D1-BDA3-259A6CCF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Статические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FD2EF-BA43-4F57-ADCA-27CF748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вектор на слово. Быстрый baseline, но полисемия не разделяется.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5B161-12FF-4034-89EC-432D233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280C0-7930-4E1E-B6C1-B4F0A31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FASTTEXT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3126A-FC09-42CF-95BB-4B2FC96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Субсловные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EBE39-3388-4412-B6A3-28A46235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складывается из n-грамм. Лучше для морфологии и редких слов.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C967C-FD02-402B-AA9C-2A500209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5C161-4A1C-4048-B675-811ACA2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BERT /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B2C8B-F71A-4882-9B56-38A55913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Контекстные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296F5-D2D9-4A19-BCD6-C51D4F0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токена зависит от всего доступного контекста и выбранной mask.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D68E3-8754-4CDB-BDD6-19E0618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A05C1-9731-4E8F-AD56-4A96E8FA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0"/>
            <a:ext cx="613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sim(u,v) = (u · v) / (||u||₂ ||v||₂)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671ED-9795-4038-A0A3-2B4D154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34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косинусная близость для retrieval и проверки эмбеддингов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4A9E6-778A-4C75-B7EA-51E7B203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2a04b3aa3084da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53722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3f78624b944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B0BC3-D4CF-449F-9695-C4966647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A3541-D23C-465E-A61B-0B95F2E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RNN · LSTM · GRU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E7866-F591-433A-8C89-730707C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FAB28-1258-4D64-AC8C-321F39D7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Рекуррентная сеть читает последовательность по шагам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CCB10-F654-453E-AA36-7AFDD04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LSTM и GRU управляют памятью через обучаемые ворота, но обучение трудно распараллелить по длине.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7CE49-447C-41C2-A8AC-9116A66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06983-75EE-4F3F-9D49-36AA64D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B830E-80FB-4FED-93CF-8D8370AC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38CBA-B0A4-4296-A595-767115B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59B6E-88D5-4D16-9FB3-F2B4276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hₜ₋₁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C8E78-8699-47BF-ADDE-862B70E1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90D62-11D4-4D60-846F-F671DA1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E2739-8AA7-451D-A51F-3CB6083A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5D624-DCE6-46E6-911B-6AEB006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78C60-7E52-4FF2-87D0-163537D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504F5-AD03-4643-904A-A6B7EFF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457BB-716B-4CCC-88AE-D894A1E0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23C72-F39D-4F27-A02C-BB033CD7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75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iₜ=σ(Wᵢxₜ+Uᵢhₜ₋₁),  fₜ=σ(W_f xₜ+U_f hₜ₋₁),  cₜ=fₜ⊙cₜ₋₁+iₜ⊙c̃ₜ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3F086-345C-4C53-A341-D98D4F9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основные ворота LSTM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97FC-DFAA-45E8-8BAF-503BDF82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BiLSTM остается полезным baseline: он показывает, какую часть качества дает последовательное моделирование без предобученного Transformer.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8BAB1-E562-4372-BE8B-2E670CA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4388fd2d1f6423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49679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f7a152d034d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295BE-87E3-48C1-B90B-F76D73D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A6AF7-4478-40D6-8C45-4D7DFE10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BCEA7-38F9-4123-8DBE-2F0A3A8A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091CC-9633-46D5-9217-4A8C338C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Self-attention связывает каждый токен с релевантным контекстом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0A379-215D-4582-B12A-C7B6D56E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Query задает запрос, Key — адрес признака, Value — передаваемое содержание.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05B06-7BC5-4FEF-B9AA-46696D7E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C1342-BB34-4584-B4AF-C366640B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8610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Attention(Q,K,V) = softmax(QKᵀ / √dₖ)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9F589-46B3-41F6-8461-FCF7D4B2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масштабирование стабилизирует softmax при росте размерности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F9CA8-ABE4-4FEA-8530-122E365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D553F-B399-4FE9-BB0C-79E017F1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EDB43-B355-4F36-AA15-934CE8BD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AAF73-A6ED-4A9A-8305-5A0E6200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29637-1D2B-4965-8E0C-D47E33B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 = XWQ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K = XWK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 = XWV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10DC1-8FCD-4AEF-96A9-4318D4F1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5D372-53DA-49E3-9B63-E4D0C94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1C328-DB09-4EF0-9D69-1CBCEC4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Матрица весов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 ∈ ℝⁿˣⁿ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A5C00-06FA-447E-803A-E651B2A0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9753D-1013-42D0-B6AC-7429233D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7A7BB-E7A8-42A5-97F2-AB0A41C5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Контекст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Z = AV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2B297-20A9-4282-AD7D-C54CE172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8c2f575e9f64c26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34099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8a69828fc47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5C876-B3C3-459E-B925-FA0D460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C827-911B-4EF2-B35A-0CD3B827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AB8D4-76B4-4579-B929-8746D6E0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B0186-5963-42CD-BC8A-0F1BEA9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Multi-head attention ищет несколько типов связи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2A3D1-7562-4990-8E32-0FC52106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Каждая голова имеет собственные проекции Q, K, V; результат объединяется и смешивается линейным слоем.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A131-D0DE-478E-8788-22BF887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65C11-98A3-42E1-9D6F-DFEDA461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47875"/>
            <a:ext cx="861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headᵢ = Attention(QWᵢQ, KWᵢK, VWᵢV)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A366-C92A-4437-9CC9-E9E9C9DA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D9286-8311-49A9-AA49-D9C0353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90875"/>
            <a:ext cx="861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MHA(Q,K,V) = Concat(head₁,…,head_h) Wᴼ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FC538-9898-40FC-9396-1257AEF0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3D13F-0727-43F9-AB25-E050742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792E4-049F-4D73-AE64-7826A9E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7FD8B-3E18-4C0B-831E-DA7B532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073FC-6099-45B7-A0B2-EB85923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Multi-Head Attention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42985-98D9-4918-A8B5-29D8984E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69A6A-D2D6-4C60-8FD4-D34AFB04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C7973-30B0-4D10-87E2-DC03E65F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0C028-FB25-4D95-AFBC-909B3E3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A2B90-8250-487E-8812-F636B040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500C9-0ED2-4A27-B3D2-C14537F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FFN: GELU / SwiGLU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393FD-B43B-410D-8214-6B1A738F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e053896da1b450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85007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ba4a13d1847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0C3B-3013-4B35-8E3C-F35098B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34B92-3C2D-4568-ACEF-9C3C47F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A238-BCE9-443B-AE58-3BF25B9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BC713-600E-4799-A024-ED8BDC09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Mask определяет, какую информацию видит токен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B3C15-ECAE-40BE-B3ED-AE07A70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Архитектура и objective вместе задают сильные и слабые стороны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337C-B65B-480D-B407-6E6987E6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947EA-936D-4BA0-8BE6-0DB7D5C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C0947-60B3-431A-B5DB-99B70F6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F8828-47C2-406D-8B21-26EA3B73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токены видят друг друга. Удобно для классификации, NER и embeddings.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9DB83-8171-4777-8709-D0EB6AF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40785-D8C1-45D4-8BAA-30E648DE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03EBA-BC28-4592-A0B4-B9CCD1C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Causal 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3F9DB-C8F8-4097-9902-DA33F7FE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Токен видит только прошлое. Удобно для генерации и instruction following.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01E58-716C-4FD0-9D15-8A148AF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D18D9-319D-4E3B-98B0-E6AF274F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ENCODER–DECODER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4C018-07AF-4F76-8605-63FE33C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Cross-attention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72766-A463-4C43-8C37-920F29A6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читает вход, decoder генерирует выход. Подходит для перевода и суммаризации.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0677F-B461-42AD-B768-E65D057A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7334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C3EE4-BCB3-4FFB-83B8-685F174D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Mᵢⱼ = 0, если j ≤ i;  Mᵢⱼ = −∞, если j &gt; 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8674A-825E-495C-A1D1-5E141AE6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054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attention mask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341E8-3A4E-42F4-91F5-8C8D3E1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e1c4a7c40944c1c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235589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9ca4cf39c49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E7E5E-7832-48D9-874C-A9CFBE7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A281A-4B95-4007-B0C7-9803BB7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F45F9-3C1B-4221-8021-3FC182D2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36BFB-324D-4945-9803-2B078B8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E5B9C-9926-431C-A094-BBB1132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Bidirectional Transformer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428C8-DA9C-4840-B1BC-5F2356FC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F148C-A47C-450B-B385-8444DD8F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90CAF-169F-4108-BD54-E8BBDCB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461BA-F219-4747-A742-3309475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 или 24 encoder-блока; [CLS] агрегирует последовательность, токенные представления используются для 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176A6-3F72-4020-952E-C9C1DB4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816CA-D494-4651-8720-F60A65B3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B2379-4861-4D08-96B5-0E61DF3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B89C0-0F6E-4967-B525-37D39B2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Masked Language Modeling: восстановление случайно скрытых токенов.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1D8F4-707B-4BE4-A330-76F2678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EDBCD-B4FA-4D0E-8AAE-A84DE878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53FCF-7443-4B3D-AE1B-49C83ED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4CDB1-6B09-401C-AEE4-7F3CB416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 тональности и NER на общей архитектуре.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EE658-C473-415C-BB57-9E3C8CD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02C1D-06F1-4539-8948-8C53C8D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L_MLM = − Σ_{i∈M} log p(xᵢ | x_{M})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13D84-80C3-4B61-9FBB-F06F4A7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FF3C6-BCFE-4618-8BAD-2F95DA9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Не генерирует свободный текст авторегрессионно и требует fine-tuning для целевой схемы.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BC281-D2C1-4FEF-99B7-829AAA0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126e1eaba414cc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72769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34c60222d44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703B8-B926-41AC-94EE-6C7C8191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6DFF5-F3CE-49F1-807B-6F139F91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CC23-8474-4F43-8519-617134BB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18B2-3A2D-4E8A-8F50-340E3E3E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RuBERT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4342A-6053-41B1-848E-6C9FDFC1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BERT, адаптированный к русскому языку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829C1-BDB1-4BDF-934F-28BCD1F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2225C-F87F-4E68-A267-E53A2A4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356CC-4FD0-4631-921F-8411792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E7915-CDD3-4D3A-8544-1AF91EA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Encoder-only Transformer с русскоязычным словарем и предобучением на русском корпусе.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1E62E-BFFF-49D7-A232-C6F54D76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28EFB-AB5B-441B-B693-52DAB7CA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D6BD2-8EFF-46B2-8755-3A12498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13E43-5A5D-4F8F-979E-A1EFCC4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MLM на русскоязычных данных; затем supervised fine-tuning.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51DD2-BCFD-40EB-BCAA-D5BC0AFE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1ABA4-6603-4580-B173-AED89649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8A077-B204-4F8E-AF56-A09CD686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52DA7-6F53-42E2-BB6D-9D90E19A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Русские названия компаний, морфология и NER финансовых сущностей.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281A3-605A-46B3-9E69-0F45E5C9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204BB-D8CC-4379-9D65-2CA77B08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h = Encoder_ru(tokens, mask)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D233A-30D0-40A9-ADC7-9B776AC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59D6B-6E3E-4B98-B62E-601FBE0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Преимущество на русском срезе нужно проверять отдельно; оно не переносится автоматически на английский.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3B10A-DDDC-4345-8852-28F92F1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90ca79bb52a45d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857792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8e7fffdbe4f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61D62-86F9-42D1-9139-48374D0D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7EABC-8CEB-48D2-B738-F2B4D0D5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ACA63-5E02-4B15-A2A4-E4EEEAA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069A2-DD13-4DDE-A642-DA32147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FinBERT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5026-DC42-4DE1-8A6D-401FBD8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Предметная адаптация BERT к финансовому языку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3FA17-945A-4302-BE11-8396705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D6A20-88C3-4532-9FB5-AE2172E7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4DA06-F4F6-44E5-84E3-C18CFB08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896E5-CD17-4A87-98FF-6C83B2F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 encoder сохраняется; меняются корпус предобучения и целевой fine-tuning.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540D3-EF8E-497B-B115-06B2C11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AF7D7-958B-4691-93C8-26113F93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D9351-5B69-4E1C-9246-109D47C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8CCA3-2240-464B-AAD5-FE67FAF1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Domain-adaptive pretraining снижает разрыв между общим языком и финансовыми формулировками.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F4425-1275-49FE-B971-5517351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2CFD8-4D92-4A02-A0F5-3952A4E3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0E131-D430-495E-ABAC-F9C4BAE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3AFC5-73A1-43D9-8326-52D5746B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быстрый baseline для тональности финансовых новостей.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E21EA-9CB2-4519-8CD8-891EB358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A23FF-3763-4927-BD0D-25D5092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L_MLM(financial corpus) + λ L_sentiment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25AA3-B24B-4159-8010-1443305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21037-71C2-468F-BEF8-9401C79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Название FinBERT используют разные модели; нужно фиксировать точную карточку, корпус и checkpoint.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7DA0B-B1AF-4743-9D6D-E5ECDFA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a4b3d2bf69e4b1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14332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6200618c41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B5BD2-BB13-49E5-8E21-71E5530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4FC05-4341-49AE-AB26-0FA7633D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E163-BF34-4683-9440-CE0DDA2E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28E33-F829-4F32-972A-0E57FAC7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XLM-R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9E3AA-AC7E-4482-8225-68B96F1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Многоязычный Transformer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48FE-2E5E-47BC-B00A-3482A906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22952-726E-4102-B97D-4261DAD2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9E0ED-CA07-42E4-9A5F-47EC72D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F3292-14DD-48CF-8236-E2F7A63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Encoder-only модель с общим SentencePiece-словарем для многих языков.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78D5C-CD11-403C-9CD3-3AF5E09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C7D7-210D-4EF9-8A1A-C918E6D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D2D24-9E8B-41E4-A0CC-9093E51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6074B-88E4-4A85-814A-EEEBB3B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MLM на крупном многоязычном корпусе без языковых меток на входе.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016EC-A817-49BA-9243-6AA0556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47D1-F2CD-4758-AD0F-891C9C7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A1E7C-963E-4419-9EFF-2DB74609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5FF8F-0AE3-4FEB-8D26-4E90CF8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Единая модель для русского и английского срезов финансовых новостей.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C6A56-8E49-4E82-B556-7E2857C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A26A6-CF0B-4B12-AC38-4C2B2FA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− Σ_{i∈M} log p(xᵢ | context_multilingual)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77658-3109-4267-B746-6DD5296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CAA60-CF96-4EAD-BA11-EAF31A5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Общий словарь и конкуренция языков могут ухудшать редкие имена и термины.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C51F9-68AF-4888-A4E7-77460415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c869f2bf3e243f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687646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19eb76d4941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7A13C-FD37-44AA-B829-61AB3C4E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9B4C5-D209-44C4-9AEF-C7B77DA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25AF-359E-450C-8B23-5EDDEDDF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0D270-E952-4B2C-9C41-E200CA2C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DeBERTa-v3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40FF4-0FC0-48E3-BE1D-E20ECE60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Disentangled attention + ELECTRA-style pretraining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BF231-E8E7-4CDF-A25C-16E62AB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E8FAC-2803-453A-A50E-B55D82D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791CF-0DED-484A-B5FA-A952AD69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F9DB7-9D5E-4CA8-B225-97B56CA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Содержание и позиция кодируются раздельно; attention учитывает content-to-content и content-to-position связи.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9254B-3D39-4C2A-98D2-0471AE40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6B5B3-BE2B-4958-9BFE-19963F9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C40F2-E94B-4124-8383-6AEFAEB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05DA3-20A0-4AC1-8AC1-DB5CCB4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Replaced token detection повышает эффективность использования обучающих примеров.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AFAAF-A3A4-4EB5-8106-99D564B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7236B-320B-4FEE-B3D8-73E9F0C6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3EE22-0B3F-47A6-BA79-682C82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D89F3-2775-4844-A651-FB7AD23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encoder-baseline для аспектной тональности и классификации.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C5D26-0D08-4FE6-A35C-30FFF45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5BD34-23F7-4DA4-850A-2D53DD8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Aᵢⱼ ∝ qᶜᵢkᶜⱼ + qᶜᵢkʳ_{i−j} + qʳ_{i−j}kᶜⱼ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4B863-DABA-4A7B-8682-DA90483D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FA087-4307-469B-8999-674AFFB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Выше вычислительная сложность baseline; преимущество нужно подтверждать на предметном test.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4095C-EFBA-4F6D-9B7E-B8462EAC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52ca188f17c45d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244307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e78de60ed4c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B8715-B739-4FED-96F5-F704B919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562DD-C385-41F0-8CCA-634F184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B3D8-16C4-48B7-867F-5C29F3A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A4BAC-3531-4389-B370-1B240DC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B3309-7BFF-4A7E-95D3-891C64C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 decoder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78151-2166-4942-B709-4BFF69DC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5C0B2-37D3-433F-B657-4E27D3F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3F5BB-FD20-48A7-85E6-1BAB8220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BD4D-3F0F-4FC7-B15E-10C52B7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Стек decoder-блоков с causal self-attention предсказывает следующий токен.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56F88-86BF-48E7-A661-9B51746C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AC036-28EA-49F8-82E3-F7D97D4F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7517E-0DDB-41DF-B33F-6F7E4C1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1E1AD-61DA-4E00-88BD-66E63C93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Next-token prediction на большой коллекции последовательностей; instruction tuning меняет поведение, а не базовый objective.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6DDE4-94A7-47C7-BB71-169F7C4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D05A4-9F0B-4411-BD49-CD2D5EE0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E6D8A-75B4-45EE-A952-476D6E37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EA014-6617-4E8A-993A-0ED282AE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Генерация JSON, суммаризация, explanation и few-shot классификация.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83CAD-B2BA-4D1C-8443-71786E41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5B451-1766-487C-ACF0-A0D5E1E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L_CLM = − Σ_t log p(x_t | x_{&lt;t})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BB10B-861A-47E0-BB49-ED18C4A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F6EDF-727B-4F66-8E20-3DEAE49C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Свободная генерация может нарушить схему или добавить неподтвержденный факт.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6794A-1299-4140-B2FB-11B0C78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8c950188c3c454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71712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acb36e67c4a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CCA86-B2C3-4C4B-81C6-FE8CB22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2D80C-3945-4CEA-A219-D2C2942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C47A4-E08A-4C1C-A0B2-EA59954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EFBAD-46DE-4021-890B-D0F56A7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Llama 3.1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198DD-F9C8-4D46-B13C-AEB69A2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Dense decoder-only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12DEF-618E-4C47-8530-735A3A6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BDC1C-171C-4DE2-A41F-6627921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8C7F6-F5F5-410F-9EB2-2C767858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1BB5D-3797-4AC9-B7FA-804A98A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Transformer, RoPE и grouped-query attention; семейство масштабируется от 8B до 405B.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854A8-E4C1-4171-A1FD-624BF3D8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15DEC-A5B9-4041-BBA6-F95C697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41F74-FE18-4514-8E5F-33FBE58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94247-A6A0-456D-B797-499C194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Многоязычное pretraining, supervised fine-tuning и preference optimization.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2347D-DE9C-4FBB-B775-87CE9397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8933B-D30E-40FE-A2DA-591D5603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47AEF-2F44-4B42-A2DE-BDA54D8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96DA6-BE77-4635-9C6E-3D68787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Instruction-baseline для структурированного извлечения и объяснения.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62EDD-E829-4DD3-BBEA-59BCC60D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23191-AD1F-482E-9444-82F4495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RoPE(x_m) = R_m x_m;  L = L_CLM + L_post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308C6-F545-4A6F-AD3B-0FD84E9E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4524E-29F0-47F0-8D65-B21DFBB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Локальный запуск 8B требует памяти и контроля квантования; качество русского среза нельзя предполагать.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C0A2A-B145-49EB-BC70-6C6AFBD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616e84a09084b6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750354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a7d6a150240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69AB8-6823-4370-AB93-DF6FB83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0E09-98B0-4467-BEF4-94A166C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51254-5AC7-4087-B4A1-E3702D05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F315E-5E46-4B04-BFF7-247023A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Mistral 7B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C8A1A-503E-4F00-AC5B-9CC9202A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Efficient decoder-only 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BFB74-17EC-4187-9531-E975E635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E4A9C-3A54-43E0-B27B-FD13B0A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401C8-D47B-462E-AC8D-1432996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8A315-4EE9-4D36-8836-BF42192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Grouped-query attention уменьшает KV-cache; sliding-window attention ограничивает локальный контекст слоя.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68AF6-3156-4D00-9E82-6B93297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6651B-53EE-4668-BC62-632947C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1BADA-C17D-43DF-805D-A799B78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7BC53-D163-4A39-9F8C-894AB3E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pretraining; отдельная Instruct-версия обучена следовать инструкциям.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A4402-BE8C-495F-9EC5-8251412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B58A8-B09F-435D-9AEF-03213E2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EC6AB-8F58-4726-B4F9-57C5EC43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4AEE1-AD5F-4E80-BFC1-1CAA99A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Эффективный открытый decoder-baseline для JSON-извлечения.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85BB7-7DB0-4977-A638-7EDDECF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4F5D6-452B-4E72-BB50-727E401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Attention_i = softmax(Q_i K_{i−w:i}ᵀ/√d)V_{i−w:i}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DAA38-9E3F-4261-85B3-2B479899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1B12C-41CA-4489-B778-24AD55A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Локальное окно меняет доступ к дальнему контексту; точную версию и контекст нужно фиксировать.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49EEC-790A-44C6-80D7-81F84EF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07c16f337eb490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883074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650b0e73643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10FB4-FD66-496F-B405-92662A6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8BCDF-17F7-4B18-BB73-37108FEC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CD671-1137-4BBA-8481-81FA8173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90F99-6BD2-40B7-BB18-C617B1F7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Qwen2.5-7B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4A668-20F4-4B9F-A2DB-9DF9148E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Dense multilingual decoder-only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453C5-C20F-4D7D-A6A7-4DBB088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1B51E-4A1E-441D-96E1-9F51EF9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14C15-6EBA-40EC-9C1D-3BD226E5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F5C01-2130-4679-A4B4-FA7EE9A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 с RoPE, GQA и SwiGLU; instruction-версия оптимизирована для структурированных ответов.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77CC-5A7E-4267-93FE-2ADC66F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9492E-424D-464C-8CC8-A4E92E8E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6D387-37A8-4485-9F79-4B59806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12038-F8EA-49EA-B1D0-273215B3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Pretraining на большом многоязычном корпусе, SFT и многоэтапное RL/post-training.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4EBE6-C0E7-4C54-908D-7D5902E0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84B1D-02B6-42F2-8C72-4072268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C88B2-407C-4C17-B3A3-B3EBA5B4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D9324-E329-471C-A428-6BB83E96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Лучший пакетный вариант в учебной таблице: Macro-F1 0,824 и entity-F1 0,866.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C1440-680E-43C3-8DDB-16DD8787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DBF64-CB89-4F6B-9A00-2AFB638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Score = 0.55 F1 + 0.20 NER + 0.10 Cal + 0.10 Lat + 0.05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CB953-A344-4CB0-82E7-3EFF4C50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22684-CB08-4E1A-AAFC-6040F88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Высокая задержка относительно encoder; учебные числа требуется заменить собственным запуском.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7F643-9FFD-43EA-802B-19FF9741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1ab754d764449e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637571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3bdd3c6b848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2FB2E-8A1B-4BCF-9FBF-F80B4EEA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699B8-C4D1-44D0-8908-63D173C4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 · MoE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A30A1-EC43-45D5-93A7-500DCF78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C1E00-2DC1-42EE-8402-25ADC10D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GigaChat Family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772E2-F9C6-4626-89D6-8C409970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Русскоязычная Mixture-of-Experts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816CF-A335-4C91-8EFD-A6A65D8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9FC0B-E6CA-4BA6-98E1-576112C6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B91B1-50DA-4D77-A207-5CB0CFF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B12F1-667E-41BB-9398-A7AB1E8E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Decoder-only Transformer с маршрутизатором, который выбирает часть экспертов для каждого токена.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49A9E-D6F0-43D4-BD1C-840204BC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41D6B-1F6E-4E6E-B130-C34751E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B867B-FFB4-4391-8A88-2238C71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180A-8706-45D4-9E6F-CC2ACA68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Русскоязычное pretraining с последующим instruction tuning; открытые варианты опубликованы для исследований.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4686F-094F-4E4E-8F4F-838FFA4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44DBB-BF6F-4E4C-875F-F6B614E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370AD-4B0B-41B4-AA46-8D61AEC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D73E8-7E24-46AD-91CE-FC123AC5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Русскоязычный генеративный baseline и проверка российских сущностей.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A8CA2-D56A-492F-8138-3F251FA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EF5AE-5A81-42F4-B690-39B412F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y = Σ_{e∈TopK(g(x))} g_e(x) · Expert_e(x)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EAAE6-9B91-495E-B5FF-0C2FCE2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1411E-39D6-4948-9AB1-B5EC06B0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MoE усложняет оценку памяти, пропускной способности и воспроизводимости API/локального запуска.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4F0E8-4321-40CD-890E-D91406C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090ce95add34a1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575874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fa0c5e80e46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3EACF-B2E4-446F-B827-222214C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54E16-2D7E-45BD-9EC7-2A5AC71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ВЫБОР АРХИТЕКТУРЫ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67FB1-18C9-48AE-A440-C98CD67B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33A92-DF4D-457B-BC75-0A7F66A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Encoder и decoder занимают разные места в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B177D-1031-4C5E-9851-93C85C28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проект сравнивает архитектуры на одной задаче, а не объявляет LLM универсальной заменой.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3E817-AC8D-4656-A9D4-BD45513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6F935-0F8F-40D5-AD6A-6FF63DA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ОНЛАЙН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81266-DC41-4753-805D-2C2D77F2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Encoder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ECB7E-DAF6-4DFB-B9F7-6A1D4BC4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FinBERT/RuBERT: низкая задержка, стабильная схема, отдельная NER-голова.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4B001-5BF9-4F72-B40F-412FF8D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F5E17-F91F-4982-BD04-B8053F8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ПАКЕТНЫЙ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31C74-8147-47EF-9142-12D4F49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Instruction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74040-83E9-440C-B6CA-9D078ACA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Qwen/Llama/GigaChat: единый JSON, evidence и гибкость формата.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3163C-4DEB-4A97-A908-D0B1DCCD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885DE-D27A-4CC3-BEFA-EE9409B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29884-96BE-4DDE-B9F1-6FE4E94F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CBF96-A838-40FB-8DF2-323A5D4E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дает быстрый score, LLM обрабатывает сложные или низкоуверенные случаи.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CA4E4-D3AC-4678-B506-4AC7A6A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82526-B8D8-4565-AD7C-629200E5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81625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route(x) = encoder, если confidence ≥ τ; иначе LLM или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32BF3-9C24-4E13-958B-15948F78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054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маршрутизация по калиброванной уверенности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01569-B583-4FD0-B7DB-6AAFE6F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121eb9c47a741b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852667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27e45491241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A6B1B-9EE4-4DEC-A166-A4B3A8C7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D3D5C-F16E-45C3-9C36-AC7929DC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FINE-TUNING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4DFF1-36F9-4729-9349-FF9634F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10DDF-72F1-4D03-BE2F-05F53EA0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Полное дообучение, adapters и prompting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0AC97-FBFB-4590-8853-999449C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Метод адаптации выбирается по данным, вычислительным ресурсам и требованию воспроизводимости.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40348-4277-4DBE-9287-DCA656E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312A-1D73-4E5A-92C8-9A433FB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77DD3-F332-4FC6-B409-589B3B9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Обновить все веса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C5238-895D-4329-898A-0B9DE17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Максимальная гибкость, высокая стоимость и риск catastrophic forgetting.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E2D10-5823-4CE1-A8B5-355A6DF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4C08C-FB73-4481-A009-F755D614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LoRA / QLoRA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AB90E-9428-4147-909C-7A06DC14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Низкоранговая поправка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99EF7-CA60-4A45-9909-82D3C748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Замороженная база, обучаются небольшие матрицы; QLoRA квантует базу.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25A27-36E9-4586-A8C8-ED1D8E5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05665-A71C-4705-84AC-1E8C2B05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PROMPT /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9D9C-3861-4424-B8B2-2E6E1BE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Без изменения весов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25315-0ECF-4F35-A4A9-E68386FA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Быстрый старт, но чувствительность к формулировке и контексту.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BD3F2-56ED-4D71-8117-56B691F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C8287-DC25-44B3-9811-639EDD5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816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W′ = W + ΔW,  ΔW = B A,  rank(A,B) = r ≪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350DD-0467-4305-ABFE-513637E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05475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1EE04-47CE-450F-AC81-761C91B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e3e11acc63e477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569477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4db9dbc1c43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C6FCB-1DDC-4FD7-9E05-5FB03BD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A4DF-65E4-4BFE-A0BC-B093A959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STRUCTURED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A9637-D02F-4FF7-9CC8-2C323C1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B0C6-E664-43BF-AFA6-75860847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Генерация оценивается как программный контракт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AA411-E3F6-45DF-BCEB-443F00C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Невалидный JSON и ссылка на отсутствующий evidence считаются ошибками, а не исключаются из метрик.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2A8AA-70AE-417B-BF49-1D2BF08E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331F0-DA36-42D7-845D-6DA341DE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19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"ticker": "SBER",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"event": "dividend",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"sentiment": 1,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"confidence": 0.91,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"evidence": "рост прибыли на 18%",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"abstain": false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003DE-893D-4BAF-B64F-AAC81B6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8D0BD-3911-4E2F-A85E-1FAAC204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JSON Schema проверяется до подсчета метрик.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365E6-EE5E-4912-9808-70507D4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831D8-BD4C-49CB-AC81-26D0ED5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должен быть подстрокой исходного текста.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3F849-7269-4E9E-A8E1-88868F3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145D1-7A33-4322-8C11-A8276833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Temperature, seed и prompt фиксируются.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8E45-15B6-4B53-A84B-A704746E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17ABE-98E2-4C30-8AE7-91C09CE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Abstain используется при низкой уверенности.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37407-C907-403A-8664-D78C2F61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143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BAED4-6E7B-4DAA-8DF8-DF395A09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1125"/>
            <a:ext cx="4800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03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valid = schema ∧ evidence⊂input ∧ confidence∈[0,1]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52435-0A4D-45DB-BC00-A70FBD75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валидность ответа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C3EEE-3634-42FF-AF28-0B5F6EA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78eb8b853f4e4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131676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232be0f6845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A80DE-4706-42F2-93E8-7663BCB1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B732-0C86-45B6-A172-5EE1D6E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EE7D7-B07A-4402-82F2-7CC05845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1B3C1-DE7A-4594-9A3E-6D92893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NER измеряется по сущности, а не по отдельным токенам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3D700-FD61-4194-9DC6-09074451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BIO-разметка задает границы, а entity-level F1 штрафует неправильный span целиком.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2D615-F69C-4177-9D5B-0884E8A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62F85-C15C-4F9A-B021-CF51AE7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Сбербанк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B-ORG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9B93B-A44D-490A-9D23-89CB7120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8CFFF-A988-4B61-9BC2-644F605E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AF06-0099-42DB-8ABA-DC0C0AE4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увеличил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3CD2C-C6D8-4D7D-AD08-4143EF8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16B87-FA10-45D3-90CE-1ECE8B0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A47F8-25DE-447D-9DC5-B197283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дивиденды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D31DA-634A-447A-84AD-CABEA08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75C8F-794A-4031-AC61-F202E0D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7B33F-19D5-4546-BF06-E950D80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 18%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FA6AF-73FC-4248-B51B-AACC0DC3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11394-CB35-4869-8911-83BB303F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956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Precision = TP/(TP+FP),  Recall = TP/(TP+FN),  F1 = 2PR/(P+R)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707B5-D68C-42DE-AB67-591D9E92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TP: тип и границы сущности совпали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AE928-C1CE-493C-839A-78909CB6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финансовых новостей отдельно проверяются тикеры, российские названия, несколько компаний в одном тексте и редкие события.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7DDE7-562F-4AF3-87D1-56956265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46d1b10cc1e4f2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544321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1a9f59229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E7EE2-1EFF-4586-9F23-515B5DDD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2B810-11EC-41C9-93CE-14DC204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ED2CD-A348-424B-9F3C-28C2D90E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588A6-D618-4463-957A-B5B8875E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Macro-F1 не позволяет частому классу скрыть ошибки редкого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B6BE2-343C-424F-A3F7-6FCF742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Среднее берется по классам после отдельного F1, поэтому negative учитывается наравне с neutral.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C3E28-CE08-4ABA-AF88-A256E4BA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CFB78-1414-4283-945B-6DBDC2E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861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Macro-F1 = (1/C) Σ_c F1_c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D5A39-15B4-4614-AB63-968BE7F6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5906-5F20-4F0F-8C18-C2C21BD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DD66B-078B-4F6D-A758-5ED8D82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Редкий и рискованный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993B6-8D89-4510-B647-3C33CD8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Показывать F1 негативного класса и примеры уверенных ошибок.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1BC5F-16B1-46E7-B5AC-098C9C9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2E8EB-6137-4BFB-9A77-962FC91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NEUTRAL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85389-6763-4886-B5C1-D57CB4EF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Сложная граница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46E2D-B3D3-4962-96E7-46E3FAF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Прогнозные формулировки и отсутствие нового факта часто путают классы.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6BBEA-047D-4331-AE41-B81116F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193CD-CF1D-4229-B8E6-A95E3D90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8B4EB-789C-4211-B142-D3B5ABFE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равно росту цены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3155B-0A24-453C-8555-C27266A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Тональность текста не гарантирует положительную доходность актива.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9E720-6E4D-4A56-9C03-7904F07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57ca806e97496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341205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8a31d55cb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F4FD-A3EB-48B4-A1E2-F637339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D42D4-B9B9-4DC0-A288-9EF5C3F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CAE7D-D305-4809-8350-131EFC26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43895-38BE-49B0-95DE-209FE27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Паспорт данных превращает набор в проверяемый объект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FFE69-D723-4146-9699-54D2867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До обучения нужно знать источник, лицензию, единицу наблюдения и ограничения переноса.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38FE9-4730-4C7C-9B0F-42CC6047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70030-484C-4808-BCAD-765A352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02EA0-036E-430F-ACA0-44499E1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Источник и лицензия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F4574-7225-49AD-9AF6-2D1510EC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можно ли использовать и публиковать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1FAAD-6844-4106-BF7D-7EE8ED4C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97239-CD71-4684-986D-3BB98CAC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1D58F-32FA-455C-8E95-625E43D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Временной охват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9BEC8-6A5F-4D03-8E72-13EC9FA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какой market regime представлен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7C327-A8A0-449F-9662-97E9127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A6500-6994-424B-8AF4-AD3D8AA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77A01-796A-4556-B713-AB192918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Поля и классы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A7147-A54C-4270-AB7A-E8188F4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является входом и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360F3-A251-46D6-9F53-7F17A69F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CD8F8-FE55-4EC4-8BB3-F6934DA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8AD98-38A5-4279-974D-00AEA1D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Пропуски и дубликаты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CC556-D3BF-41A8-B91A-5B410FC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удалено и почему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652BF-3306-4D1E-AD9B-E3BA6373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79E05-023A-480E-8C9C-A697DE7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F92FE-0DFC-4C72-817F-BAA9C6B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Персональные данные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99E7D-826B-423C-80C0-D311F34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какие поля исключены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74342-B66A-410B-842F-ED7E8EA3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4267B-9609-4417-82AA-FF985AB6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FA3DD-C28D-4CE3-9D4E-3AA6EE7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Сдвиг и bias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DE209-5122-44EB-B70B-6716C12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какие группы недопредставлены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FF425-ECA0-44AE-93A8-455F3DE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8cba5531a9546b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25444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432f0a1844b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1C84B-8409-4B61-80FF-081C056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EB6B2-7E89-4DFB-96FA-545D8CE4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00E82-562E-458F-B853-9F0D703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4F1F8-7834-41E5-86D2-8DD0534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Разбиение выполняется до преобразований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204BB-A17F-4A06-9D5F-A85E6EC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Финансовый test должен находиться в будущем относительно train. Дубликаты события группируются.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44CA1-0173-4860-907D-8A12CC0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33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440FF-407D-48EE-854E-40E4F1C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TRAIN · прошлое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fit tokenizer, scaler,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A09E3-3C4B-45D1-8D06-53B00E9C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FDCCA-6308-4007-94CD-58AE0C3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5370F-6684-4DF2-A49C-C829E9F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00B2D-297C-47A8-AE4E-0228F31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TEST · будущее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 финальный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FF4BC-8F53-4C9D-992F-D21C838B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14708-55C4-456F-A86C-3CC487E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event_id и near-duplicates не пересекают split.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45E5D-40AA-4504-997B-CC84C75A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8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6B884-4ADE-49C4-B232-043038C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08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Справочник организаций соответствует дате события.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5D4CC-2D33-482F-8F61-EEF0CD8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6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31D45-905D-4C80-90C4-299336C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6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Параметры prompt и threshold подбираются только на validation.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ED8C8-DAA0-4532-B0F4-6E56235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d0dc13c631f4a7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365674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6d6ac239244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DE29A-C3FE-492C-9258-710C21A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EC7DD-39C4-4C3C-8E83-38A3351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МЕТРИКИ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36DE4-C3C3-40FD-BF9E-11410A01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BB28A-420C-4B6D-BCD4-830AF7E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Качество, калибровка и скорость входят в одно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D4665-F4BF-47F7-B58F-D138A785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Высокий F1 не компенсирует невалидный формат или неприемлемую задержку.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88F6C-D07C-438C-83CC-E9EFB76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EA0FD-BDDC-42D5-9B50-1B15541A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820C5-3B14-4684-8C4F-6B5F445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классы равноправны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DDF8E-D9E0-4830-8F7B-811544A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68325-CC54-4D2E-907D-C9D2BA98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907CF-46F6-4CE9-BBFB-BF83599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Entity-F1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905F7-D351-42A3-851F-3EE2BC4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границы и тип сущности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10703-AFB4-4722-B2EE-1E53228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C2F91-5936-4031-9D68-E455C840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9C99F-032E-4373-AEF3-BC7C463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58C9F-EA53-40B9-9127-8212A292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соответствие confidence частоте успеха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8880E-46EA-4476-98CD-1AB867C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BCF79-23AC-4561-948C-E949CB4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22590-3C70-44DA-AC1D-478EADB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p95 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E3FBB-5574-4D3C-8CCF-BB25F40E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хвост времени ответа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3771A-C237-4A3C-88E9-560A0E9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20B83-2A5B-4CAF-A446-7294307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D506E-AB41-432B-893F-74B8675C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Valid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0BBAB-41D4-4038-A978-1C0CD36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доля ответов по схеме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BE24A-3A18-4EA1-BF0C-5CA136D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2C7565-AAD8-4908-94E4-90D0930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222B6-185B-4969-B382-1FDCDEA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Bootstrap CI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18E7B-C4E3-4DB0-BE84-81948A98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неопределенность метрики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5B4B5-F74A-4068-98CC-19BA1EE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06CA7-C7AE-4954-94EF-AF6E291B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9cbda80b8cf4fd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681551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7a45c3894f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ACC8D-7977-4D24-9052-6555AAE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0D0A-C93C-4ABB-8722-7F81EDA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82B85-3EDB-441F-B65D-EDB71A4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B13CB-D26A-4C3B-A9B9-3FA2BBE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Confidence должен означать наблюдаемую вероятность успеха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598FD-B6E6-424E-A377-BEE1B8A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с confidence 0,8 должна быть правильной примерно в 80% похожих случаев.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02156-5B61-4CCD-8127-307C62A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895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93517-1A8C-4415-85C9-5EDC94D8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43125"/>
            <a:ext cx="8610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ECE = Σ_b (|B_b|/n) · |acc(B_b) − conf(B_b)|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E8AF0-674A-45A6-B7A4-6E19949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Expected Calibration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58598-169C-4873-B5C5-2D70A29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53547-E514-4266-A427-81B2117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Logits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8A50B-5B63-4D02-8750-4A06D2D2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55B3D-243D-400C-94F1-9FC519E9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38320-9FA4-43F8-B973-14681F4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Temperature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8CB22-0186-4DF3-B90F-F769B7AA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A7C6B-9305-456C-8D82-7FAA291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8E213-D073-4057-89B8-A79A56B5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Calibrated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0B44E-577A-4253-BB64-F61374B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3EE5A-66A3-4ABD-8524-4568A29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C993-0B28-4DB1-BA43-E26A33FC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Threshold τ /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2DB96-6ABA-457D-BD55-46A50A1F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Калибровка обучается на validation. Test используется только для окончательной оценки ECE и покрытия после отказа.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FBC3E-F811-4256-BAFF-EE50A7F4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e8ff8982160444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948045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1bd990c4041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41419-5D2F-4F9C-B83C-87C0CA07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048C4-5FEF-4B0C-9D53-5934A43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ПРАВИЛО ВЫБОРА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0B568-88F7-43CA-9513-F416C16E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F3D0D-7FCE-4FF4-878D-05E0B765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Лучшая модель определяется до просмотра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91CEB-1E81-4C89-B8C3-800A76D0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отражают назначение системы; ограничение по задержке может изменить победителя.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1B061-8ADF-4C35-B19A-17B2E66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6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3E4A-85CE-48C3-BE0C-A3A43AB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95500"/>
            <a:ext cx="10420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 = 0.55·MacroF1 + 0.20·EntityF1 + 0.10·Cal + 0.10·Latency + 0.05·ValidJSON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16B9B-50AD-4492-95BF-9864E108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1A4B4-3632-4D9B-B09F-933BFB1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ПАКЕТНО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00A1-FFCE-4C6A-9190-1EA0C66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Qwen2.5-7B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E5F0B-B28A-492C-A398-F6C6AE4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Максимальный учебный score 0,846; используется для исследовательского прототипа.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74DA9-9BE9-4F7F-AF48-3ECACAE8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39488-E1B7-4003-AD00-B1E8069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ИНТЕРАКТИВНО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63375-8DD3-4159-941A-581C7E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FinBERT + RuBERT-NER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F710F-1793-46F4-A7F4-3370A8C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Качество ниже на 0,021, зато p95 почти в девять раз меньше.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087C6-3AD6-460E-A07C-93A3BAD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92B80-79FF-41F2-A951-A6060B8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ОТКАЗ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DC0BD-94E9-4F08-A75A-DF9D6B1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Abstain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BA0B0-23AF-4CD1-9920-1F19D107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Низкая confidence не превращается в уверенный сигнал следующего компонента.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144B2-93FA-49CD-9EDB-796ECD9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957d7ac8ebd4a2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9859101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5f493cc0745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D45A6-B558-4F46-9A60-F18F7BFC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1A0BB-7B1F-4C2D-ABA0-F311FAA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САЙТ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23E4D-62FF-4BC6-90B0-4EE7D31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42EDD-D972-409E-B5A4-EECC0AF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Демонстрация NLP: от текста к проверяемой структуре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19A15-4578-4ECA-8A0D-36E56A5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 странице видны вход, выбранная модель, сущность, тональность, confidence, событие и evidence.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dbba0e3b4d0e"/>
          <a:srcRect xmlns:a="http://schemas.openxmlformats.org/drawingml/2006/main" l="0" t="5953" r="0" b="5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8096250" cy="44577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8530A-B718-4CA6-B814-44FD1405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8003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36F90-1647-4FF8-B049-4F78134C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ДЕМОНСТРАЦИЯ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64DAC-B7B2-4DC5-9E7E-C587DCC6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7A6A3-0F54-4B60-AD55-5E0B7C2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2457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Вставить новость.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Выбрать модель.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Нажать «Анализировать».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Объяснить каждый ключ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E9E72-1488-438A-B471-632EA124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800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37B9A-6929-45C8-96B5-C687E91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A7D78-BA0E-4E2A-B54C-DCE7BBA5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сайт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6E891-DB41-49DC-B90D-86F9C62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57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Кнопки, параметры и выводы работают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E3274-E796-44B1-BEDD-80E81DC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d033f3d638f4d6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372108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dfdf9183f45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FC4CE-7D28-4D89-B94F-258594B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4EA7D-EDA0-403A-97E7-AC7B0690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САЙТ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7844E-182F-4C23-8BDB-2CE3412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C2B94-73F2-4A56-BF22-73A44A5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Сравнение моделей и учебные метрики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2318F-4C9A-4028-A639-D2A4E3A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График и таблица используют единый test-протокол. Результаты помечены как учебные.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3111a2e9948ca"/>
          <a:srcRect xmlns:a="http://schemas.openxmlformats.org/drawingml/2006/main" l="0" t="5953" r="0" b="5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8096250" cy="44577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96D53-ABB1-419D-99D4-C1D355C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8003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B70C8-9F53-4D85-804B-2C0DA428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ДЕМОНСТРАЦИЯ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13C94-8D99-41AE-BE2E-BF0EC51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3957-5617-46D3-9C5B-F6031E11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2457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Сравнить Macro-F1.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Найти p95.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Объяснить условный выбор Qwen.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Показать быстрый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9E775-A8C7-446A-87EF-9D5A2D0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800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2AA58-316B-4BE6-9A09-F7FE3C8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EB8F4-6DF2-4673-8FED-53406DDF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сайт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450A3-207E-4C55-A3B7-E9F50234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57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Кнопки, параметры и выводы работают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5399A-9100-4346-8250-F12A1E0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80df5542a7e4f4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348715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2bca338df4f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F0567-4319-4F9B-AEDA-746FC28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7E9F4-A4E9-42B5-B398-9916E0E9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585C4-105D-4F23-A48A-A39D45C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E83E3-90BC-4BAA-B7C5-FB72457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Единая схема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2690-2FC7-4259-9263-B842C3E9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Код повторяет исследовательский протокол сайта и лабораторной работы.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0EAE8-9660-4433-B4FA-1C4FC8A5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125AE-7CDD-4D2D-B743-E370D61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schema = 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"ticker": str, "event": str,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"sentiment": int, "confidence": float,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"evidence": str, "abstain": bool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split = temporal_split(events, group_by="event_id")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model.fit(split.train)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pred = validate_json(model.predict(split.test), schema)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metrics = evaluate(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y_true, pred,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slices=["language", "rare_ticker", "multi_company"]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FE661-1172-4DB3-A203-504E0855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CB0B4-CCED-4325-8611-43AFEC2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37670-FF74-4733-BC48-FFB96B9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A5C59-7F61-4472-A386-D91C532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Сначала замораживается split, затем проверяется контракт ответа, после чего считаются общие метрики и проблемные срезы.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26326-F99A-4B0C-B8FE-FB0783D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34616-D14F-418C-A91D-1C02070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C45DD-F047-4671-9774-09B54A6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C481D-0A52-42E6-8388-C0C7BBA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F8AA4-B411-4AF3-94CB-CD60A26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a1871ea6c0142a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933291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c78f4472d4a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3D5A1-A9CB-40E0-9C1D-269DF237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44106-49AD-4321-93A4-EC9F7F6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562A6-F41C-462C-A503-040605D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41F90-744D-4A5F-ACB3-9B4EC41F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Macro-F1: предметные и instruction-модели сильнее простых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B5E2D-6D74-40F8-8484-EF23D91F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Числа учебные. Студент заменяет их собственными запусками и прикладывает журнал экспериментов.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23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f67090c33c41e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C61A4-152F-48D6-9911-45CB10AF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C9B20-477A-4367-9A2D-42ECDDB2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ПОБЕДИТЕЛЬ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3CDB6-3279-4161-894A-AFC191C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Qwen2.5-7B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D842E-BE16-4485-A079-A066E69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Macro-F1 0,824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Entity-F1 0,866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ECE 0,039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p95 640 мс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3E95C-BE0F-4C20-8E3E-62DC582D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C471B-AB1C-44C9-A16B-497A0967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БЫСТРЫЙ КОНТУР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6865D-C4CA-45B3-A192-3BC330BA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FinBERT + 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3B265-D675-4C2A-A72C-8D97B05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Ниже интегральный score, но p95 66–71 мс. Подходит для online.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CCAC-CEE4-42D1-8CA1-39192809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6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 чисел: учебная таблица лабораторной работы 1 NLP.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2F844-028A-46A7-B7AD-B4A618D6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23a45e074df4d6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386880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8c824bd0047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9DD47-BC0D-48EA-A52C-52A78EA6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5726-E11B-46E6-8D1D-2135C4D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АНАЛИЗ ОШИБОК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26CFF-BCAC-4006-8EA0-F81301A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F2BB9-7E68-45E9-B17C-4ADD8DDA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Среднее качество скрывает разные механизмы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0C36A-7E2A-4715-B993-B7E3E2D7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Каждая категория ошибки должна приводить к конкретному следующему эксперименту.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B1EEA-FC9B-4CC0-862E-949077DE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4ADCD-9AB3-475D-B8C7-708C6F6D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16891-95D7-474E-BA22-FFA74FC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Редкий тикер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32A82-A95E-4E97-9B69-FB040C0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добавить справочник и hard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B0257-3550-411A-B18F-1F71B2D3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DB82A-A8AE-4582-A913-09E5F89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321F0-93EB-4FC2-B298-3AFEAFEC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Несколько компаний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F1CCE-6AC8-478D-8448-F72E73E6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multi-label event linking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AD0B9-56F7-4A4F-AF13-B26A309A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C0333-0B30-44D1-B5FB-1DF8791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6CAA8-CF6E-4F56-BE26-CF36CE1C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Сарказм и цитаты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5A299-FCB1-4AE3-B594-B7DF35A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контекст источника и 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5FC94-B7FE-4A77-A652-FBAB35C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308CC-37FC-4667-AC72-04688E0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6485F-D314-492D-96DE-E6D11EA0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Прогнозная формулировка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3D770-6BC0-46B6-863B-D5547F9E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отделить факт от ожидания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0D7A5-1800-4E61-A92A-507A162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E0A41-4FB0-43E9-BBA2-79C24D0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CEB4D-7F8C-40F9-A028-5C7635EE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Русский срез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E13C2-22CC-44AE-BDA4-A88EFAA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отдельная метрика и tokenizer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14925-5992-46A5-A2DA-A999814D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9823A-5FFF-42C1-B459-6F553CA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E6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02502D-FDA7-4698-9ABC-D5A96D31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Невалидный 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3408E2-BBF5-400C-997F-CE73240E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constrained decoding / repair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1BBE8-72CC-4F29-AF59-ECFDC25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7f094836bbc4e9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225874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99d3310fd44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07179-3603-4934-8DFB-7AD48AB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03999-2A5D-439A-84FD-E7ADDCDE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1555-16DB-4AF2-969E-59562A2A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BA5B-A721-438C-8506-AE0B3E63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Вывод связывается с каждой гипотезой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506C-157B-4413-97AE-4FE7E563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Подтверждение означает измеримый эффект в заданном протоколе, а не универсальную истинность.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49707-EB09-404A-8304-17884D75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D217F-E814-41D7-9E82-FD7E695A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283E1-FD86-41A6-A58E-FCA04C96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Предметная адаптация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87706-DE77-451F-927A-17E8C77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99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Учебный пример подтверждает прирост относительно общего encoder-baseline.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AA211-3928-4E29-AF54-22E54CF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314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45DD1-095F-413E-A945-91AA665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CE3BA-9283-45D0-86F6-AAD1B9E4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Сущности + время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54791-BEDF-410F-93EF-4058D8DF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972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Переходит в рекомендательную систему и проверяется на конечном NDCG.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36844-822F-4973-8D5F-B2B3F5A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817AB-9C59-4B73-B4F0-93FFDDC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H3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FD81B-079D-4F0E-AE65-C18B29F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Calibration +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CB02C-EF60-4CDD-AC5D-7AA8A88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99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Требует отчета coverage и доли опасных уверенных ошибок.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D4CCB-D180-468E-9178-D218502D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5314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CDD1D-8360-4A2B-9912-4661BD93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H4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91C47-576C-4F1E-9C6F-18005EC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Русскоязычная модель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48351-2542-45EB-8092-66D96CC3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972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Проверяется отдельно на российском срезе и не переносится автоматически.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E8111-EE87-44B6-8172-4FE7AC7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f57a5b3955040a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98859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ca89602dd4b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27DE1-6EEC-40D4-9CA0-99F682E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5D2D8-E849-4311-B87F-C471A367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ПЕРЕДАЧА В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08B7E-663F-4353-B500-CA662CA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C153D-A90B-472D-AA45-ED480BBC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NLP-модуль создает контракт для следующей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F894-3310-4986-A361-CC6A4842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CV анализирует изображение, не дублируя текстовый сигнал.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58BE2-1F09-4A81-B503-4ECEE2D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7AD8-F20D-4748-8CE5-3BAF864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ticker +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5FDA2-DD80-4A4D-BAE0-7EE5F28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ABA4D-D89B-4F74-9E4F-D0DCD48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C0867-CC20-4C0B-B43B-EE8C4AF6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sentiment +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614FD-5A9F-48E3-AFC3-A8DA8B0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9DDF7-34BB-4F2A-A449-6AF14661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2B7EB-FBA9-4EA7-BDED-C8139548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+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C3801-D005-4BD3-829A-BED877A2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9E1D0-565C-48E4-8A5C-0F166EB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222BF-FF80-4CE6-89A3-3E14EADD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image URL + event_id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FE662-85EF-4587-ABCD-CAA84013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E51E7-85D0-4880-8215-1FA7AC0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899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feature_record = {value, confidence, timestamp, encoder_version, source}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827FE-B589-404B-9C9A-D215066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признак версионируется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C7B34-ACC3-4289-A784-5BEE632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 2 сравниваются text-only, image-only и fusion. Прирост изображения должен сохраняться после контроля времени и источника.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274D6-4DE1-4EE2-8A99-6BFFCC82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3cea12cfdfa4d1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7736322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cd90a45d049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8DC98-88F5-4CAD-89A3-09670925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F58BC-9836-478E-80EF-32E67AD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ОТЧЕТ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1610B-59C8-4EE7-BE61-B9BBD292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EB6CF-287C-40C4-8C28-AC64F43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должно быть в сдаваемой работе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DC60-F331-4B8E-B9E9-7749CFB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Командный проект допустим, но каждый участник объясняет весь экспериментальный контур.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4410C-71C5-4C90-A37A-F5BE895B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1AE78-23DD-45A8-ABC6-71ED2693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связь с ВКР и измеримый 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637DA-833A-4CDF-A4F7-403D4E36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F77D2-5017-4FCC-83BA-69C533C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обзор 10–15 источников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BE3E0-5C3F-4055-9111-1E6CADFA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B35C-F4BD-4F28-946A-9313DD8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выводы, пробел и H1–H4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D45DA-AE25-463F-A9B5-3915C30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5FB49-CCD6-460B-8B52-533AA3A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datasheet и схема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F5607-65CD-42E8-827E-2EEAA7A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740E3-2A81-4DBE-BE4A-C44311DF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7–8 моделей и одинаковый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9B41A-178C-48B4-89C7-F9A16442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E5D4B-08C8-4C5E-9D03-FCE5FC4A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таблица метрик и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859FE-20F4-4AFE-9556-4970B20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DE6C0-A960-46D8-9F34-479C83F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анализ ошибок и ограничения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FBF50-F9B3-41B6-A432-9EDD4AA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977B8-EB50-424C-B251-A79FCA59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код, конфигурации и вклад команды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EEC33-64A8-493A-A5D9-9B44B8E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139A9-D753-420D-B14D-1B146512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76875"/>
            <a:ext cx="861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артефакт = данные + код + веса/конфигурация + метрики + вывод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4FF52-8A50-4DFA-957A-D2DAB2F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388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минимум для воспроизводимости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72C7A-3079-4FB1-BC7F-9C84AA9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b4256939616412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555268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083e9941d46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E3C92-9454-4088-9BF5-E67F4C5C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4D10-6772-4A26-920A-99B3646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A11A5-B4F8-40CC-BA0E-D3E7693A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653C5-D4AA-4118-8102-8F0AEB7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Первичные публикации и открытые материалы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BCD27-7B22-41E6-ADD2-1453D6A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Названия кликабельны. Полный перечень литературы находится в лабораторной работе.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2A9C4-69FB-4557-8CFA-781214E3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1895F-3CAD-424D-AD97-45ACAE5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91abe022048f4534"/>
              </a:rPr>
              <a:t>Transformer · Vaswani et 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240D9-BBBC-4D2E-8001-05836C8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arxiv.org/abs/1706.03762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A3F08-DDB7-412F-85F0-09FED2C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92DF1-75DA-4C2C-944E-C027434A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28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00439743ce3c44e7"/>
              </a:rPr>
              <a:t>BERT · Devlin et 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EB2DB-9055-4E6C-A8A0-FDE6973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288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aclanthology.org/N19-1423/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E208A-13A7-4A4F-B014-47CF3672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1D50C-5618-4EB8-B9AC-19A8D53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28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991c1fcbfa243bc"/>
              </a:rPr>
              <a:t>FinBERT · Araci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D8A3E-6437-41F6-8DEE-46F22727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arxiv.org/abs/1908.10063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82BC2-C3A2-4ABE-B1AC-6FC7C223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0C193-F7F8-4BEB-8B7A-E7ACA0F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28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2e4f289634d8418f"/>
              </a:rPr>
              <a:t>Llama 3 · Meta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C92BB-0A69-4AA4-AAFF-A7351FC9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892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arxiv.org/abs/2407.21783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9B6D1-0D4A-44EE-99A9-5831AA9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4E9E8-0B2B-4B88-BB7B-A1DFED5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8e96bf82bdc54cee"/>
              </a:rPr>
              <a:t>Mistral 7B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68F27-9C6B-4322-809D-27C2E6FB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arxiv.org/abs/2310.06825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D9E35-B611-4609-A41A-C5E60D8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AB120-5B7C-4EE8-80E9-05DBF4F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290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e9004bcec3744b40"/>
              </a:rPr>
              <a:t>Qwen2.5 Technical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7ECFC-1FD9-44F0-ABA9-6F0F15C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arxiv.org/abs/2412.15115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DEA50-8B60-4430-8E42-62E192F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4E261-2063-47E2-82EF-7EB7F66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29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49c850ad9266443a"/>
              </a:rPr>
              <a:t>GigaChat Family · ACL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559C3-2671-4632-82EA-43C692F0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2917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aclanthology.org/2025.acl-demo.10/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BA7A4-07AD-47D7-B96D-975F129E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1487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63E0A-7DDB-45B6-8C61-17A6C2A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29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8da7731ae0e54bf0"/>
              </a:rPr>
              <a:t>Hugging Face Transformers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3E9DD-7203-42F0-9511-8256B864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2917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huggingface.co/docs/transformers/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F8706-3D2A-4041-8D8C-81907C4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c0d4ec02ac44a7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847158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9ac18aea94d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31D1-2C1C-47E8-8EB0-BE88E78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C17A-B0BD-49F1-BB22-D601527C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1A842-E5AE-42C7-8EE9-4D24ED1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17B7D-27C5-41A3-8C1D-7EACEC8F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Маршрут выполнения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675F5-69B3-4D4F-B9B7-36CA42A1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Начните с вопроса и обзора, затем фиксируйте данные и только после этого сравнивайте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B7CB0-435D-4566-B6C4-FA64DCD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C90CF-E1EA-4C5B-9322-EED5B4D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Вопрос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обзор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5BB0-A95A-4D82-90C9-91645B66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C367F-F95D-4DC1-AA1A-F40EB8E9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0C8F2-A224-4570-9F2B-2BBF2DC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Данные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A4DEE-7BCF-4F14-A7D4-C9702D9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F4D1B-9C84-4F1D-B6A3-F9AD2A4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BD4DA-A73D-4276-BF9E-2FBE02C3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Baseline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09B1F-9348-4ACB-8542-E681DDF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820D0-1BE2-4D4E-A745-76B77205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CA238-88F0-4597-9752-459A039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Метрики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06CC6-9D0A-4367-86FE-D6EE349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D3A49-1A2D-4289-A108-A460EAC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Правило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выбора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3E536-5F61-4B42-B0E4-B8D4A9B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EE8AB-1232-44B7-8DFA-644A3C15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C3B74-0E38-4001-A3D2-6CF2D675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Вывод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 гипотезе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7C821-9651-4D22-BAF4-4E61CE4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3B5EE-6939-4886-ADD8-C07E145C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0BF7B-4479-41A1-B699-72FC6FA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7. Контракт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для CV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888AD-8E56-4F17-BEE8-5EC15201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3925D-B19D-45EC-9DFB-A9B75978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C52C3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AA442-0CDC-4714-B715-678BA5D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8. Защита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репозиторий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419413-AFA0-4EF2-B368-1BD86143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57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f8b9dbb4b9c94dc7"/>
              </a:rPr>
              <a:t>Открыть интерактивный пример: petrnikitin20.github.io/PML/lab1-nlp.html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F952B-D49C-4839-BE7E-9CF2854C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f709941e1044ee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656577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6bf6c37e848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C71D-CB30-4CB6-87F5-A6D4F51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A6340-6801-4D7E-91E1-187C83D1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ПОДКЛЮЧЕНИЕ МОДЕЛЕЙ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ECA34-92A3-4A64-870B-DD9D6AD2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9E567-7ECF-4557-AF78-49EC3565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Как подключается каждая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F0AE0-11D2-4A31-A3BB-8091069D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Способ доступа влияет на воспроизводимость, стоимость, задержку и конфиденциальность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B67C8-D88B-4780-B78E-C34C1B1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DD561-6DE8-4B01-9641-C4A1FF54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BERT · RuBERT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5F60B-8681-4787-9F38-B91216F7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локально: transformers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B3EFF-E9D3-403E-9216-32FE8636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доступны; оплачивается инфраструктура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79186-BD4B-470C-B878-47B95FF3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23EF4-BCEA-4481-B90F-260C238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FinBERT · XLM-R · DeBERTa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64158-ADB7-487D-AFC5-3217998E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локально или Hugging 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7768B-293F-4FD8-BFDF-0B32ABE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локально без платы за вызов; hosted usage тарифицируется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3BECA-4032-4450-9974-07F9DBB0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02A2E-3FB8-4175-B51A-B2677166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F1C87-F6BA-4BE4-A73A-256DBF3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OpenAI Responses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FFD67-93CD-4415-B378-3A9F51BD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облачный API, оплата по токенам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0E1E9-382C-4853-B914-918B2D7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44BB8-4787-4DDB-8F93-43AF4164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Llama 3.1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484BF-A38E-4BAB-A582-E848379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локально / провайдер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462A8-5D8C-4965-A595-F21200F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по лицензии Meta; хостинг может быть платным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B0711-81D6-4CA0-9952-B6160F00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91183-0E84-4E02-B82B-9B90AC6B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Mistral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B2491-B2E0-481E-A11F-F4D83D6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локальные веса / Mistral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F579D-67B2-493A-8D6B-6A5D5EC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есть Free mode с лимитами; production тарифицируется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1CF51-14AC-4CBB-95FC-ECD8EB4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842F21-D18B-4DD5-9AC1-7F2C3BE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Qwen2.5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2E419-FAEF-4354-AA3B-5350E358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72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локально / vLLM / провайдер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2368B-4824-4982-BED9-D1DD7CD8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доступны; облачный inference зависит от провайдера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3A502-38CD-4C1A-9123-D48D6214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5E624-0A17-4240-80DB-0DF8F6C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GigaChat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4CA59-8CD2-4804-B988-7172B69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GigaChat API / cloud.ru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38C6CA-AE88-41E1-97A7-A4F40B2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 и оплата по действующим тарифам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D6E55C-5EB8-4B28-A15A-6818F5E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Бесплатно ≠ без затрат: локальный запуск использует RAM/VRAM и время вычислений. Условия облачных сервисов проверяются перед экспериментом.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3799BF-4A67-44EF-B1A1-F1B48E9C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4b7aad7e3b9495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3141396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c48fa623f4b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A0A0-E930-48D1-A988-C9D776B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F1211-8C79-4FD7-B82A-BE11FF0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· ЛОКАЛЬНО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6594-7E85-459A-BA89-96F7D2F0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53FF5-9A24-4A82-B007-08E4B590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BERT-семейство: извлечённая суммаризация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7A749-6C34-4C56-8653-656C551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не генерирует новый текст. Он оценивает предложения, после чего алгоритм выбирает наиболее информативные.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14D3-F235-4EE7-AF6F-2AB508D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77542-CCE5-4897-A8A0-D29C50F4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transformers import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ranker = pipeline(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"text-classification",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model="cointegrated/rubert-tiny2"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sentences = split_sentences(text)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scores = relevance(sentences, query="ключевые факты")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summary = " ".join(top_k(sentences, scores, k=3))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print(summary)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ABCF4-E66D-4C83-849A-B52BE1C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09D29-C2CB-473C-8142-34CB3039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1F986-05FA-41EA-80EC-1342F64A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7E4AC-3369-4EFB-8AFC-E06BECC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Тот же каркас применим к BERT, RuBERT, FinBERT, XLM-R и DeBERTa. Меняются checkpoint, tokenizer и обученная scoring-head; исходные предложения сохраняются без галлюцинаций.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57193-1CE4-49EF-A280-71AD737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75135-9814-4F92-9B01-AE4A2191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B66A6-0277-4E9E-8F43-D6BFB88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71134-A085-4F0B-B6D9-F77C20C7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00DE9-CA78-4C9E-ABD2-DC5B0B8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3eb0d4594294a2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8819993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dfcd31b914d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BA3AF-315A-48B6-B961-454862F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57B18-237F-4725-BD52-5DF658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GPT ·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1DEC8-0F2E-48BA-AB8B-D0A50E6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05779-AA32-4B81-9AE3-02DBC642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OpenAI Responses API: абстрактивное резюме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316CE-0DE9-4B91-B77F-1B9F10B4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Облачный вызов оплачивается по токенам. Точный model ID и тариф фиксируются в журнале эксперимента.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09239-98DB-4FF2-A44A-C0BCDAB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5B75-89C7-4ED4-A3AA-721EEFF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os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openai import OpenAI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client = OpenAI(api_key=os.environ["OPENAI_API_KEY"])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response = client.responses.create(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model="gpt-5.6-luna",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input=[{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"role": "user",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"content": "Суммаризируй новость в 3 фактах. 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   "Не добавляй сведения вне текста:\n" + text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}]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print(response.output_text)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9588F-5393-45F7-9B8D-AA9CF76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31779-7D6E-44C6-9EE6-9C08759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F81AC-F36A-4960-A94E-5A9DB8EA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D8DA8-9BB9-46A5-ADD5-15B8E79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Responses API получает инструкцию и исходный текст. Ограничение «не добавляй» снижает риск выдуманных деталей, но не заменяет автоматическую проверку фактов.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94DA3-3435-4D90-B6B2-C9708CBE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9EEE8-B33C-4248-8BE7-03CE8BA7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87C77-3D20-4F1C-A681-DFCF62A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1BB84-A387-4100-8F4A-D039FE2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96E63-54ED-4EB3-9167-09857BC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018c0d99dc84e7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1927933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c3ab479da4a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BD1B1-3224-4B48-B8FE-B5981E4D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2B04A-E5F1-456C-B45C-3A563E1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LLAMA · ЛОКАЛЬНО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C2875-67A6-43B0-945B-7DC60C7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E4A57-023F-45EB-AAA6-FA42038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Llama 3.1: локальная генерация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37977-B927-4456-8240-2058984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загружаются после принятия лицензии Meta; плата за запрос отсутствует, но нужен подходящий компьютер.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5E874-710E-4398-943D-8631FFD1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AD525-32CE-44DD-A360-02B6B21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transformers import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llm = pipeline(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"text-generation",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model="meta-llama/Llama-3.1-8B-Instruct",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model_kwargs={"torch_dtype": "auto"},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device_map="auto"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messages = [{"role":"user", "content":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"Суммаризируй в 3 проверяемых пунктах:\n" + text}]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answer = llm(messages, max_new_tokens=180,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 do_sample=False)[0]["generated_text"][-1]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print(answer["content"])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C1D4-5A9D-4A20-8238-FE08106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333BA-BCA7-43F6-838A-DED2156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CEFCE-FD76-4345-914B-9EE7A7A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1169F-772D-4815-84CF-48AF336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Instruction-checkpoint формирует абстрактивное резюме. Для повторяемости отключено случайное сэмплирование, а версия весов сохраняется в конфигурации.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21C36-C7A7-4B32-8740-7A5EF72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B7A0B-2AE1-4D11-AEA2-C5E5377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2AF82-B235-4062-AE0F-F75EB8C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EE40B-8681-4995-984D-3A1970A4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D773C-6FA4-4B38-A50F-A9CCB11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e3ef8cda097486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106197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ce4246feb4b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9DD0-0A52-4DD6-8F01-AA801F18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DAF42-2227-4C81-BAF9-3903F8D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MISTRAL ·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55D04-94AB-4474-A4E4-92B81EED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ADDBE-1990-4713-A310-FF9B35D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Mistral API: суммаризация новости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58CAC-A307-4C9C-A815-791482B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Mistral Studio позволяет создать ключ; Free mode имеет ограничения, а производственный режим связан с биллингом.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77C0F-513F-45A2-B818-82506046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2126-C9B7-4026-B61E-6C413C7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os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mistralai.client import Mistral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client = Mistral(api_key=os.environ["MISTRAL_API_KEY"])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response = client.chat.complete(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model="mistral-large-latest",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messages=[{"role":"user", "content":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"Сделай краткое резюме и выпиши числа. 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"Используй только текст:\n" + text}]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print(response.choices[0].message.content)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D4307-3A1A-4D2F-8D11-9AB3967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6BC23-8955-42F1-903E-1D746E81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C08A8-4F81-4780-A1C8-3DA674F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3589C-AB2C-4033-8094-0D8B13A2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 эксперименте псевдоним latest лучше заменить зафиксированной версией, если она доступна. Иначе результат может измениться после обновления провайдера.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61CE7-C003-470C-8B0E-67C8FB21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B7B59-F906-4717-BEE9-58C9992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35D70-D754-4995-AE2C-B47BD2CF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28154-443A-472E-B230-18DDEF37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21E49-CDFE-4887-B6FC-8F01C606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7c67e09f3c4fc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6080259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a7b96ac0143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A9350-F803-4143-A063-38F889C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4D6F2-E1E9-4833-9C12-92CEAE12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QWEN · ЛОКАЛЬНО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DA1E7-A6D2-440C-8DF6-AE0085C0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1804-43EE-4CD1-9434-47E7FD82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Qwen2.5-7B: локальная суммаризация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735A3-4DFA-4BE7-95A8-B45E141A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запускается локально через Transformers; vLLM может предоставить OpenAI-совместимый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AE7F-9732-4E0A-9444-6DF4FA61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76752-441D-40A8-9A2D-1EF3160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transformers import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llm = pipeline(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"text-generation",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model="Qwen/Qwen2.5-7B-Instruct",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device_map="auto", torch_dtype="auto"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messages = [{"role":"user", "content":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"Суммаризируй финансовую новость. Верни JSON 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"с полями summary, numbers, risks:\n" + text}]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out = llm(messages, max_new_tokens=220,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do_sample=False)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print(out[0]["generated_text"][-1]["content"])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72E58-EE21-493F-A3DF-4D2F3B8E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9D131-AB62-42A8-BC8F-3CA1052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92B43-0471-4CB7-802F-720435BC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78AC-B816-4A80-B14E-2490664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JSON проверяется схемой. Локальный режим удобен для закрытых данных, но требует контроля памяти, квантования и версии библиотеки.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146DC-81AB-4E3F-BCC0-4907D23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B922D-6E82-401A-92D8-15591A73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DEB1C-0CF5-4E3B-B606-414F1AD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30FE4-1971-4AB9-AD2F-76D8C8C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DCF51-63A0-48E9-BF83-8566ADE5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5bdd2051ee1430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5406327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d50664e3d4d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8F5AC-4247-49D6-BDE3-31EDDFF4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A5AB4-E2EC-4D51-A366-8C0D21D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GIGACHAT ·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F2AE8-1F1F-402B-8C97-73841FA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F75DB-B4E3-4C74-9ECD-E281317D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GigaChat API: русскоязычное резюме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35973-0909-4EAD-B199-39EA002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API нужны проект, учетные данные и сертификаты; условия оплаты проверяются в кабинете или cloud.ru.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0B70-D1A7-4A82-9009-D5FCF0E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B9696-942D-4533-8829-E10EF071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os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gigachat import GigaChat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GigaChat(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credentials=os.environ["GIGACHAT_CREDENTIALS"],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verify_ssl_certs=True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 as client: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response = client.chat(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"Суммаризируй новость в 3 тезисах. 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"Сохрани компании, даты и проценты:\n" + text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print(response.choices[0].message.content)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001E1-6CE2-4ADE-A9A2-D66E692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D7AA9-0F3D-4769-B9E6-29E3F4D7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C7A7E-9644-4497-A4AA-1735D26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0AD5F-F502-41C8-81AB-2C11EA2D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Русскоязычный API сравнивается на том же наборе текстов. Секрет хранится в переменной окружения и никогда не публикуется в ноутбуке.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CB37C-A107-4572-B477-8EE837D6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E2C23-ECDF-4EFC-8EB7-A3AEB219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D8487-D49F-4D24-9499-86CA027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2BE63-6649-4B75-A309-B2B8AF6B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834BA-0B5B-4E86-9EB7-16B0193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2e288a829c849c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7731801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ead8ffd27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E6C88-A98E-4382-A305-CFE5D1C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90C3C-DC44-4866-94BE-2C8F8E2A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 · KAGGLE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DD91A-327D-41C4-B3F7-F63047B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AC8FC-19C3-4B6D-B947-414D815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Financial PhraseBank: роль набора в лабораторной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6274D-4D19-4360-9CF7-FEDD76F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Набор подходит для базовой классификации тональности, но не содержит полный временной контур инвестиционного исследования.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7453C-5B77-46EA-9777-475BDC0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F3AD4-F1D5-4A91-821C-AC75C6BA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ЕДИНИЦА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AB743-92BA-4378-BA8A-7438351A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Финансовая фраза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AE16B-605E-4AF6-BEA1-98EF116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Короткий англоязычный фрагмент деловой новости с меткой positive, neutral или negative.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3E8E5-F65B-42FF-B582-723BFD8F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1E82A-850F-448C-9DA6-A9D34454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ИСТОЧНИК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02620-8FFD-4CBF-8193-478612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Kaggle mirror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72BB6-94A8-4086-AA95-365B7F05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ankurzing/sentiment-analysis-for-financial-news. Перед использованием проверить карточку и условия распространения.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8874E-E529-4C19-9211-E08FB37D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BB0A9-F3FD-4859-AEB1-CB8104A7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F8239-8917-4B91-B8D1-88082219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Нет даты и тикера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28398-9300-4383-9191-9651296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Нельзя честно измерить temporal generalization и доходность без присоединения отдельного новостного корпуса.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3D47B-4B70-464E-8234-FCEE6A6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6D2BD-DAF5-4834-B05E-16480B3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0"/>
            <a:ext cx="861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text → sentiment label;  дополнительный корпус: date + ticker + source + URL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C7162-2ED2-4D5F-9353-A1E9EA0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двухконтурная схема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EFD65-4B8B-4019-82FB-A9FD56FB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55e34d792f1408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8452379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44e10e2744b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7E36B-712A-4755-8E37-AE81A58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29AE0-58B3-429E-BDBE-B75BCD05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 · KAGGLE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004C2-55ED-474A-9B4E-A95B0715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65CF9-C3A9-447C-8842-C7A3945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Загрузка набора прямо из Kaggle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9CE3A-3B71-49F8-BE2A-81A98B7D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Авторизация выполняется через токен Kaggle. Путь возвращает локальный кэш, из которого читается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40FEA-FC71-421D-925D-86D738C2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BFDB6-DE1B-4400-9533-72330D9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# 1. pip install kagglehub pandas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kagglehub, pathlib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folder = kagglehub.dataset_download(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"ankurzing/sentiment-analysis-for-financial-news"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files = list(pathlib.Path(folder).rglob("*.csv"))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print(files)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df = pd.read_csv(files[0], encoding="latin-1",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     names=["sentiment", "text"])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print(df.head(3))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37055-5320-4F0E-96C3-EBA7EE0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0D175-9469-43D2-9C2E-09E6CCD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5702B-B76C-467E-B65F-31E5BCAA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4F81D-EB97-4C29-8C6B-9CFCD9D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Сначала печатается список файлов: имя CSV и разделитель могут отличаться между версиями. После загрузки сохраняются slug, версия и контрольная сумма файла.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471E8-D497-4EBC-8AC9-ADB0896D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6C7C5-DAB7-4D15-B8EB-93B1AF3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252D1-026E-47F2-9ED7-7B379DA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E5C03-6B88-47CB-8D7C-9529E90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DE3CD-AEAC-4BA3-A787-83CFA9B4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6e2636ab4b40c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534206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63f9aac3f4a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66010-C71F-430E-B060-8231B18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247C-6888-4961-A95A-087E6D5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 · ПРИМЕР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FEA2E-2CF4-4249-A5B0-30C7522E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F4B5E-B634-48EF-AED0-174F2FAC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Пример записи и контроль качества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4BFC1-C1C4-4EA9-95DA-1F35E1F4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До обучения строка проходит проверку схемы, дубликатов, языка и конфликтующих меток.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C5B5A-1D3C-4433-BED8-923066FC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9EDA3-9091-494D-8A32-E5B170E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sentiment = "positive"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text = "Operating profit rose to EUR 13.1 million from EUR 8.7 million."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25D1D-6E69-43E7-86D7-4D5A283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FF78F-DDB1-4B84-B627-F034387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СХЕМА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422DC-9DB3-40B2-B761-86CCB76D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text: str, sentiment ∈ 3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64B7E-3526-45E4-920C-F8A0871D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FC42A-AF8A-4E9B-9358-65DF4F3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73B32-E251-46AE-81A1-223BC55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57550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ДУБЛИКАТЫ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12577-2AD4-4DEE-8732-26F446C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24250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6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exact + normalized + near-duplicates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202F1-E200-46E8-8DF6-5ED473A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81450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01B62-3E0A-4C1B-87A7-56CF337F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66D51-6D59-4850-9481-1A80E73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КОНФЛИКТЫ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DF29A-59A6-4683-9541-86A88846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одинаковый text с разными 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B1011-8B06-4769-8B08-C0B0341E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7FF7D-1996-4B7E-ADB3-53296A7C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1BDB9-97F8-4035-AB12-36DC5C1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ДЛИНА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0A4CD-A63E-4E55-B695-BE0EBA7E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число символов и токенов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4B0CD-3DE8-4374-88EC-9911CD8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8EEDF-6A0B-4674-8ABE-873F650D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0ADA3-D0B4-4A3A-955C-A24CEC5D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38675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ЯЗЫК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10B30-40FE-42CB-8942-5ACB48E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2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английский; русский оценивается отдельно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7BC4D-C31C-4FD4-925B-85CE1D8D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62575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3A50E9-FD2B-421B-ADE2-94DBDF30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E16A0-B40A-40E6-BF51-C609AF2D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38675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C0FC28-EADA-4875-A6CA-DC52690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05375"/>
            <a:ext cx="3133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2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group split; для dated corpus temporal split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14DBB-5F94-4031-AE5A-35DB247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62575"/>
            <a:ext cx="3133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Записать количество найденных и правило обработки.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48BD0-FF3D-42E1-96AE-565A119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e8bba453ce948f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1156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2026-09-18T04:00:13.1470000Z</dcterms:created>
  <dcterms:modified xsi:type="dcterms:W3CDTF">2026-09-18T04:00:13.1480000Z</dcterms:modified>
</coreProperties>
</file>