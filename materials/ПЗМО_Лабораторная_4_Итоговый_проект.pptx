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bba7503a1d40d1" /><Relationship Type="http://schemas.openxmlformats.org/officeDocument/2006/relationships/extended-properties" Target="/docProps/app.xml" Id="Rb25dda1ad36d49c9" /><Relationship Type="http://schemas.openxmlformats.org/officeDocument/2006/relationships/officeDocument" Target="/ppt/presentation.xml" Id="Rae6056fd7b6747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6a1c69fcd240c2"/>
  </p:sldMasterIdLst>
  <p:notesMasterIdLst>
    <p:notesMasterId xmlns:r="http://schemas.openxmlformats.org/officeDocument/2006/relationships" r:id="Rb18c5be5387c46f5"/>
  </p:notesMasterIdLst>
  <p:sldIdLst>
    <p:sldId xmlns:r="http://schemas.openxmlformats.org/officeDocument/2006/relationships" id="256" r:id="R65783d2301ce4659"/>
    <p:sldId xmlns:r="http://schemas.openxmlformats.org/officeDocument/2006/relationships" id="257" r:id="R6da6da72367345fd"/>
    <p:sldId xmlns:r="http://schemas.openxmlformats.org/officeDocument/2006/relationships" id="258" r:id="R02f351c8fbdc4208"/>
    <p:sldId xmlns:r="http://schemas.openxmlformats.org/officeDocument/2006/relationships" id="259" r:id="Rf7d4a21ec9174c5d"/>
    <p:sldId xmlns:r="http://schemas.openxmlformats.org/officeDocument/2006/relationships" id="260" r:id="Rd29da138b0ce460b"/>
    <p:sldId xmlns:r="http://schemas.openxmlformats.org/officeDocument/2006/relationships" id="261" r:id="R2c87a9a66262470d"/>
    <p:sldId xmlns:r="http://schemas.openxmlformats.org/officeDocument/2006/relationships" id="262" r:id="R74ec11d35b4c406e"/>
    <p:sldId xmlns:r="http://schemas.openxmlformats.org/officeDocument/2006/relationships" id="263" r:id="Rd75999966a064981"/>
    <p:sldId xmlns:r="http://schemas.openxmlformats.org/officeDocument/2006/relationships" id="264" r:id="R8ed18e10cbd84961"/>
    <p:sldId xmlns:r="http://schemas.openxmlformats.org/officeDocument/2006/relationships" id="265" r:id="R3a64cc94e5fe4325"/>
    <p:sldId xmlns:r="http://schemas.openxmlformats.org/officeDocument/2006/relationships" id="266" r:id="Re5219addbc5d4067"/>
    <p:sldId xmlns:r="http://schemas.openxmlformats.org/officeDocument/2006/relationships" id="267" r:id="R7426a72e277e48a7"/>
    <p:sldId xmlns:r="http://schemas.openxmlformats.org/officeDocument/2006/relationships" id="268" r:id="R76719c83672d4c36"/>
    <p:sldId xmlns:r="http://schemas.openxmlformats.org/officeDocument/2006/relationships" id="269" r:id="R1f24ba54672140b7"/>
    <p:sldId xmlns:r="http://schemas.openxmlformats.org/officeDocument/2006/relationships" id="270" r:id="R2ee5435ff2834b72"/>
    <p:sldId xmlns:r="http://schemas.openxmlformats.org/officeDocument/2006/relationships" id="271" r:id="R9c169adef2664abb"/>
    <p:sldId xmlns:r="http://schemas.openxmlformats.org/officeDocument/2006/relationships" id="272" r:id="R15e3fdf2b8b54155"/>
    <p:sldId xmlns:r="http://schemas.openxmlformats.org/officeDocument/2006/relationships" id="273" r:id="Rfc29872ba11045d0"/>
    <p:sldId xmlns:r="http://schemas.openxmlformats.org/officeDocument/2006/relationships" id="274" r:id="Rc3deaf65527d42af"/>
    <p:sldId xmlns:r="http://schemas.openxmlformats.org/officeDocument/2006/relationships" id="275" r:id="R97cda8dc847d4f33"/>
    <p:sldId xmlns:r="http://schemas.openxmlformats.org/officeDocument/2006/relationships" id="276" r:id="Ra53321681f47415f"/>
    <p:sldId xmlns:r="http://schemas.openxmlformats.org/officeDocument/2006/relationships" id="277" r:id="R1675a1010ddc41df"/>
    <p:sldId xmlns:r="http://schemas.openxmlformats.org/officeDocument/2006/relationships" id="278" r:id="R8f67607897b24d5e"/>
    <p:sldId xmlns:r="http://schemas.openxmlformats.org/officeDocument/2006/relationships" id="279" r:id="R353bf5f9dbfc4adf"/>
    <p:sldId xmlns:r="http://schemas.openxmlformats.org/officeDocument/2006/relationships" id="280" r:id="Rf1393ff0e1484194"/>
    <p:sldId xmlns:r="http://schemas.openxmlformats.org/officeDocument/2006/relationships" id="281" r:id="R54d1f33aad1243ff"/>
    <p:sldId xmlns:r="http://schemas.openxmlformats.org/officeDocument/2006/relationships" id="282" r:id="R24070aeb04a244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352e530366488e" /><Relationship Type="http://schemas.openxmlformats.org/officeDocument/2006/relationships/slideMaster" Target="/ppt/slideMasters/slideMaster1.xml" Id="R5b6a1c69fcd240c2" /><Relationship Type="http://schemas.openxmlformats.org/officeDocument/2006/relationships/notesMaster" Target="/ppt/notesMasters/notesMaster1.xml" Id="Rb18c5be5387c46f5" /><Relationship Type="http://schemas.openxmlformats.org/officeDocument/2006/relationships/presProps" Target="/ppt/presProps.xml" Id="R1d9100bc21bc49d2" /><Relationship Type="http://schemas.openxmlformats.org/officeDocument/2006/relationships/tableStyles" Target="/ppt/tableStyles.xml" Id="Raa57cc5c0ca346b2" /><Relationship Type="http://schemas.openxmlformats.org/officeDocument/2006/relationships/slide" Target="/ppt/slides/slide1.xml" Id="R65783d2301ce4659" /><Relationship Type="http://schemas.openxmlformats.org/officeDocument/2006/relationships/slide" Target="/ppt/slides/slide2.xml" Id="R6da6da72367345fd" /><Relationship Type="http://schemas.openxmlformats.org/officeDocument/2006/relationships/slide" Target="/ppt/slides/slide3.xml" Id="R02f351c8fbdc4208" /><Relationship Type="http://schemas.openxmlformats.org/officeDocument/2006/relationships/slide" Target="/ppt/slides/slide4.xml" Id="Rf7d4a21ec9174c5d" /><Relationship Type="http://schemas.openxmlformats.org/officeDocument/2006/relationships/slide" Target="/ppt/slides/slide5.xml" Id="Rd29da138b0ce460b" /><Relationship Type="http://schemas.openxmlformats.org/officeDocument/2006/relationships/slide" Target="/ppt/slides/slide6.xml" Id="R2c87a9a66262470d" /><Relationship Type="http://schemas.openxmlformats.org/officeDocument/2006/relationships/slide" Target="/ppt/slides/slide7.xml" Id="R74ec11d35b4c406e" /><Relationship Type="http://schemas.openxmlformats.org/officeDocument/2006/relationships/slide" Target="/ppt/slides/slide8.xml" Id="Rd75999966a064981" /><Relationship Type="http://schemas.openxmlformats.org/officeDocument/2006/relationships/slide" Target="/ppt/slides/slide9.xml" Id="R8ed18e10cbd84961" /><Relationship Type="http://schemas.openxmlformats.org/officeDocument/2006/relationships/slide" Target="/ppt/slides/slide10.xml" Id="R3a64cc94e5fe4325" /><Relationship Type="http://schemas.openxmlformats.org/officeDocument/2006/relationships/slide" Target="/ppt/slides/slide11.xml" Id="Re5219addbc5d4067" /><Relationship Type="http://schemas.openxmlformats.org/officeDocument/2006/relationships/slide" Target="/ppt/slides/slide12.xml" Id="R7426a72e277e48a7" /><Relationship Type="http://schemas.openxmlformats.org/officeDocument/2006/relationships/slide" Target="/ppt/slides/slide13.xml" Id="R76719c83672d4c36" /><Relationship Type="http://schemas.openxmlformats.org/officeDocument/2006/relationships/slide" Target="/ppt/slides/slide14.xml" Id="R1f24ba54672140b7" /><Relationship Type="http://schemas.openxmlformats.org/officeDocument/2006/relationships/slide" Target="/ppt/slides/slide15.xml" Id="R2ee5435ff2834b72" /><Relationship Type="http://schemas.openxmlformats.org/officeDocument/2006/relationships/slide" Target="/ppt/slides/slide16.xml" Id="R9c169adef2664abb" /><Relationship Type="http://schemas.openxmlformats.org/officeDocument/2006/relationships/slide" Target="/ppt/slides/slide17.xml" Id="R15e3fdf2b8b54155" /><Relationship Type="http://schemas.openxmlformats.org/officeDocument/2006/relationships/slide" Target="/ppt/slides/slide18.xml" Id="Rfc29872ba11045d0" /><Relationship Type="http://schemas.openxmlformats.org/officeDocument/2006/relationships/slide" Target="/ppt/slides/slide19.xml" Id="Rc3deaf65527d42af" /><Relationship Type="http://schemas.openxmlformats.org/officeDocument/2006/relationships/slide" Target="/ppt/slides/slide20.xml" Id="R97cda8dc847d4f33" /><Relationship Type="http://schemas.openxmlformats.org/officeDocument/2006/relationships/slide" Target="/ppt/slides/slide21.xml" Id="Ra53321681f47415f" /><Relationship Type="http://schemas.openxmlformats.org/officeDocument/2006/relationships/slide" Target="/ppt/slides/slide22.xml" Id="R1675a1010ddc41df" /><Relationship Type="http://schemas.openxmlformats.org/officeDocument/2006/relationships/slide" Target="/ppt/slides/slide23.xml" Id="R8f67607897b24d5e" /><Relationship Type="http://schemas.openxmlformats.org/officeDocument/2006/relationships/slide" Target="/ppt/slides/slide24.xml" Id="R353bf5f9dbfc4adf" /><Relationship Type="http://schemas.openxmlformats.org/officeDocument/2006/relationships/slide" Target="/ppt/slides/slide25.xml" Id="Rf1393ff0e1484194" /><Relationship Type="http://schemas.openxmlformats.org/officeDocument/2006/relationships/slide" Target="/ppt/slides/slide26.xml" Id="R54d1f33aad1243ff" /><Relationship Type="http://schemas.openxmlformats.org/officeDocument/2006/relationships/slide" Target="/ppt/slides/slide27.xml" Id="R24070aeb04a244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d7ef30b2c54b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52784bb55c4701" /><Relationship Type="http://schemas.openxmlformats.org/officeDocument/2006/relationships/notesMaster" Target="/ppt/notesMasters/notesMaster1.xml" Id="Rf32af3e9086a48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a3a6042306462d" /><Relationship Type="http://schemas.openxmlformats.org/officeDocument/2006/relationships/notesMaster" Target="/ppt/notesMasters/notesMaster1.xml" Id="R423eebebef4e46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047bbef1494c0c" /><Relationship Type="http://schemas.openxmlformats.org/officeDocument/2006/relationships/notesMaster" Target="/ppt/notesMasters/notesMaster1.xml" Id="R173a93c9eac342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23d76125574dcb" /><Relationship Type="http://schemas.openxmlformats.org/officeDocument/2006/relationships/notesMaster" Target="/ppt/notesMasters/notesMaster1.xml" Id="R898135de5bd943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28d7d46cfc4b39" /><Relationship Type="http://schemas.openxmlformats.org/officeDocument/2006/relationships/notesMaster" Target="/ppt/notesMasters/notesMaster1.xml" Id="Ra2b50e07b30b41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91593e80674eed" /><Relationship Type="http://schemas.openxmlformats.org/officeDocument/2006/relationships/notesMaster" Target="/ppt/notesMasters/notesMaster1.xml" Id="Rb2cb706fae434b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bd6adb409e4aa0" /><Relationship Type="http://schemas.openxmlformats.org/officeDocument/2006/relationships/notesMaster" Target="/ppt/notesMasters/notesMaster1.xml" Id="Rb67ea1a9e1804e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a0b80b47344bd0" /><Relationship Type="http://schemas.openxmlformats.org/officeDocument/2006/relationships/notesMaster" Target="/ppt/notesMasters/notesMaster1.xml" Id="R66596177fb5a45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39b50e932947d4" /><Relationship Type="http://schemas.openxmlformats.org/officeDocument/2006/relationships/notesMaster" Target="/ppt/notesMasters/notesMaster1.xml" Id="R8da6a5aa34774c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469cc92012466c" /><Relationship Type="http://schemas.openxmlformats.org/officeDocument/2006/relationships/notesMaster" Target="/ppt/notesMasters/notesMaster1.xml" Id="R0c104e5b008e44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c2c84742174c10" /><Relationship Type="http://schemas.openxmlformats.org/officeDocument/2006/relationships/notesMaster" Target="/ppt/notesMasters/notesMaster1.xml" Id="Rcfddfeaa2f9f46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1d0f0e08b74b70" /><Relationship Type="http://schemas.openxmlformats.org/officeDocument/2006/relationships/notesMaster" Target="/ppt/notesMasters/notesMaster1.xml" Id="R1bd60da2b07446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e7be18569f45db" /><Relationship Type="http://schemas.openxmlformats.org/officeDocument/2006/relationships/notesMaster" Target="/ppt/notesMasters/notesMaster1.xml" Id="Ref064012585543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db413e75be496b" /><Relationship Type="http://schemas.openxmlformats.org/officeDocument/2006/relationships/notesMaster" Target="/ppt/notesMasters/notesMaster1.xml" Id="R3e5ab5825f1b4e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ef8201859e44dd" /><Relationship Type="http://schemas.openxmlformats.org/officeDocument/2006/relationships/notesMaster" Target="/ppt/notesMasters/notesMaster1.xml" Id="Rab936d339e9040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1cf22468ec47cb" /><Relationship Type="http://schemas.openxmlformats.org/officeDocument/2006/relationships/notesMaster" Target="/ppt/notesMasters/notesMaster1.xml" Id="Ra5509a99c5f144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427655750304650" /><Relationship Type="http://schemas.openxmlformats.org/officeDocument/2006/relationships/notesMaster" Target="/ppt/notesMasters/notesMaster1.xml" Id="R71fb71c32d95448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7536672e6c74105" /><Relationship Type="http://schemas.openxmlformats.org/officeDocument/2006/relationships/notesMaster" Target="/ppt/notesMasters/notesMaster1.xml" Id="R00d9e2768ca14e9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66deb2bd5b04954" /><Relationship Type="http://schemas.openxmlformats.org/officeDocument/2006/relationships/notesMaster" Target="/ppt/notesMasters/notesMaster1.xml" Id="R7d7fc1c13e5b400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4427d0013cf4063" /><Relationship Type="http://schemas.openxmlformats.org/officeDocument/2006/relationships/notesMaster" Target="/ppt/notesMasters/notesMaster1.xml" Id="R3236642d236a4ae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0f8aa8701fd49fb" /><Relationship Type="http://schemas.openxmlformats.org/officeDocument/2006/relationships/notesMaster" Target="/ppt/notesMasters/notesMaster1.xml" Id="R45bced3d434a4b3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ab12eb8f69349ba" /><Relationship Type="http://schemas.openxmlformats.org/officeDocument/2006/relationships/notesMaster" Target="/ppt/notesMasters/notesMaster1.xml" Id="R6d4b0ae24721450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bc06ad33a3e48bd" /><Relationship Type="http://schemas.openxmlformats.org/officeDocument/2006/relationships/notesMaster" Target="/ppt/notesMasters/notesMaster1.xml" Id="Rf07a8daaea7d49d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54cad7064a54a0f" /><Relationship Type="http://schemas.openxmlformats.org/officeDocument/2006/relationships/notesMaster" Target="/ppt/notesMasters/notesMaster1.xml" Id="R4c4f1831abe749b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32f46ee39af492f" /><Relationship Type="http://schemas.openxmlformats.org/officeDocument/2006/relationships/notesMaster" Target="/ppt/notesMasters/notesMaster1.xml" Id="R9a30d55ebda7410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4cc9d91853341fe" /><Relationship Type="http://schemas.openxmlformats.org/officeDocument/2006/relationships/notesMaster" Target="/ppt/notesMasters/notesMaster1.xml" Id="Re7dd8e5f683a412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cc0ce6198714c0a" /><Relationship Type="http://schemas.openxmlformats.org/officeDocument/2006/relationships/notesMaster" Target="/ppt/notesMasters/notesMaster1.xml" Id="R9641b4b234944c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04fcc16e574f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f3e4577e4647f9" /><Relationship Type="http://schemas.openxmlformats.org/officeDocument/2006/relationships/slideLayout" Target="/ppt/slideLayouts/slideLayout1.xml" Id="R18b21d9307fe48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b21d9307fe48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de63eb2c240db" /><Relationship Type="http://schemas.openxmlformats.org/officeDocument/2006/relationships/image" Target="/ppt/media/image.png" Id="Raadd5a3374384294" /><Relationship Type="http://schemas.openxmlformats.org/officeDocument/2006/relationships/hyperlink" Target="https://petrnikitin20.github.io/PML/" TargetMode="External" Id="R7086631d36aa4b29" /><Relationship Type="http://schemas.openxmlformats.org/officeDocument/2006/relationships/notesSlide" Target="/ppt/notesSlides/notesSlide1.xml" Id="Re36a42a23f8e4a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d645b293d46b9" /><Relationship Type="http://schemas.openxmlformats.org/officeDocument/2006/relationships/image" Target="/ppt/media/image2.png" Id="R953291a00b024daf" /><Relationship Type="http://schemas.openxmlformats.org/officeDocument/2006/relationships/hyperlink" Target="https://petrnikitin20.github.io/PML/" TargetMode="External" Id="Rf824ad5c3b4e4950" /><Relationship Type="http://schemas.openxmlformats.org/officeDocument/2006/relationships/notesSlide" Target="/ppt/notesSlides/notesSlide2.xml" Id="R987a9238ddf444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06bab51fe46cb" /><Relationship Type="http://schemas.openxmlformats.org/officeDocument/2006/relationships/image" Target="/ppt/media/image3.png" Id="R3ac7e1389f1a4e29" /><Relationship Type="http://schemas.openxmlformats.org/officeDocument/2006/relationships/hyperlink" Target="https://petrnikitin20.github.io/PML/" TargetMode="External" Id="Re6395be6107e45b4" /><Relationship Type="http://schemas.openxmlformats.org/officeDocument/2006/relationships/notesSlide" Target="/ppt/notesSlides/notesSlide3.xml" Id="R686d9ae8718c43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a2ee0a0cc4141" /><Relationship Type="http://schemas.openxmlformats.org/officeDocument/2006/relationships/image" Target="/ppt/media/image4.png" Id="Ra2c7c64f43d6415f" /><Relationship Type="http://schemas.openxmlformats.org/officeDocument/2006/relationships/hyperlink" Target="https://petrnikitin20.github.io/PML/" TargetMode="External" Id="R525905bbd08a45ab" /><Relationship Type="http://schemas.openxmlformats.org/officeDocument/2006/relationships/notesSlide" Target="/ppt/notesSlides/notesSlide4.xml" Id="R462f8459fbea40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32b6d6aa44834" /><Relationship Type="http://schemas.openxmlformats.org/officeDocument/2006/relationships/image" Target="/ppt/media/image5.png" Id="R8cbcf9314d864b1b" /><Relationship Type="http://schemas.openxmlformats.org/officeDocument/2006/relationships/hyperlink" Target="https://petrnikitin20.github.io/PML/" TargetMode="External" Id="R21c606f2a43444f1" /><Relationship Type="http://schemas.openxmlformats.org/officeDocument/2006/relationships/notesSlide" Target="/ppt/notesSlides/notesSlide5.xml" Id="R57fb34c0c36f45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286d449ef40c1" /><Relationship Type="http://schemas.openxmlformats.org/officeDocument/2006/relationships/image" Target="/ppt/media/image6.png" Id="R03a71fc8d3084c18" /><Relationship Type="http://schemas.openxmlformats.org/officeDocument/2006/relationships/hyperlink" Target="https://petrnikitin20.github.io/PML/" TargetMode="External" Id="Rc52adce419214bc2" /><Relationship Type="http://schemas.openxmlformats.org/officeDocument/2006/relationships/notesSlide" Target="/ppt/notesSlides/notesSlide6.xml" Id="R89c2016cda8848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c7d7c30d04428" /><Relationship Type="http://schemas.openxmlformats.org/officeDocument/2006/relationships/image" Target="/ppt/media/image7.png" Id="R22081fa188f647e8" /><Relationship Type="http://schemas.openxmlformats.org/officeDocument/2006/relationships/hyperlink" Target="https://petrnikitin20.github.io/PML/" TargetMode="External" Id="Rbbe7e71659314f69" /><Relationship Type="http://schemas.openxmlformats.org/officeDocument/2006/relationships/notesSlide" Target="/ppt/notesSlides/notesSlide7.xml" Id="R2717df9429504a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582eb79554d98" /><Relationship Type="http://schemas.openxmlformats.org/officeDocument/2006/relationships/image" Target="/ppt/media/image8.png" Id="Re3f1d6e133a340c0" /><Relationship Type="http://schemas.openxmlformats.org/officeDocument/2006/relationships/hyperlink" Target="https://petrnikitin20.github.io/PML/" TargetMode="External" Id="R57a79b19ee544bea" /><Relationship Type="http://schemas.openxmlformats.org/officeDocument/2006/relationships/notesSlide" Target="/ppt/notesSlides/notesSlide8.xml" Id="Rafec19bdd3774d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9adbf31dd41ae" /><Relationship Type="http://schemas.openxmlformats.org/officeDocument/2006/relationships/image" Target="/ppt/media/image9.png" Id="Rdf42656ba1254a98" /><Relationship Type="http://schemas.openxmlformats.org/officeDocument/2006/relationships/hyperlink" Target="https://petrnikitin20.github.io/PML/" TargetMode="External" Id="Rc0e5dc8a7cfd448f" /><Relationship Type="http://schemas.openxmlformats.org/officeDocument/2006/relationships/notesSlide" Target="/ppt/notesSlides/notesSlide9.xml" Id="R4eb06bc411e344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673c8998054e77" /><Relationship Type="http://schemas.openxmlformats.org/officeDocument/2006/relationships/image" Target="/ppt/media/image10.png" Id="R0165fecb7fc1470a" /><Relationship Type="http://schemas.openxmlformats.org/officeDocument/2006/relationships/hyperlink" Target="https://petrnikitin20.github.io/PML/" TargetMode="External" Id="R8496b8190560488f" /><Relationship Type="http://schemas.openxmlformats.org/officeDocument/2006/relationships/notesSlide" Target="/ppt/notesSlides/notesSlide10.xml" Id="R56e630895ceb4f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d598c14e1471c" /><Relationship Type="http://schemas.openxmlformats.org/officeDocument/2006/relationships/image" Target="/ppt/media/image11.png" Id="R17f08a3281a44d1f" /><Relationship Type="http://schemas.openxmlformats.org/officeDocument/2006/relationships/hyperlink" Target="https://petrnikitin20.github.io/PML/" TargetMode="External" Id="Rec0ca6c8bc924023" /><Relationship Type="http://schemas.openxmlformats.org/officeDocument/2006/relationships/notesSlide" Target="/ppt/notesSlides/notesSlide11.xml" Id="R9eb5ccc276fc47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21685049a4b40" /><Relationship Type="http://schemas.openxmlformats.org/officeDocument/2006/relationships/image" Target="/ppt/media/image12.png" Id="R446386cd81cc4c6e" /><Relationship Type="http://schemas.openxmlformats.org/officeDocument/2006/relationships/hyperlink" Target="https://petrnikitin20.github.io/PML/" TargetMode="External" Id="R787137783b234401" /><Relationship Type="http://schemas.openxmlformats.org/officeDocument/2006/relationships/notesSlide" Target="/ppt/notesSlides/notesSlide12.xml" Id="Re85732ea8b8842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ee682a16a4138" /><Relationship Type="http://schemas.openxmlformats.org/officeDocument/2006/relationships/image" Target="/ppt/media/image13.png" Id="R8b5dda31811b4dd9" /><Relationship Type="http://schemas.openxmlformats.org/officeDocument/2006/relationships/hyperlink" Target="https://petrnikitin20.github.io/PML/" TargetMode="External" Id="R0765358fdcd34cb2" /><Relationship Type="http://schemas.openxmlformats.org/officeDocument/2006/relationships/notesSlide" Target="/ppt/notesSlides/notesSlide13.xml" Id="R2a0989e6772646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2233bb4c3949bd" /><Relationship Type="http://schemas.openxmlformats.org/officeDocument/2006/relationships/image" Target="/ppt/media/image14.png" Id="Rb60444f555a64784" /><Relationship Type="http://schemas.openxmlformats.org/officeDocument/2006/relationships/hyperlink" Target="https://petrnikitin20.github.io/PML/" TargetMode="External" Id="R55d712ea3f4f43ee" /><Relationship Type="http://schemas.openxmlformats.org/officeDocument/2006/relationships/notesSlide" Target="/ppt/notesSlides/notesSlide14.xml" Id="Rf4e4ed120fe448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8013a7d4f4916" /><Relationship Type="http://schemas.openxmlformats.org/officeDocument/2006/relationships/image" Target="/ppt/media/image15.png" Id="R3dfe94cefbff4f58" /><Relationship Type="http://schemas.openxmlformats.org/officeDocument/2006/relationships/hyperlink" Target="https://petrnikitin20.github.io/PML/" TargetMode="External" Id="Ra9c0f622dd2d47b8" /><Relationship Type="http://schemas.openxmlformats.org/officeDocument/2006/relationships/notesSlide" Target="/ppt/notesSlides/notesSlide15.xml" Id="R58ca5f104e434c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79548ba83470b" /><Relationship Type="http://schemas.openxmlformats.org/officeDocument/2006/relationships/image" Target="/ppt/media/image16.png" Id="R16e3fc75f7534db9" /><Relationship Type="http://schemas.openxmlformats.org/officeDocument/2006/relationships/hyperlink" Target="https://petrnikitin20.github.io/PML/" TargetMode="External" Id="R85b6907ee5e34000" /><Relationship Type="http://schemas.openxmlformats.org/officeDocument/2006/relationships/notesSlide" Target="/ppt/notesSlides/notesSlide16.xml" Id="Rbaab8b0b36cd46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46df0365641a5" /><Relationship Type="http://schemas.openxmlformats.org/officeDocument/2006/relationships/image" Target="/ppt/media/image17.png" Id="Rc3cc5fdd09ae49dd" /><Relationship Type="http://schemas.openxmlformats.org/officeDocument/2006/relationships/hyperlink" Target="https://petrnikitin20.github.io/PML/" TargetMode="External" Id="Re4853470462b4473" /><Relationship Type="http://schemas.openxmlformats.org/officeDocument/2006/relationships/notesSlide" Target="/ppt/notesSlides/notesSlide17.xml" Id="R102027e089c747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c101d4f6947bf" /><Relationship Type="http://schemas.openxmlformats.org/officeDocument/2006/relationships/image" Target="/ppt/media/image18.png" Id="R7d5838c4fc594910" /><Relationship Type="http://schemas.openxmlformats.org/officeDocument/2006/relationships/hyperlink" Target="https://petrnikitin20.github.io/PML/" TargetMode="External" Id="R3e0f1f3740cc4bde" /><Relationship Type="http://schemas.openxmlformats.org/officeDocument/2006/relationships/notesSlide" Target="/ppt/notesSlides/notesSlide18.xml" Id="R84894eb05f22421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ac57b965e4cef" /><Relationship Type="http://schemas.openxmlformats.org/officeDocument/2006/relationships/image" Target="/ppt/media/image19.png" Id="R18bc3706cfc04929" /><Relationship Type="http://schemas.openxmlformats.org/officeDocument/2006/relationships/hyperlink" Target="https://petrnikitin20.github.io/PML/" TargetMode="External" Id="R9865d8e836fd44b8" /><Relationship Type="http://schemas.openxmlformats.org/officeDocument/2006/relationships/notesSlide" Target="/ppt/notesSlides/notesSlide19.xml" Id="Rad6fa5dd4fe543c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7656058a3424f" /><Relationship Type="http://schemas.openxmlformats.org/officeDocument/2006/relationships/image" Target="/ppt/media/image20.png" Id="Rcc3ba46709244b58" /><Relationship Type="http://schemas.openxmlformats.org/officeDocument/2006/relationships/hyperlink" Target="https://petrnikitin20.github.io/PML/" TargetMode="External" Id="R5cdfbfc7af6b4d06" /><Relationship Type="http://schemas.openxmlformats.org/officeDocument/2006/relationships/notesSlide" Target="/ppt/notesSlides/notesSlide20.xml" Id="Rfe70698b4d08459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aacd013724fc1" /><Relationship Type="http://schemas.openxmlformats.org/officeDocument/2006/relationships/image" Target="/ppt/media/image21.png" Id="R92ffd3706fcb45bb" /><Relationship Type="http://schemas.openxmlformats.org/officeDocument/2006/relationships/hyperlink" Target="https://petrnikitin20.github.io/PML/" TargetMode="External" Id="R4395942298554c3f" /><Relationship Type="http://schemas.openxmlformats.org/officeDocument/2006/relationships/notesSlide" Target="/ppt/notesSlides/notesSlide21.xml" Id="Rad4e3e56898d429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71db6b3234861" /><Relationship Type="http://schemas.openxmlformats.org/officeDocument/2006/relationships/image" Target="/ppt/media/image22.png" Id="Rd94ba16fbb3c4f4f" /><Relationship Type="http://schemas.openxmlformats.org/officeDocument/2006/relationships/hyperlink" Target="https://petrnikitin20.github.io/PML/" TargetMode="External" Id="R818822d5d7414e0f" /><Relationship Type="http://schemas.openxmlformats.org/officeDocument/2006/relationships/notesSlide" Target="/ppt/notesSlides/notesSlide22.xml" Id="R235f9268f611483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955d3d0814212" /><Relationship Type="http://schemas.openxmlformats.org/officeDocument/2006/relationships/image" Target="/ppt/media/image23.png" Id="R2cce8a5831684d86" /><Relationship Type="http://schemas.openxmlformats.org/officeDocument/2006/relationships/image" Target="/ppt/media/image24.png" Id="R1e7b6c7f01a44aa2" /><Relationship Type="http://schemas.openxmlformats.org/officeDocument/2006/relationships/hyperlink" Target="https://petrnikitin20.github.io/PML/" TargetMode="External" Id="R802f452a1790465c" /><Relationship Type="http://schemas.openxmlformats.org/officeDocument/2006/relationships/notesSlide" Target="/ppt/notesSlides/notesSlide23.xml" Id="Rb9cf7c15bf6048f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4b739ceaa4af6" /><Relationship Type="http://schemas.openxmlformats.org/officeDocument/2006/relationships/image" Target="/ppt/media/image25.png" Id="Rf61fed640a15421f" /><Relationship Type="http://schemas.openxmlformats.org/officeDocument/2006/relationships/chart" Target="/ppt/slides/charts/chart1.xml" Id="R44bdf24b44ee4e2d" /><Relationship Type="http://schemas.openxmlformats.org/officeDocument/2006/relationships/hyperlink" Target="https://petrnikitin20.github.io/PML/" TargetMode="External" Id="R8554d3779d374289" /><Relationship Type="http://schemas.openxmlformats.org/officeDocument/2006/relationships/notesSlide" Target="/ppt/notesSlides/notesSlide24.xml" Id="Ra2d23b0ee503463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77670d7d64ae0" /><Relationship Type="http://schemas.openxmlformats.org/officeDocument/2006/relationships/image" Target="/ppt/media/image26.png" Id="R0dc5116ba7e84124" /><Relationship Type="http://schemas.openxmlformats.org/officeDocument/2006/relationships/hyperlink" Target="https://petrnikitin20.github.io/PML/" TargetMode="External" Id="R3326a77081ca413b" /><Relationship Type="http://schemas.openxmlformats.org/officeDocument/2006/relationships/notesSlide" Target="/ppt/notesSlides/notesSlide25.xml" Id="R56bbf3f54a70453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f85b763bc4e7e" /><Relationship Type="http://schemas.openxmlformats.org/officeDocument/2006/relationships/image" Target="/ppt/media/image27.png" Id="R57e89b722c3a482d" /><Relationship Type="http://schemas.openxmlformats.org/officeDocument/2006/relationships/hyperlink" Target="https://petrnikitin20.github.io/PML/" TargetMode="External" Id="R2f4ff46dd5334dcb" /><Relationship Type="http://schemas.openxmlformats.org/officeDocument/2006/relationships/notesSlide" Target="/ppt/notesSlides/notesSlide26.xml" Id="Rd78b9a0245934cd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4f58c5fde4142" /><Relationship Type="http://schemas.openxmlformats.org/officeDocument/2006/relationships/image" Target="/ppt/media/image28.png" Id="Rd71d691d00b5435c" /><Relationship Type="http://schemas.openxmlformats.org/officeDocument/2006/relationships/hyperlink" Target="https://mlflow.org/docs/latest/" TargetMode="External" Id="R507173f8299241e0" /><Relationship Type="http://schemas.openxmlformats.org/officeDocument/2006/relationships/hyperlink" Target="https://dvc.org/doc" TargetMode="External" Id="R61f1b97e04334dc1" /><Relationship Type="http://schemas.openxmlformats.org/officeDocument/2006/relationships/hyperlink" Target="https://fastapi.tiangolo.com/" TargetMode="External" Id="Re9570aa6432e4ece" /><Relationship Type="http://schemas.openxmlformats.org/officeDocument/2006/relationships/hyperlink" Target="https://docs.evidentlyai.com/" TargetMode="External" Id="R0cf0816f8dc54c4b" /><Relationship Type="http://schemas.openxmlformats.org/officeDocument/2006/relationships/hyperlink" Target="https://docs.docker.com/compose/" TargetMode="External" Id="R4533d2e1c39343ed" /><Relationship Type="http://schemas.openxmlformats.org/officeDocument/2006/relationships/hyperlink" Target="https://arxiv.org/abs/1810.03993" TargetMode="External" Id="Rc5f48e666b524a1c" /><Relationship Type="http://schemas.openxmlformats.org/officeDocument/2006/relationships/hyperlink" Target="https://petrnikitin20.github.io/PML/" TargetMode="External" Id="R0dfb45a32e92497e" /><Relationship Type="http://schemas.openxmlformats.org/officeDocument/2006/relationships/notesSlide" Target="/ppt/notesSlides/notesSlide27.xml" Id="Raa0ecf84b56a45d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Метрика</c:v>
          </c:tx>
          <c:spPr>
            <a:solidFill xmlns:a="http://schemas.openxmlformats.org/drawingml/2006/main">
              <a:srgbClr val="116A6E"/>
            </a:solidFill>
          </c:spPr>
          <c:cat>
            <c:strRef>
              <c:f>'Chart Data'!$A$2:$A$8</c:f>
              <c:strCache>
                <c:ptCount val="7"/>
                <c:pt idx="0">
                  <c:v>Popularity</c:v>
                </c:pt>
                <c:pt idx="1">
                  <c:v>Collab</c:v>
                </c:pt>
                <c:pt idx="2">
                  <c:v>NLP</c:v>
                </c:pt>
                <c:pt idx="3">
                  <c:v>CV</c:v>
                </c:pt>
                <c:pt idx="4">
                  <c:v>NLP+CV</c:v>
                </c:pt>
                <c:pt idx="5">
                  <c:v>Full</c:v>
                </c:pt>
                <c:pt idx="6">
                  <c:v>Fallback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0.176</c:v>
                </c:pt>
                <c:pt idx="1">
                  <c:v>0.276</c:v>
                </c:pt>
                <c:pt idx="2">
                  <c:v>0.302</c:v>
                </c:pt>
                <c:pt idx="3">
                  <c:v>0.287</c:v>
                </c:pt>
                <c:pt idx="4">
                  <c:v>0.318</c:v>
                </c:pt>
                <c:pt idx="5">
                  <c:v>0.312</c:v>
                </c:pt>
                <c:pt idx="6">
                  <c:v>0.283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d5a33743842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1438EB-7B86-418F-A652-72798C5C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C73AB-BF10-4DD0-BD26-B46CE48D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ПЗМО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271F2-FA7B-4DD1-A64F-C8BFB821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BD77A-C6B8-4DB8-A01D-21BE6D30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82391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5B5B2-CFF5-4B92-BA37-85E26CBA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700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D8EEE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D8EEEE"/>
                </a:solidFill>
                <a:latin typeface="Times New Roman"/>
                <a:ea typeface="Times New Roman"/>
                <a:cs typeface="Times New Roman"/>
              </a:rPr>
              <a:t>ПРИКЛАДНЫЕ ЗАДАЧИ МАШИННОГО ОБУЧЕНИЯ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D41C8-C193-42E7-B4C0-CB7D9829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7000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36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Итоговый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360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ML-проект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494E8-716B-475F-8C64-D8D371B4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Интеграция NLP, CV и рекомендательной системы: архитектура, MLOps, абляции и защита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1BA17-356F-440E-9496-64736F82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hlinkClick xmlns:r="http://schemas.openxmlformats.org/officeDocument/2006/relationships" r:id="R7086631d36aa4b29"/>
              </a:rPr>
              <a:t>petrnikitin20.github.io/PML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B9DF0-132E-4344-BB32-0467B630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3000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Никитин Петр Владимирович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кафедра искусственного интеллекта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Финансового университета</a:t>
            </a:r>
          </a:p>
        </p:txBody>
      </p:sp>
    </p:spTree>
    <p:extLst>
      <p:ext uri="{BB962C8B-B14F-4D97-AF65-F5344CB8AC3E}">
        <p14:creationId xmlns:p14="http://schemas.microsoft.com/office/powerpoint/2010/main" val="9106415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291a00b024d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0E93B-67FD-41AA-8F6C-6E1ED99B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7AA0B-A446-4748-9899-C13E4654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437EF-D184-4846-BBED-D76EC4A5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250A0-111A-4116-8E15-AED64E34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Цель и критерий завершенности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13240-EBFD-4EE1-AD72-00F0D5BF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Проект считается завершенным, когда другой исследователь воспроизводит ключевой результат.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23D9E-C4CD-46B1-9082-403A24F3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1DB83D-D5E7-46E3-8DFB-A56E6FA5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ИНТЕГРАЦИЯ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742C1-82AD-493B-880E-94106827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Единый сценарий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E1FAF-F1B3-4875-ADB3-AC18A136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NLP и CV формируют признаки, ranker выдает безопасный top-K.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9B478-6C63-4D68-AFFA-F27F7312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E430F-0EC3-4485-934F-DDDBD715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ИССЛЕДОВАНИЕ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AC677-FE80-4411-9355-8CC31399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Проверенный вклад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0A7B9-7BA9-45AA-AF38-F850A104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Full pipeline сравнивается с сильным baseline и абляциями.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E3C97-04E8-49B7-AB77-E74F110C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51788A-396A-42C7-AA75-91C9F882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АРТЕФАКТ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52419E-8C9F-4FD4-82FC-954B1096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Рабочий прототип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557A8-8FCD-47F7-93AA-EFA80960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Код, данные, модели, API, интерфейс, отчет и сценарий демонстрации.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2B7C8C-045C-454D-A12C-A9E757EC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D88602-17BE-4491-AC9F-36DB23FC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готово = воспроизводимо + измеримо + безопасно + объяснимо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D001E8-2F4E-41A9-BD27-6EE964D7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f824ad5c3b4e4950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6748768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7e1389f1a4e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BDDB1-4653-4A52-A890-96171D55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C5869-D9DC-40D5-BFC6-759BB818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E7146-94B2-4CD2-8554-5300F1F2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AA0CD-8EBA-47B6-A1C5-2CBF2693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Критерии приемки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CDB5C-CF5C-49AE-84C2-B3EFFD07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Decision rule задается до открытия финального 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36E70-338D-4604-B8B7-3E4820C6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73DF7-F925-42FD-85C4-A557BF36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КАЧЕСТВО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58C58-626E-4B06-8589-C1E0D425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NDCG@10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F93CA-A2AE-4579-9D32-43B6268B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Не ниже согласованного baseline + практический эффект.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C2A0A-714D-47F7-876B-24954FC6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78A1B-5B89-4167-A8AC-61D4158D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БЕЗОПАСНОСТЬ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B1622-90EE-43FE-A40D-9669745E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Violations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78173-7180-4910-913D-CE15BEAC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Ноль критических нарушений после reranking.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97D44-4C02-4A38-A3C2-DB914832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6F9DB-B7D8-49FF-9E19-54167543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СИСТЕМА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672FB-D6D0-445D-9292-EB4869E2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p95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BD205F-EB36-4FF2-BB9F-0FB0B623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 пределах SLA, есть fallback при отказе сервиса.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25940-6C96-4065-A96C-9E9B3A10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140DD-9E4E-4716-86C2-941702EC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ВОСПРОИЗВОДИМОСТЬ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38E40-AE0F-4589-94CE-98865914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Repeat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56423-4245-4204-BF7C-F1904A36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Ключевая таблица получается из зафиксированного pipeline.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1769E5-CC12-4D1D-A4A0-6B720DB3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6395be6107e45b4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6854643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7c64f43d6415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B16CA-3A24-4A82-9246-693C98E7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D20A7-9FBC-41A4-A985-BF8BED9E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7DF6E-CFA7-488B-97B2-F5446540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63CFB-D5FC-4AB2-95B4-71A2792E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Сквозная архитектура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E02CA-E6C9-4471-A5AD-CE8B5712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Контракты отделяют компоненты и позволяют измерять их независимо.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8F468-0B40-45FB-8CB3-8BD30E2A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2428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FF5AC-4F5F-438F-84EB-F697BD34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2002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Ingestion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news · OHLCV · 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D18D0-4D1B-4643-BC71-5FF69816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05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06BF8-FAA6-4850-A683-AF7B6B05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28875"/>
            <a:ext cx="2428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5E7E3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990FE-1EC9-44EF-9B19-DB85B5C5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19375"/>
            <a:ext cx="22002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NLP + CV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evidence · mask · embeddings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BADDC-BB39-4091-9FA6-B8FA0B87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905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51F90-93A4-4886-8F0C-CCA5F902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2428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7EBEC"/>
          </a:solidFill>
          <a:ln xmlns:a="http://schemas.openxmlformats.org/drawingml/2006/main" w="9525">
            <a:solidFill>
              <a:srgbClr val="A8671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89A6E-B649-4CF4-9E58-FAD6E195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19375"/>
            <a:ext cx="22002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Rank + rerank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top-50 → safe top-10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05375F-696F-4E8E-A9FE-765110AA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05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80611-1A07-42FB-AF42-B85A046E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28875"/>
            <a:ext cx="2428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2D7"/>
          </a:solidFill>
          <a:ln xmlns:a="http://schemas.openxmlformats.org/drawingml/2006/main" w="9525">
            <a:solidFill>
              <a:srgbClr val="2E5FA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9D0CF-8AA4-43F9-8E59-12DDBD12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19375"/>
            <a:ext cx="22002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Interface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reason · feedback · audit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1B79C6-3B8B-4D83-BD28-6BC4FF03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76750"/>
            <a:ext cx="1019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Каждый output содержит schema_version, model_version, timestamp и quality score.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6C203B-5A07-4719-8A6F-B7E5D7B8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25905bbd08a45ab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9321400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cf9314d864b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49437-9025-4FDA-B82D-CE011A08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0A2D4-1140-4963-90EF-38E099B4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80303-AABB-4E6A-BD6D-81EA4C1C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B752A-B402-422A-AE4D-48B833B3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Контракты сервисов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E6A7A-70EF-4309-B45A-D00C920F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Схема ответа важнее внутренних деталей модели.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B4D7E-6216-41CD-86CD-5923F2C5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2C6A1-D096-470D-968C-F094C388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NLP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13032-611E-4AA3-8C9B-34C1AF7F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Text →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9AF9E-DAA6-41F2-81F9-C7E02044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entities, event, sentiment, confidence, evidence, abstain.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571EC-FAE9-4A58-A416-DCC17BF1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D60076-79E5-4420-9301-8C8872B0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CV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202A4-A043-4731-AE85-D49091CB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Image → 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39757-B22D-4557-80AD-065D80C7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boxes/mask, trend, embedding, quality, OOD.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4C0DE-5E42-4464-851F-A5988A66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76CB30-0646-42D2-997C-E4A658FE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RANKER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D85C4-2E08-4854-B414-FC8D43A4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Context → Top-K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707606-D4F9-46F8-81C8-138A6D7C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scores, ranks, reasons, constraints, feature versions.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B34B13-9C2F-4E9C-BBE0-AD0EAFBB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BC051-EB19-4714-AA0F-59852176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контракт проверяется schema validator до передачи следующему компоненту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C4C09-E776-41B1-9963-72111C86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1c606f2a43444f1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7486276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71fc8d3084c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47375-1D87-4552-950A-E0587A28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395F0-C48F-4CA8-BD58-DCC08458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903FD-F65C-4D21-9056-C87C4E2E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02F13-B6FC-4381-8DB2-EC9FCF74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Lineage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491EA9-7107-4F1D-BA2B-AB395BFF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Любая цифра должна вести к данным, модели и коду.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BF7B8-B950-438D-8D08-D2783067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EDCC7-32F0-4232-B1F1-48ADCE3B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DATASET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6C780-D4AB-4157-945B-168BAD47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Версия и hash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1E2A7-FB1B-40EC-8185-B1AE00D9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Raw snapshot, preprocessing config, split manifest.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AC1CA-8DEA-44B6-ABBB-7E3A16C6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E094A-021E-4A3D-899A-D37CD534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46EAB-07E1-4AAB-A85E-104DD170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Feature lineage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3ACE1-432C-4005-9ECB-6BFECFEF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Какая модель и checkpoint рассчитали каждый embedding.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7CC8D-34E6-4ADB-8D01-394818F9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EE553-23F7-4B37-AA4B-8B13CEAC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D51C0-990A-471E-A7E5-74E254E1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Run 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536BB-9735-4835-BD74-E9EBE7F5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Hyperparameters, seed, metrics и artifacts.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A6034B-B278-473B-84A3-8099823C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D87191-C465-49B9-9983-56A7693C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88439-7D0A-4D14-BEF3-C12180B1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Git commit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542D15-1C00-4599-88D5-FEE37959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Исходники, environment lock и container image.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97BFA8-5045-4DE5-966C-1390250F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52adce419214bc2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2078992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81fa188f647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F7327-E259-4AD5-AF70-B1EEBDB8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3C240-1DC4-44D8-A2DA-AFBB1ABC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F010A-4777-4FE2-A9E3-7CBBABD8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D480E-E041-4C54-B8B8-FE84C0FA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Замороженный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23692-A833-42E0-ABDC-23F3783E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Test не является еще одним validation 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1BEE8-26E6-4261-A03D-C09B98A8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914F7-E56C-4DC0-A3FB-9969E366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FREEZE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D2B7E-8A2D-499E-9DB3-2211E4BA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До выбора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10846-3EAC-4244-99F9-449D128E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Зафиксировать IDs, временные границы и checksum.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39CC8-8A55-4718-BD3E-42041BC2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25E13-3FB2-448D-8B45-5AB45C1F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TUNE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37263-41A9-424F-9304-D245C8BA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Только 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EA099-8A9D-45E2-9169-E57D7F57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Architecture, threshold, weights и reranking.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DA7EA-C0DF-4709-AECC-7265DB40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E3F874-B220-4532-8E3A-BB06B6FB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OPEN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6CBD1-B6C9-4A05-89D3-D5AC4F17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Один финальный запуск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0C569-3882-4EC3-94CC-84ABF077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После выбора основной модели и критериев.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E05DC-2421-49F3-A157-83A6CF2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D97AB6-9EF0-4B96-843D-2E6E4773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train → validation decisions → frozen test → final 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71C3BD-7F3C-4B96-A1F6-8A47ACBF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bbe7e71659314f69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4694754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1d6e133a340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37FF6-D114-4835-ABBD-FD51ED02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32694-4C17-4007-A9E5-BB71239D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9955B-4DB9-44FC-8C70-8F2C233C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D66BD-9E3E-49E1-A286-215C763E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Сильный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FD91E-D12B-4C8C-BA0F-398F0CEE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Full pipeline сравнивается не с заведомо слабой системой.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B9EC3-9B1A-49F0-9DEC-D72E05F8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57EDD3-87A1-4F04-A501-3D92576B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POPULARITY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F500B-F5C8-4C8D-88C8-548DD1AA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Нижняя граница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A6DCA-F79B-4962-8102-DAFC7A99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Проверяет ценность персонализации.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90302-545D-4DB9-BFD0-D92A6A07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00145-8B09-43C1-8959-D011F9DB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COLLABORATIVE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79542-3718-4EA6-838A-5B439C1F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ALS/LightGCN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F2ED8-AE90-4E11-97D1-D2410442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Проверяет вклад контентных модальностей.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96167-8480-4DA5-A652-67EC8EDE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2AF68-776D-4A6B-A489-06265E53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NLP-ONLY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B2379-2DB8-4AE1-ACE6-7AB68167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Текстовый 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AF31C-07B9-4AF4-8F27-0DD9D083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Отделяет вклад CV.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249E47-3999-4435-BC42-47226613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B20F3-D9E4-490E-B0E3-6FE7E497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CV-ONLY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34118-4C80-4B63-B0AA-F68A416A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Визуальный baseline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166D3C-4231-4D61-9C98-06336B20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Отделяет вклад NLP.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662EA9-B42C-408E-A249-18925FBF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7a79b19ee544bea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5615283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2656ba1254a9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BB2A2-73CE-4BD0-8474-0556DB2D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72AF3-4061-4142-9665-41F290D6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0F65D-B98D-4BE3-8B6E-8A27B22D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5C43A-C53C-40B3-A57E-9DE77D4E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Абляционное исследование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843D2-9700-4035-A959-A074A21A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Удаление одного компонента превращает архитектурное решение в проверяемый вывод.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FE3BA-35CC-4094-A102-24E5D199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25EF2-1880-484B-B321-A539A2B4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− NLP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79082-2DE7-4EBF-9CF8-2F396C33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Событийный срез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9104F6-5A22-480C-97F5-A67A7099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Как меняется ranking после удаления текстового сигнала.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53504-6793-48E7-AC71-CF3B7A6A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BCE62-83A7-46F1-A94E-45228E13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− CV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52615-CA03-4E6B-AACA-B8EB7509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New-item срез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76DDC-E5A1-4724-BB45-462DD33F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Как меняется качество без визуального признака.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554D3-514D-4BC0-9BA7-11D7CF93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D0A17-F7A4-4D22-A196-81B0CD98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−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BCB35-AA63-4A5A-88EE-0FFA0635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Short/long 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107F86-7D01-4BF2-96A4-407BC02A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Насколько важен sequential encoder.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0039AD-6062-45B7-AC01-C1E5FBE4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3D2B56-3477-44D9-80B0-D779F2CD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− CONSTRAINTS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5D72AB-17FC-41E4-9034-1BAB1A51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Risk audit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8CE80-234A-402C-865A-559E93D3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Показывает цену безопасности, но не допустим как production вариант.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88833A-560A-402C-889E-3CAC470C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0e5dc8a7cfd448f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2241475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5fecb7fc147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2CEF5-1EB1-459F-B018-A39702E2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041CE-0717-47DC-BDB0-4080A42E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D05E2-828E-4EE0-B835-41A7067F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DF6CB-4E07-4ABF-97C2-7D6E16C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Неопределенность и abstain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3047B-366E-4C1E-B03F-C867444D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Система должна уметь не принимать решение.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ED458-07AF-49CE-A748-C98EA226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1DA06-5B8A-4420-B747-9990054F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CALIBRATION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7A9F5-B30F-4700-BA77-9D66B800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ECE / reliability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D3165-FEC0-4671-B282-B335B71D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Confidence должен отражать вероятность корректности.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EFC66-9F83-4CC4-B7D8-C88252D1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3283C-8C1C-4EE0-8F3F-9D476F02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OOD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2A4F62-D606-45BD-86A0-A3F00200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Новый домен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C27DD-8364-4148-B5FC-DF211DE7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Низкое качество или дальний embedding активируют fallback.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7B328-9CED-4198-9FE4-2C821B59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C5689-F10E-4EC2-9500-C0E7B201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ABSTAIN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CDEC0-BC31-4608-A264-21165FCB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Явный выход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9FA35-3206-4B94-A306-1F0CC872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Лучше вернуть «недостаточно данных», чем уверенную ошибку.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97825-EE12-4738-8830-ABA96CAC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564EC-4546-45A7-8A23-608E5F47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action = predict, если confidence≥τ и OOD≤δ; иначе fallback/abstain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A9D466-C64D-4568-848F-EC168342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496b8190560488f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474937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08a3281a44d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AA842-5CE3-4AA9-9321-99A1F4C8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2B76A-0543-4C1A-9D91-5FCB4A32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7A80F-4275-4363-9F2D-C7B184B8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1C38BF-21D1-40FB-A0C4-035D6114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Системные метрики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B3369-215F-459F-8D10-CC60AFE8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Модельная метрика не описывает эксплуатацию.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4F3B0-214D-4663-9136-30015FB7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42298-FECA-44DE-92B9-809944BD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LATENCY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F1678-D6D1-4E07-A4E6-D9D61157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p50 · p95 · p99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A152A-53B8-4805-AE5B-0279D903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Хвост распределения определяет пользовательский опыт.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98CA73-FC9B-4020-9E4A-8F3914EA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D915D-4801-416B-97CE-CD60C47E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THROUGHPUT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74916-7D23-4361-A3D5-5657C1FF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requests/s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36E42-B806-4239-BF28-BF0BAC95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Проверяется при реалистичной конкуренции запросов.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7E9B6D-4FE0-490D-8B15-784C2A65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31297-8E3C-4BFC-8264-65F5E7A7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RESOURCES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87E18D-937D-488F-B317-683D2C9E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CPU/GPU/RAM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93D58-982F-4EA5-8534-6782963F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Пиковая память и загрузка фиксируются вместе с batch size.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024734-7C61-4ADF-8E42-29CC11AE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6AAF2-981B-4326-BB3F-ED5BFC43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COST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B19D4D-A191-466D-8AA0-54F3BFB0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На 1000 запросов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347D49-E959-439B-A16E-EDFF88A1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API, GPU-time, storage и data transfer.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1CF5B8-720C-42CE-A705-D986046E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c0ca6c8bc924023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6505488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386cd81cc4c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D1274-671D-40E3-81E8-E2C80557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BD4DE-1FF3-49E5-B83E-AAE1D055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F6ED4-4555-4A41-9A4C-7EE0661C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658C4-CB6A-4BEE-811F-C897452C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SLA и latency budget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1DC10-E6D3-4117-9F82-7CA12385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Общий p95 раскладывается по компонентам.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93027-57F2-40E5-9538-2D681695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429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57864-568E-4873-8E61-D2BB36AE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INGESTION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84214-D725-4E36-B22A-9ECA0D3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25 мс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DB7BA-FA76-454E-9F66-EC2DDF5F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510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Получение и проверка входа.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D6B1E-D138-40EA-88B8-D93BFD48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429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2EDBE-C121-47F0-A98A-0171CBF3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NLP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CC77DF-CDC9-4200-9247-276AAC53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85 мс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95622-0181-4A6B-A6E2-8801293D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38425"/>
            <a:ext cx="510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Encoder online или LLM batch/fallback.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704674-274D-4A4D-8046-051DDA06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5429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6011A-0837-4756-B151-9BE9B7B0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671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CV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2E18B9-2969-4B34-90FF-A4AC8AF3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243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95 мс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D9E85-2545-4632-85E4-07E80CC9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91025"/>
            <a:ext cx="510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Embedding и quality/OOD.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AAE39-B0E7-4838-BEDE-DB2F4F39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62350"/>
            <a:ext cx="5429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8D7D6-F7C4-4D51-AFFF-2AED4F77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671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RANK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76122-FB99-42D8-900D-BAC31D93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9243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55 мс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34A5CB-0871-4610-9816-172CBF2F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91025"/>
            <a:ext cx="510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Candidate retrieval, filter и rerank.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E57299-7D63-44B2-9F0E-336C468D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289F47-FD8E-4354-8D98-54FABA29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p95 end-to-end ≤ 300 мс; budget включает сеть и сериализацию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238EAF-420C-4881-834D-9FC7A2A1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787137783b234401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6535086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dda31811b4d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2AB9E-CA84-47F9-ACCB-A250EBD7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33229-9DDC-4545-9149-90274A9B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8E7E2-990B-4615-B31D-0354586A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621A2-A611-4A0C-9198-389C455E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Fallback-сценарии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AD61E-8DD4-479C-BEED-70777EE2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Отказ тяжелого компонента не должен останавливать безопасный контур.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A3127-8D21-4273-BECB-399F599F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7EFEA-C878-44D4-91B1-79942EA7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NLP 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72C2B-D0CC-4E30-A48C-F4DAEA28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Cached/encoder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54679C-BE4F-405A-9C08-931DA6EA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Использовать последний валидный feature или быстрый baseline.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CBCA8-1102-4AEC-9964-C10FACA3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D2C73C-B34B-4024-8F08-889344D6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CV OOD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5E07A-8EA4-4E0C-9245-D0951A91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Text-only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FB52E-D4A6-48B9-8DC9-936C03E1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Убрать вклад изображения и пометить reason.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4CE29-41D7-43C8-BC43-826D63B0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EBDC7-C69D-4B90-B535-4474CD03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RANKER DOWN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ACAAFB-166C-4E5B-BD0C-8C729E06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Safe popular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CE961D-91F8-4663-BC8E-D5674EA4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Популярные допустимые объекты по профилю.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DCF39-C125-4E3D-A2FB-C240DBF4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7F0BCD-72DF-4DAD-BE12-E6C8D665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TIMEOUT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484F27-6758-4259-9487-2D397CF5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Partial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31EB1-C9BD-4794-9439-F333EB58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Вернуть ограниченный список с явным статусом.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BD628A-73B8-4E67-A5D8-51D0CBAF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765358fdcd34cb2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9474212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444f555a647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3AC75-3BD1-4795-BA4C-F86CE3D2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ABD70-705F-4F9B-B42B-8A249D92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4BB7D-6BA4-4DA3-93D6-703FCD05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F8F70-EB15-4B8D-A2CE-5D1D0E18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Risk register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D9441-8E42-4CC4-B242-E801BBEA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Риск связывается с контролем и владельцем.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F352C-211E-4DDD-B922-874028F0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2A077-A2A0-4184-8CE0-F82CFDD8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FBD81-1FEC-4710-91CE-3C177F0E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Лицензия / PII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1B11C5-6B09-45F3-A50B-2037741B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Проверка источника, минимизация, удаление идентификаторов.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99338-375C-46F3-83B0-F704B216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BE37A-3C12-4804-B94C-7E133448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68782-4B63-486A-B69E-1BC5A790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Bias / hallucination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AF8BC-7671-489B-9AA8-481F8930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Срезы, evidence, calibration, schema validation.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32340-1583-42B1-8783-D901EFFF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91465-B49D-41D6-9416-4605DDAC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33666-EF17-4208-8135-CCCCEA31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Drift / outage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BC852-4C23-4AF7-B9A6-C692ED4F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Мониторинг, alert, rollback и fallback.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AA34BD-19C4-4320-8B97-0FC5E89E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8E88D-1808-4EA6-AF71-0011B2C2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USER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6831BC-B567-4BF6-AC2D-192B0CFC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Неверная интерпретация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743241-0702-4CD1-A5A9-21BB8657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Дисклеймер, ограничения назначения и human review.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88396-6F98-42FA-A528-0E473A65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5d712ea3f4f43ee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7356039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fe94cefbff4f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F2C65-6B89-4A71-9E6E-9AA460FF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CF564-C626-44BF-B642-FA0B19D6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20658-6017-4869-A565-D60E1E5B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1ADE4-8D46-48DA-8CAD-0064259C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Human-in-the-loop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0F11C-E62A-4BD1-96E8-914C55F8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Человек принимает решения там, где цена ошибки высока.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BAC42-8268-4C6E-857B-BCA4443D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53742-B30F-462D-8325-841983CC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REVIEW QUEUE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A5404-26F3-4E3B-B709-F2FE11A2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Низкая уверенность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01462-8072-4FE8-8045-85663BCB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Сложные случаи поступают эксперту с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7DD49-9B36-43B0-9E4E-34A62A64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DF1C2-8CA4-4B44-901D-EA774324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56A0A-94AC-434C-9871-20B20A27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Структурированная метка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8558E-532A-4FBD-9817-ABA9E089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Причина исправления попадает в audit log.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EF0AB-85C0-46E4-8CC2-F75A38AE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2AEF1-F30F-46B2-AB57-CC682407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ACTIVE LEARNING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88189-4FCC-47B6-8404-C33A5A63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Приоритет разметки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38B43B-5289-41E1-A187-E417A5E6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Выбирать информативные и репрезентативные ошибки.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82D1D-2380-4FA6-81F2-8363E570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86DA8-6EC4-4964-9B5A-41356D6B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model output → evidence → review → corrected label → governed retraining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4723B1-39AB-4D29-9A8C-D789852E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a9c0f622dd2d47b8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1771700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3fc75f7534d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AB8C4-88AD-429C-9BD6-1C6B2E59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88EDE-E9F8-431F-9409-8F551F76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0D931-8919-4498-9A00-0C5FE5A6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D3143-D992-41E1-A602-E05565AA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Datasheet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7EAA8-27C9-4ACA-94E9-31225DAF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Паспорт данных описывает происхождение и границы применения.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BA216-0071-43E3-B75C-D8E5C3A3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82827-7E5C-47A3-A7F4-61F34074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ORIGIN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0CD7C-580F-4067-91CA-C9575299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Кто и как собрал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7CC37-763F-4DD4-9D85-DD448F8A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Источник, период, лицензия, согласия.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18467-B239-4A55-B756-630289D1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64BF0-8FB0-47BE-BFEE-810AC876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COMPOSITION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DD13B-DDBC-4DBB-A241-F09E1F68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внутри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00420-F155-4B76-A08A-8E6AF24C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Объекты, поля, классы, пропуски и срезы.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41771-87EE-4290-BA53-603D688E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7AB8A-2E37-4510-9ADC-56F8F637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PROCESS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3078C-7C6F-43B1-9B62-7BF7969C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изменили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9E4E2-3B40-4775-8E03-3DA43CA5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Очистка, dedup, split и labeling.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E3DFC6-3E40-4DCC-A35E-91F3EAEA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8291E-F02B-47DC-B849-FAC3E995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LIMITS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948902-47B3-4D45-A2D2-AB4CB4AE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Где нельзя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31B869-F57D-4DF4-A9DC-50D90523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Known gaps, bias и запрещенные сценарии.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BCD0FD-A609-4EF1-B750-D7E9F0D1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5b6907ee5e34000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6638908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c5fdd09ae49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55B2D-B7C6-4634-B0EB-9C10B947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95CA6B-DCA6-43F2-B3AF-9B872862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61389-6A89-4B6D-AA49-4E9FEC39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DBDA1-6902-4C04-8F42-2D2F2C68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Model card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C11CB-96CE-455E-A95D-A448E21E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Карточка модели передает не только среднюю метрику.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48F5D-85A6-4A7F-BC99-B2CA059D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D3E32-9C3A-4E82-A9B1-226A4B4C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INTENDED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39A2B-7CC8-4A42-9AC3-1D84C3E3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Назначение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26CEC-604E-46E5-ACC5-70457C92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Пользователь, входы, выходы и допустимые решения.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44D9B-A320-48F8-B5DF-7BB62333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2EFF3-7E00-4105-8D41-94FAA9A5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01D37-86F9-4FEB-81C5-4365D0E8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Метрики и срезы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32F2E-0E00-41CB-8F9A-32670A2A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Основной test, subgroup errors, calibration, latency.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9E88D-B418-4727-9569-A4FC9225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818E9-40C7-4F8D-A880-8B59E363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RISKS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462D9-AB14-45F2-9743-BDD69896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Ограничения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B4DB1-9D4E-4291-A60D-9F7DC131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OOD, bias, privacy, robustness и misuse.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7CA9C9-44F9-42B4-82B0-99F4DC95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47F503-D6E9-415C-86B0-265E88F7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OPERATION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CA3B1C-3164-458A-BFD4-4E4B0427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3AD46D-4073-4A16-A384-B24DA57D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Thresholds, monitoring, owner и rollback.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477E64-E4FB-47F3-A2D9-F0F7B033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4853470462b4473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6787462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5838c4fc5949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851A2-09F2-44AC-A2D7-9B1C450B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67F48-2741-4A73-A12C-2B0FEF12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9EF31-F2BE-4E8F-ABBC-FFF1F490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A52DD-7627-447C-B6B1-5721018E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MLflow: журнал эксперимента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A00FB-FDD8-42D4-AD5E-773F03A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Параметры, метрики и модель связываются одним run ID.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E2997-8014-4CBA-90D4-0AC880DF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74295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EC6C3-D314-4086-8C54-22FE698F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01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import mlflow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with mlflow.start_run(run_name="full-rerank"):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mlflow.log_params({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"dataset_version": "news-2026-09-v3",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"nlp": "qwen-exp4", "cv": "dinov2-v1",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"ranker": "two-tower-v6"})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mlflow.log_metrics({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"ndcg10": .312, "coverage": .684,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  "p95_ms": 276, "violations": 0})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mlflow.log_artifacts("reports")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CBE59-27C8-4513-953A-BF0D616D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621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2FFA3-4AE9-46A9-808B-CE4EE0D5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66900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E3025-673E-4C5B-961B-454A7698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24075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делает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1ACAC-D4F3-4533-84F0-E591AF67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908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MLflow создает сопоставимый журнал и сохраняет отчеты как artifacts.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24A81-E1FE-4B70-A313-46069B53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34099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61CB9-9C7C-468D-B710-1A643212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105275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РЕЗУЛЬТАТ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035E8-C2D1-4428-A08D-BAF55636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сохранить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EAAC9-A430-43B7-BC74-A02504FF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29175"/>
            <a:ext cx="3086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run ID, commit, environment, model signature, таблицу срезов и решение accept/reject.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E911D-4425-4CC0-8414-6C78E390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e0f1f3740cc4bde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260395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c3706cfc049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88161-FFCD-42EF-92CF-07BD4949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5F1C3-EE2E-452F-9ADC-ACE44927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C59ED-00C4-40B3-AB89-D4B35BCF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4B3DC-57AF-4FF6-B2F0-CE8D5157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DVC: версии данных и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933AD-7F4E-4345-B7DB-425334C9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Git хранит небольшие метафайлы, а DVC связывает их с большими артефактами.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CCF4E-260A-4A26-96AC-6C1CDA4A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98BD2-315B-4A3A-AD29-B7420A03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0D3BE-57D2-48C9-8CCF-300E4348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dvc add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99E64-4D29-4CCB-B7A1-1A8DC6FC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Контрольная сумма набора вместо копирования данных в Git.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E1EDF-0531-470A-83C4-6E8EFEE2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BBB2F-ABA7-4792-A4C6-BB6C89EA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PIPELINE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4255C7-C47D-4A03-97FE-EE5F68C5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dvc.yaml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3E600-8364-4BF8-B883-C20CDFC8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Stages: prepare → features → train → evaluate.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938E9A-9336-4A67-AE71-AA559874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CE564-AB69-42CE-8097-0A2DD0D8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REPRO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03B5A-1B3C-4154-840C-A6A319C2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dvc repro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E16DB-F6B0-4626-A828-5DF45B0E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Пересчитать только зависимые стадии при изменении входа.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5A5193-D945-4C20-AEE3-63DE2171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1815EB-4AE9-4329-8228-044BE9AC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deps + params + outs + metrics → воспроизводимый DAG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4193C-BB06-4251-B936-F796C8F7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9865d8e836fd44b8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327047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ba46709244b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6996C-AFFD-4257-815A-15AE4575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9EC6A-F145-4C85-8360-E989EA23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05541-987C-4C34-8D7B-7DE3AB94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21F02-751B-4B05-B7A8-525531AD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FastAPI: типизированный endpoint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962D9-B02D-4A04-9AEB-274C21D1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Pydantic-схема проверяет контракт до запуска моделей.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D5020-6C96-48B7-9B42-671DC63C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742950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07101D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C1185-14C6-4911-8F62-003E08BA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0104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from fastapi import FastAPI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from pydantic import BaseModel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app = FastAPI()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class Request(BaseModel):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user_id: str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timestamp: str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candidates: list[str]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@app.post("/rank")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def rank(req: Request):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features = feature_store.get(req)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result = pipeline.predict(features)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CFE6F3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FE6F3"/>
                </a:solidFill>
                <a:latin typeface="Calibri"/>
                <a:ea typeface="Calibri"/>
                <a:cs typeface="Calibri"/>
              </a:rPr>
              <a:t>  return validate_output(result)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DE278-9E74-4C6A-A98A-09D3A0C7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62125"/>
            <a:ext cx="3409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2B263-9B13-4B2F-89FA-2CA51A8C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66900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ЛОГИКА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70EA3-98C8-481F-ABCB-5161C824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24075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делает код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E3B5C-A37D-4CA9-849A-31BC3746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908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API отделяет интерфейс от реализации и автоматически документирует схему.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9F186-72EE-4F6C-AEBA-B04B2A11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34099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AA280-FF2D-49D0-8050-DADA42E8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105275"/>
            <a:ext cx="3086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РЕЗУЛЬТАТ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954AB-9600-42FB-B1D3-8B34F3E9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308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сохранить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459C1-3576-48B8-AFE7-CAE1DFE2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29175"/>
            <a:ext cx="3086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OpenAPI schema, примеры запросов, p95, error codes, timeout и fallback status.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78524-5BF2-42F9-A367-3FBD9EC8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cdfbfc7af6b4d06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78658313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ffd3706fcb45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A6305-B5F6-49FB-8EAA-D7A24248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46884-1AE6-4047-9E82-9EAAB4A8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29B66-B628-4091-9997-8B3A4F24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4486B-03BC-4543-A994-4F9A31E3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Мониторинг и drift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D4501-6EB0-4928-A501-0BFDCD43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Мониторинг сравнивает текущий поток с референсом и отслеживает outcome.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6BC17-66BB-45C6-989E-17AAA76D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FE246-878A-44FD-B34E-355AF781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DATA DRIFT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C9202-E0E8-4898-B91F-B318CC50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PSI / distance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D0B8B-1C11-4421-8EF8-51F03373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Изменение входных распределений, качества и пропусков.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81CCC-3CA7-43F8-B4FB-2F36F86F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7B222-4FF9-4488-A5AE-8A2AC16B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PREDICTION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1B0F92-9A19-4DB4-9EA6-FFD610B8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Score / class drift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9CBC3E-0852-4D9E-AEBA-113BA8D1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Сдвиг confidence, abstain и состава top-K.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59577-5C3B-4631-82FA-562BBA1A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033FBA-0E4B-4D5B-89F7-D9F9C6EC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1655E1-1AA3-4F94-B341-DB8C8374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Delayed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DC5AE8-2B95-4F15-BA8B-A4936D40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Когда появляется truth, пересчитать F1/NDCG по времени.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173503-91B4-47A8-A54E-D00F13B5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EF9A6C-0286-4927-A1D1-61068E9C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ALERT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8C797-C94C-4E29-AD55-EBA672E3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Actionable threshold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36726C-5F24-4E94-B513-1C34257E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Уведомление связано с owner, playbook и rollback.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1628C6-7A35-4A45-B004-F3E6EEE7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395942298554c3f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414930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ba16fbb3c4f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FD4C4-BA94-4510-AD3F-1EF15529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A58A0-EDAF-4D64-8A59-2745A8A3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385FD-AEBB-43CD-AC8E-1A20CCC8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35C62-D9AA-4C86-9615-892AB12C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Docker Compose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29ED58-683C-4495-9653-6DF97E4C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Сервисы запускаются в согласованных версиях.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012AA-4CC0-4598-8ADE-7CFED0A7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A78B6-A2E5-416B-96A3-E972E2A4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IMAGES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D9FCF-823D-4D4C-B9E5-DA184E62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Pinned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B777D-7D59-4E58-8D09-C24AEFBD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Точный digest базового образа и lock зависимостей.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F714C-98D3-4DBC-8E87-CC66B3B2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0BDF5-0637-4AA9-A65E-E6D7910C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D0C8F-9BCD-4909-8EF2-9F4B3EDC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NLP · CV · ranker ·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9AF48-FE86-410A-8834-3B8EF229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Healthcheck и лимиты ресурсов для каждого контейнера.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40F8AC-1857-4F56-8B98-0935D3FA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887BB-3FB1-4732-871F-CCF6D0A8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SECRETS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1BE26-CEE0-4B6C-A6F9-055449B5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Вне image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07E432-FB20-4071-B439-2E8E380E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Ключи через secret store или переменные окружения.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9A42CD-D077-452F-A2BD-740B32B3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4A6B1-A33C-4E34-8165-F2402A12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docker compose up → одинаковая топология на учебной машине и CI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43BDCD-80C2-4238-9AA0-C915B1F5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18822d5d7414e0f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4191777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e8a5831684d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990EA-27CF-4961-ADEF-F2AEA52A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72DAC-8B61-42BC-BCDB-5E99A204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358F7-E531-432C-8BAE-3C47D2BF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DB6E3-D617-400B-920C-B5F05CA3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Интерактивные абляции на сайте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F0984-075B-407A-8A50-6B264E15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Компоненты можно отключать и видеть изменение метрик и активной схемы.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b6c7f01a44aa2"/>
          <a:srcRect xmlns:a="http://schemas.openxmlformats.org/drawingml/2006/main" l="0" t="5765" r="0" b="57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714500"/>
            <a:ext cx="8096250" cy="4476750"/>
          </a:xfrm>
          <a:prstGeom xmlns:a="http://schemas.openxmlformats.org/drawingml/2006/main" prst="roundRect">
            <a:avLst>
              <a:gd name="adj" fmla="val 383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C1874-1822-4001-9B5E-B8F2352B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8003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EEC1D-9C7E-41D8-BCDB-B055A479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819275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ДЕМО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CC8B3-058F-4FFF-B3FE-4F51ED2C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0764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Порядок показа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83A5F-EF41-4B60-BD9E-D8077E29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43175"/>
            <a:ext cx="2476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1) запустить full;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2) отключать по одному NLP, CV, history;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3) отключить reranking и увидеть violations;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4) сформулировать решение accept/reject.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8DF97-C633-4D64-B6AA-10B7AFB4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48125"/>
            <a:ext cx="28003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DC50D-8C18-4B11-A821-C99B5DD4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1529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ВЫВОД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C06B5D-F2B6-4330-BFEA-D1C03DBA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4100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фиксируется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33C4F-2206-4C64-86C5-1176AE41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876800"/>
            <a:ext cx="247650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Действие пользователя, промежуточное состояние, метрики и понятный вывод по результату.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02E9B5-2AFA-4E6C-B18C-0E06D15F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02f452a1790465c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8265135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fed640a1542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F03F19-8E18-4A11-B1CD-4A9EAF8E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EDB4E-348F-451C-AA63-C6311DBB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563A7-2470-4812-A073-69D43A70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966DF-8F98-4971-9CDF-365E5ED9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Сквозные учебные результаты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75E697-EFAB-46E5-B69C-DEAFF660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Сравниваются качество, coverage, p95 и безопасность.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66750" y="1857375"/>
          <a:ext xmlns:a="http://schemas.openxmlformats.org/drawingml/2006/main" cx="74295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bdf24b44ee4e2d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58E3B-1D29-4511-84B3-679F2402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2289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23017-ECE4-4E30-8E09-B97DBCA6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57400"/>
            <a:ext cx="2905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РЕШЕНИЕ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17F4C-67C8-442B-8F26-39EC34B1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14575"/>
            <a:ext cx="290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Full + reranking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894B2-9ABA-43E8-8377-1E552DE0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905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NDCG 0,312; coverage 0,684; violations 0%.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6F2A1-66F4-4408-8275-15ABA603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05250"/>
            <a:ext cx="32289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8B5F1-83CD-4291-8EF1-EB1669DD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10025"/>
            <a:ext cx="2905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ИНТЕРПРЕТАЦИЯ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7632B-D3A4-48C3-A178-42BB97B7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67200"/>
            <a:ext cx="290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Компромисс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69B26-C764-4217-AA81-56090D77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33925"/>
            <a:ext cx="2905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Чистый fusion выше на 0,006, но хуже по coverage и безопасности.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254CF-701C-4192-B113-FC673AFE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8554d3779d374289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16069858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5116ba7e841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CBA82-F07B-4063-9076-0351A8B3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C0418-18C5-46A3-822B-3E027771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6A67C-A498-40F9-A6F0-A4F20601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C9B85-2A13-4144-9113-F5C377CB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Как защищать проект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8070A-61EE-4282-B4FE-96A7005E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Сюжет защиты следует логике исследования.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39E00-C3D0-48E7-8973-B46C52A8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6DCAB-7B5E-45EB-B814-7F7931B0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1. ПРОБЛЕМА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7E08D-A228-4566-B133-C5E9D9CC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Зачем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2AFB5-9E40-489B-892A-9524E3CC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Пользователь, цена ошибки и научный пробел.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8D788-7D0F-4D0C-9BCE-C7507A66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47373-B486-45DA-AAF9-4E114FC9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914525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2. МЕТОД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0A238-1CE4-4931-9CD5-B3FFCFF4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71700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проверили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85A80-85BA-4FDF-85F2-21FA553F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38425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Данные, архитектура, baselines и гипотезы.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9A86C-B683-4458-A785-DC4496FD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72FA9-76DA-45A2-9307-583C344B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3. РЕЗУЛЬТАТ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862677-3CDA-4259-8449-BC6C60D3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получили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BCFBF-E899-464B-808B-04CEBD84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Метрики, срезы, абляции и статистическая устойчивость.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E062E0-2C54-4A2F-A905-BEEE551E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90975"/>
            <a:ext cx="5429250" cy="1914525"/>
          </a:xfrm>
          <a:prstGeom xmlns:a="http://schemas.openxmlformats.org/drawingml/2006/main" prst="roundRect">
            <a:avLst>
              <a:gd name="adj" fmla="val 39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13572-2623-4051-BBD6-67132D6A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95750"/>
            <a:ext cx="5105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E5FA7"/>
                </a:solidFill>
                <a:latin typeface="Times New Roman"/>
                <a:ea typeface="Times New Roman"/>
                <a:cs typeface="Times New Roman"/>
              </a:rPr>
              <a:t>4. РЕШЕНИЕ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C65F7B-88F8-4EAB-8626-EAD6D75B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5292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Что дальше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F09628-96E8-4BA1-A445-79E145FA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819650"/>
            <a:ext cx="51054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Ограничения, риски, fallback и план развития.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3C843D-BBA1-42D5-AACE-80B76A9B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3326a77081ca413b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8141794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89b722c3a48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0C125-3317-4270-BF96-B5106D1B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A4EB97-0069-4354-BDD7-2D950D2D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ЛАБОРАТОРНАЯ 4 · ПРОЕКТ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344D3-FB31-4E8F-B261-8A6FC38D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CE340-39D0-41FE-B962-04943549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Итоговый вывод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9795B-9C79-456B-B88F-BE35E272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Архитектура принимается только вместе с доказательствами и границами применения.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285E5-4375-4124-B0C2-EC65C6C6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0B29E-F12B-4FFC-8459-31FDB75B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116A6E"/>
                </a:solidFill>
                <a:latin typeface="Times New Roman"/>
                <a:ea typeface="Times New Roman"/>
                <a:cs typeface="Times New Roman"/>
              </a:rPr>
              <a:t>ЛУЧШИЙ ВАРИАНТ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200CC-7288-4BCB-8762-4166AA25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Full + reranking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CC77A-8B12-465A-A316-C7944C47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Потеря NDCG 0,006 принимается ради coverage и нулевых нарушений.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969FE-AF3A-49E8-ABDB-56CF91BB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529D4-90EA-4879-868B-371E577E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5E7E31"/>
                </a:solidFill>
                <a:latin typeface="Times New Roman"/>
                <a:ea typeface="Times New Roman"/>
                <a:cs typeface="Times New Roman"/>
              </a:rPr>
              <a:t>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3C8CB-1C8D-4454-AE8D-C664435D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Collaborative/content hybrid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2A35C-6045-4E04-B4FA-4596EB98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26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Сохраняет безопасную выдачу при отказе компонента.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8B2DA-9DF0-440B-BB3F-29E9F33A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09750"/>
            <a:ext cx="3530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E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97A18-D8B6-43A6-8E9B-B261AD61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1914525"/>
            <a:ext cx="320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A86716"/>
                </a:solidFill>
                <a:latin typeface="Times New Roman"/>
                <a:ea typeface="Times New Roman"/>
                <a:cs typeface="Times New Roman"/>
              </a:rPr>
              <a:t>АРТЕФАКТЫ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681DA-7218-4476-BFD6-6896A4E9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171700"/>
            <a:ext cx="320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Передача проекта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4CE95-4D00-4FCB-95E7-64C7F7C1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9925" y="2638425"/>
            <a:ext cx="32067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Repo, lock, data/model cards, run registry, slides и demo.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17FB9-4F5C-469A-8712-884B1D34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1020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2F2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0C70BC-D165-43BA-9455-AFB3D332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054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183637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83637"/>
                </a:solidFill>
                <a:latin typeface="Calibri"/>
                <a:ea typeface="Calibri"/>
                <a:cs typeface="Calibri"/>
              </a:rPr>
              <a:t>исследовательский результат = эффект + неопределенность + условия воспроизведения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9BC19-F703-4CB9-9F14-78FD16B7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2f4ff46dd5334dcb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31728318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d691d00b543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87413-E698-4DA1-883F-39FAB36A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"/>
            <a:ext cx="9601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A6E"/>
          </a:solidFill>
          <a:ln xmlns:a="http://schemas.openxmlformats.org/drawingml/2006/main" w="9525">
            <a:solidFill>
              <a:srgbClr val="116A6E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1250D-8B1C-4024-9D93-09D80EBE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5246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ИСТОЧНИКИ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CC59E6-F1BC-400E-9E74-590144DE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CF86F-64C4-4D28-A79A-9704321D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8953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defRPr>
            </a:pPr>
            <a:r>
              <a:rPr sz="2250" b="1">
                <a:solidFill>
                  <a:srgbClr val="FFFFFF"/>
                </a:solidFill>
                <a:latin typeface="Book Antiqua"/>
                <a:ea typeface="Book Antiqua"/>
                <a:cs typeface="Book Antiqua"/>
              </a:rPr>
              <a:t>Полезные источники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80840-0847-44B4-B355-58B46919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16667"/>
                </a:solidFill>
                <a:latin typeface="Times New Roman"/>
                <a:ea typeface="Times New Roman"/>
                <a:cs typeface="Times New Roman"/>
              </a:rPr>
              <a:t>Ссылки открываются из PowerPoint. Версии библиотек фиксируются в requirements.lock.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31EE8-E72D-4BBD-8966-5AA9A167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1. MLflow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E6FEB0-1F6D-4A52-8BD7-3D03AB90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6212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E5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07173f8299241e0"/>
              </a:rPr>
              <a:t>https://mlflow.org/docs/latest/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D8B82-41BD-4278-969C-F323C2A6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2. DVC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0B797-1121-49C9-93A2-57429668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907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E5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61f1b97e04334dc1"/>
              </a:rPr>
              <a:t>https://dvc.org/doc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706F9-33AA-410B-9A11-818F64CF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3. FastAPI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48EA6-0DCD-4145-B65F-371A005D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1942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E5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e9570aa6432e4ece"/>
              </a:rPr>
              <a:t>https://fastapi.tiangolo.com/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F0813-87C6-4B18-B496-1D5FCDF1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4. Evidently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5205DD-4F49-482E-9D8C-4849F053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480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E5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cf0816f8dc54c4b"/>
              </a:rPr>
              <a:t>https://docs.evidentlyai.com/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C4816-C5F6-4127-942A-AE38A3CF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767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5. Docker Compose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2426E9-DF61-4F7F-A6E7-BF65C886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7672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E5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4533d2e1c39343ed"/>
              </a:rPr>
              <a:t>https://docs.docker.com/compose/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431081-8FDB-4FB4-84AC-2C52D7C7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83637"/>
                </a:solidFill>
                <a:latin typeface="Times New Roman"/>
                <a:ea typeface="Times New Roman"/>
                <a:cs typeface="Times New Roman"/>
              </a:rPr>
              <a:t>6. Model Cards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2DEB9-CD62-443C-B172-0A93B040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05375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2E5FA7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2E5FA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c5f48e666b524a1c"/>
              </a:rPr>
              <a:t>https://arxiv.org/abs/1810.03993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8ACEC-72F3-4277-908C-A453767C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25" b="0">
                <a:solidFill>
                  <a:srgbClr val="516667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516667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0dfb45a32e92497e"/>
              </a:rPr>
              <a:t>petrnikitin20.github.io/PML</a:t>
            </a:r>
          </a:p>
        </p:txBody>
      </p:sp>
    </p:spTree>
    <p:extLst>
      <p:ext uri="{BB962C8B-B14F-4D97-AF65-F5344CB8AC3E}">
        <p14:creationId xmlns:p14="http://schemas.microsoft.com/office/powerpoint/2010/main" val="19736238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2026-09-18T04:43:54.4690000Z</dcterms:created>
  <dcterms:modified xsi:type="dcterms:W3CDTF">2026-09-18T04:43:54.4690000Z</dcterms:modified>
</coreProperties>
</file>